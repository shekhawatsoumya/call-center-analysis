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charts/chart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1" r:id="rId25"/>
    <p:sldId id="282" r:id="rId26"/>
    <p:sldId id="283"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EA76D6-2D57-4FFB-8EFA-D1EA1F584EF9}" v="5" dt="2026-03-19T10:01:29.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Shekhawat" userId="0309683e1721122f" providerId="LiveId" clId="{81579934-A0E3-4E5B-A9C3-621F00061F9F}"/>
    <pc:docChg chg="undo custSel delSld modSld">
      <pc:chgData name="Sonali Shekhawat" userId="0309683e1721122f" providerId="LiveId" clId="{81579934-A0E3-4E5B-A9C3-621F00061F9F}" dt="2026-03-19T10:16:37.865" v="144" actId="20577"/>
      <pc:docMkLst>
        <pc:docMk/>
      </pc:docMkLst>
      <pc:sldChg chg="delSp modSp mod">
        <pc:chgData name="Sonali Shekhawat" userId="0309683e1721122f" providerId="LiveId" clId="{81579934-A0E3-4E5B-A9C3-621F00061F9F}" dt="2026-03-19T09:49:00.637" v="4" actId="20577"/>
        <pc:sldMkLst>
          <pc:docMk/>
          <pc:sldMk cId="0" sldId="256"/>
        </pc:sldMkLst>
        <pc:spChg chg="del">
          <ac:chgData name="Sonali Shekhawat" userId="0309683e1721122f" providerId="LiveId" clId="{81579934-A0E3-4E5B-A9C3-621F00061F9F}" dt="2026-03-19T09:48:48.974" v="2" actId="478"/>
          <ac:spMkLst>
            <pc:docMk/>
            <pc:sldMk cId="0" sldId="256"/>
            <ac:spMk id="3" creationId="{00000000-0000-0000-0000-000000000000}"/>
          </ac:spMkLst>
        </pc:spChg>
        <pc:spChg chg="del mod">
          <ac:chgData name="Sonali Shekhawat" userId="0309683e1721122f" providerId="LiveId" clId="{81579934-A0E3-4E5B-A9C3-621F00061F9F}" dt="2026-03-19T09:48:52.325" v="3" actId="478"/>
          <ac:spMkLst>
            <pc:docMk/>
            <pc:sldMk cId="0" sldId="256"/>
            <ac:spMk id="10" creationId="{00000000-0000-0000-0000-000000000000}"/>
          </ac:spMkLst>
        </pc:spChg>
        <pc:spChg chg="mod">
          <ac:chgData name="Sonali Shekhawat" userId="0309683e1721122f" providerId="LiveId" clId="{81579934-A0E3-4E5B-A9C3-621F00061F9F}" dt="2026-03-19T09:49:00.637" v="4" actId="20577"/>
          <ac:spMkLst>
            <pc:docMk/>
            <pc:sldMk cId="0" sldId="256"/>
            <ac:spMk id="13" creationId="{00000000-0000-0000-0000-000000000000}"/>
          </ac:spMkLst>
        </pc:spChg>
      </pc:sldChg>
      <pc:sldChg chg="delSp modSp mod">
        <pc:chgData name="Sonali Shekhawat" userId="0309683e1721122f" providerId="LiveId" clId="{81579934-A0E3-4E5B-A9C3-621F00061F9F}" dt="2026-03-19T10:16:37.865" v="144" actId="20577"/>
        <pc:sldMkLst>
          <pc:docMk/>
          <pc:sldMk cId="0" sldId="257"/>
        </pc:sldMkLst>
        <pc:spChg chg="mod">
          <ac:chgData name="Sonali Shekhawat" userId="0309683e1721122f" providerId="LiveId" clId="{81579934-A0E3-4E5B-A9C3-621F00061F9F}" dt="2026-03-19T09:49:20.438" v="15" actId="14100"/>
          <ac:spMkLst>
            <pc:docMk/>
            <pc:sldMk cId="0" sldId="257"/>
            <ac:spMk id="2" creationId="{00000000-0000-0000-0000-000000000000}"/>
          </ac:spMkLst>
        </pc:spChg>
        <pc:spChg chg="mod">
          <ac:chgData name="Sonali Shekhawat" userId="0309683e1721122f" providerId="LiveId" clId="{81579934-A0E3-4E5B-A9C3-621F00061F9F}" dt="2026-03-19T09:49:09.769" v="13" actId="20577"/>
          <ac:spMkLst>
            <pc:docMk/>
            <pc:sldMk cId="0" sldId="257"/>
            <ac:spMk id="3" creationId="{00000000-0000-0000-0000-000000000000}"/>
          </ac:spMkLst>
        </pc:spChg>
        <pc:spChg chg="del">
          <ac:chgData name="Sonali Shekhawat" userId="0309683e1721122f" providerId="LiveId" clId="{81579934-A0E3-4E5B-A9C3-621F00061F9F}" dt="2026-03-19T09:49:17.590" v="14" actId="478"/>
          <ac:spMkLst>
            <pc:docMk/>
            <pc:sldMk cId="0" sldId="257"/>
            <ac:spMk id="4" creationId="{00000000-0000-0000-0000-000000000000}"/>
          </ac:spMkLst>
        </pc:spChg>
        <pc:spChg chg="mod">
          <ac:chgData name="Sonali Shekhawat" userId="0309683e1721122f" providerId="LiveId" clId="{81579934-A0E3-4E5B-A9C3-621F00061F9F}" dt="2026-03-19T09:49:29.408" v="16" actId="14100"/>
          <ac:spMkLst>
            <pc:docMk/>
            <pc:sldMk cId="0" sldId="257"/>
            <ac:spMk id="5" creationId="{00000000-0000-0000-0000-000000000000}"/>
          </ac:spMkLst>
        </pc:spChg>
        <pc:spChg chg="mod">
          <ac:chgData name="Sonali Shekhawat" userId="0309683e1721122f" providerId="LiveId" clId="{81579934-A0E3-4E5B-A9C3-621F00061F9F}" dt="2026-03-19T09:50:34.043" v="17" actId="1076"/>
          <ac:spMkLst>
            <pc:docMk/>
            <pc:sldMk cId="0" sldId="257"/>
            <ac:spMk id="10" creationId="{00000000-0000-0000-0000-000000000000}"/>
          </ac:spMkLst>
        </pc:spChg>
        <pc:spChg chg="mod">
          <ac:chgData name="Sonali Shekhawat" userId="0309683e1721122f" providerId="LiveId" clId="{81579934-A0E3-4E5B-A9C3-621F00061F9F}" dt="2026-03-19T09:50:44.614" v="19" actId="1076"/>
          <ac:spMkLst>
            <pc:docMk/>
            <pc:sldMk cId="0" sldId="257"/>
            <ac:spMk id="12" creationId="{00000000-0000-0000-0000-000000000000}"/>
          </ac:spMkLst>
        </pc:spChg>
        <pc:spChg chg="mod">
          <ac:chgData name="Sonali Shekhawat" userId="0309683e1721122f" providerId="LiveId" clId="{81579934-A0E3-4E5B-A9C3-621F00061F9F}" dt="2026-03-19T09:50:34.043" v="17" actId="1076"/>
          <ac:spMkLst>
            <pc:docMk/>
            <pc:sldMk cId="0" sldId="257"/>
            <ac:spMk id="17" creationId="{00000000-0000-0000-0000-000000000000}"/>
          </ac:spMkLst>
        </pc:spChg>
        <pc:spChg chg="mod">
          <ac:chgData name="Sonali Shekhawat" userId="0309683e1721122f" providerId="LiveId" clId="{81579934-A0E3-4E5B-A9C3-621F00061F9F}" dt="2026-03-19T09:50:49.843" v="22" actId="1076"/>
          <ac:spMkLst>
            <pc:docMk/>
            <pc:sldMk cId="0" sldId="257"/>
            <ac:spMk id="22" creationId="{00000000-0000-0000-0000-000000000000}"/>
          </ac:spMkLst>
        </pc:spChg>
        <pc:spChg chg="mod">
          <ac:chgData name="Sonali Shekhawat" userId="0309683e1721122f" providerId="LiveId" clId="{81579934-A0E3-4E5B-A9C3-621F00061F9F}" dt="2026-03-19T09:50:34.043" v="17" actId="1076"/>
          <ac:spMkLst>
            <pc:docMk/>
            <pc:sldMk cId="0" sldId="257"/>
            <ac:spMk id="27" creationId="{00000000-0000-0000-0000-000000000000}"/>
          </ac:spMkLst>
        </pc:spChg>
        <pc:spChg chg="mod">
          <ac:chgData name="Sonali Shekhawat" userId="0309683e1721122f" providerId="LiveId" clId="{81579934-A0E3-4E5B-A9C3-621F00061F9F}" dt="2026-03-19T09:50:34.043" v="17" actId="1076"/>
          <ac:spMkLst>
            <pc:docMk/>
            <pc:sldMk cId="0" sldId="257"/>
            <ac:spMk id="34" creationId="{00000000-0000-0000-0000-000000000000}"/>
          </ac:spMkLst>
        </pc:spChg>
        <pc:spChg chg="mod">
          <ac:chgData name="Sonali Shekhawat" userId="0309683e1721122f" providerId="LiveId" clId="{81579934-A0E3-4E5B-A9C3-621F00061F9F}" dt="2026-03-19T09:50:34.043" v="17" actId="1076"/>
          <ac:spMkLst>
            <pc:docMk/>
            <pc:sldMk cId="0" sldId="257"/>
            <ac:spMk id="35" creationId="{00000000-0000-0000-0000-000000000000}"/>
          </ac:spMkLst>
        </pc:spChg>
        <pc:spChg chg="mod">
          <ac:chgData name="Sonali Shekhawat" userId="0309683e1721122f" providerId="LiveId" clId="{81579934-A0E3-4E5B-A9C3-621F00061F9F}" dt="2026-03-19T10:16:23.857" v="115" actId="20577"/>
          <ac:spMkLst>
            <pc:docMk/>
            <pc:sldMk cId="0" sldId="257"/>
            <ac:spMk id="36" creationId="{00000000-0000-0000-0000-000000000000}"/>
          </ac:spMkLst>
        </pc:spChg>
        <pc:spChg chg="mod">
          <ac:chgData name="Sonali Shekhawat" userId="0309683e1721122f" providerId="LiveId" clId="{81579934-A0E3-4E5B-A9C3-621F00061F9F}" dt="2026-03-19T09:50:39.805" v="18" actId="1076"/>
          <ac:spMkLst>
            <pc:docMk/>
            <pc:sldMk cId="0" sldId="257"/>
            <ac:spMk id="37" creationId="{00000000-0000-0000-0000-000000000000}"/>
          </ac:spMkLst>
        </pc:spChg>
        <pc:spChg chg="mod">
          <ac:chgData name="Sonali Shekhawat" userId="0309683e1721122f" providerId="LiveId" clId="{81579934-A0E3-4E5B-A9C3-621F00061F9F}" dt="2026-03-19T10:16:27.732" v="133" actId="20577"/>
          <ac:spMkLst>
            <pc:docMk/>
            <pc:sldMk cId="0" sldId="257"/>
            <ac:spMk id="39" creationId="{00000000-0000-0000-0000-000000000000}"/>
          </ac:spMkLst>
        </pc:spChg>
        <pc:spChg chg="mod">
          <ac:chgData name="Sonali Shekhawat" userId="0309683e1721122f" providerId="LiveId" clId="{81579934-A0E3-4E5B-A9C3-621F00061F9F}" dt="2026-03-19T10:16:37.865" v="144" actId="20577"/>
          <ac:spMkLst>
            <pc:docMk/>
            <pc:sldMk cId="0" sldId="257"/>
            <ac:spMk id="40" creationId="{00000000-0000-0000-0000-000000000000}"/>
          </ac:spMkLst>
        </pc:spChg>
        <pc:spChg chg="mod">
          <ac:chgData name="Sonali Shekhawat" userId="0309683e1721122f" providerId="LiveId" clId="{81579934-A0E3-4E5B-A9C3-621F00061F9F}" dt="2026-03-19T09:50:34.043" v="17" actId="1076"/>
          <ac:spMkLst>
            <pc:docMk/>
            <pc:sldMk cId="0" sldId="257"/>
            <ac:spMk id="41" creationId="{00000000-0000-0000-0000-000000000000}"/>
          </ac:spMkLst>
        </pc:spChg>
        <pc:spChg chg="mod">
          <ac:chgData name="Sonali Shekhawat" userId="0309683e1721122f" providerId="LiveId" clId="{81579934-A0E3-4E5B-A9C3-621F00061F9F}" dt="2026-03-19T09:50:34.043" v="17" actId="1076"/>
          <ac:spMkLst>
            <pc:docMk/>
            <pc:sldMk cId="0" sldId="257"/>
            <ac:spMk id="44" creationId="{00000000-0000-0000-0000-000000000000}"/>
          </ac:spMkLst>
        </pc:spChg>
        <pc:spChg chg="mod">
          <ac:chgData name="Sonali Shekhawat" userId="0309683e1721122f" providerId="LiveId" clId="{81579934-A0E3-4E5B-A9C3-621F00061F9F}" dt="2026-03-19T09:50:34.043" v="17" actId="1076"/>
          <ac:spMkLst>
            <pc:docMk/>
            <pc:sldMk cId="0" sldId="257"/>
            <ac:spMk id="45" creationId="{00000000-0000-0000-0000-000000000000}"/>
          </ac:spMkLst>
        </pc:spChg>
        <pc:spChg chg="mod">
          <ac:chgData name="Sonali Shekhawat" userId="0309683e1721122f" providerId="LiveId" clId="{81579934-A0E3-4E5B-A9C3-621F00061F9F}" dt="2026-03-19T09:51:35.083" v="25" actId="14100"/>
          <ac:spMkLst>
            <pc:docMk/>
            <pc:sldMk cId="0" sldId="257"/>
            <ac:spMk id="46" creationId="{00000000-0000-0000-0000-000000000000}"/>
          </ac:spMkLst>
        </pc:spChg>
        <pc:spChg chg="mod">
          <ac:chgData name="Sonali Shekhawat" userId="0309683e1721122f" providerId="LiveId" clId="{81579934-A0E3-4E5B-A9C3-621F00061F9F}" dt="2026-03-19T09:51:39.913" v="26" actId="14100"/>
          <ac:spMkLst>
            <pc:docMk/>
            <pc:sldMk cId="0" sldId="257"/>
            <ac:spMk id="47" creationId="{00000000-0000-0000-0000-000000000000}"/>
          </ac:spMkLst>
        </pc:spChg>
        <pc:spChg chg="mod">
          <ac:chgData name="Sonali Shekhawat" userId="0309683e1721122f" providerId="LiveId" clId="{81579934-A0E3-4E5B-A9C3-621F00061F9F}" dt="2026-03-19T09:51:19.080" v="23" actId="1076"/>
          <ac:spMkLst>
            <pc:docMk/>
            <pc:sldMk cId="0" sldId="257"/>
            <ac:spMk id="48" creationId="{00000000-0000-0000-0000-000000000000}"/>
          </ac:spMkLst>
        </pc:spChg>
        <pc:spChg chg="mod">
          <ac:chgData name="Sonali Shekhawat" userId="0309683e1721122f" providerId="LiveId" clId="{81579934-A0E3-4E5B-A9C3-621F00061F9F}" dt="2026-03-19T09:51:19.080" v="23" actId="1076"/>
          <ac:spMkLst>
            <pc:docMk/>
            <pc:sldMk cId="0" sldId="257"/>
            <ac:spMk id="49" creationId="{00000000-0000-0000-0000-000000000000}"/>
          </ac:spMkLst>
        </pc:spChg>
        <pc:spChg chg="mod">
          <ac:chgData name="Sonali Shekhawat" userId="0309683e1721122f" providerId="LiveId" clId="{81579934-A0E3-4E5B-A9C3-621F00061F9F}" dt="2026-03-19T09:51:19.080" v="23" actId="1076"/>
          <ac:spMkLst>
            <pc:docMk/>
            <pc:sldMk cId="0" sldId="257"/>
            <ac:spMk id="50" creationId="{00000000-0000-0000-0000-000000000000}"/>
          </ac:spMkLst>
        </pc:spChg>
      </pc:sldChg>
      <pc:sldChg chg="delSp mod">
        <pc:chgData name="Sonali Shekhawat" userId="0309683e1721122f" providerId="LiveId" clId="{81579934-A0E3-4E5B-A9C3-621F00061F9F}" dt="2026-03-19T09:51:56.466" v="27" actId="478"/>
        <pc:sldMkLst>
          <pc:docMk/>
          <pc:sldMk cId="0" sldId="258"/>
        </pc:sldMkLst>
        <pc:spChg chg="del">
          <ac:chgData name="Sonali Shekhawat" userId="0309683e1721122f" providerId="LiveId" clId="{81579934-A0E3-4E5B-A9C3-621F00061F9F}" dt="2026-03-19T09:51:56.466" v="27" actId="478"/>
          <ac:spMkLst>
            <pc:docMk/>
            <pc:sldMk cId="0" sldId="258"/>
            <ac:spMk id="4" creationId="{00000000-0000-0000-0000-000000000000}"/>
          </ac:spMkLst>
        </pc:spChg>
      </pc:sldChg>
      <pc:sldChg chg="addSp delSp mod">
        <pc:chgData name="Sonali Shekhawat" userId="0309683e1721122f" providerId="LiveId" clId="{81579934-A0E3-4E5B-A9C3-621F00061F9F}" dt="2026-03-19T09:52:26.940" v="33" actId="478"/>
        <pc:sldMkLst>
          <pc:docMk/>
          <pc:sldMk cId="0" sldId="259"/>
        </pc:sldMkLst>
        <pc:spChg chg="del">
          <ac:chgData name="Sonali Shekhawat" userId="0309683e1721122f" providerId="LiveId" clId="{81579934-A0E3-4E5B-A9C3-621F00061F9F}" dt="2026-03-19T09:52:08.529" v="28" actId="478"/>
          <ac:spMkLst>
            <pc:docMk/>
            <pc:sldMk cId="0" sldId="259"/>
            <ac:spMk id="4" creationId="{00000000-0000-0000-0000-000000000000}"/>
          </ac:spMkLst>
        </pc:spChg>
        <pc:spChg chg="add del">
          <ac:chgData name="Sonali Shekhawat" userId="0309683e1721122f" providerId="LiveId" clId="{81579934-A0E3-4E5B-A9C3-621F00061F9F}" dt="2026-03-19T09:52:26.940" v="33" actId="478"/>
          <ac:spMkLst>
            <pc:docMk/>
            <pc:sldMk cId="0" sldId="259"/>
            <ac:spMk id="18" creationId="{00000000-0000-0000-0000-000000000000}"/>
          </ac:spMkLst>
        </pc:spChg>
        <pc:spChg chg="del">
          <ac:chgData name="Sonali Shekhawat" userId="0309683e1721122f" providerId="LiveId" clId="{81579934-A0E3-4E5B-A9C3-621F00061F9F}" dt="2026-03-19T09:52:26.940" v="33" actId="478"/>
          <ac:spMkLst>
            <pc:docMk/>
            <pc:sldMk cId="0" sldId="259"/>
            <ac:spMk id="19" creationId="{00000000-0000-0000-0000-000000000000}"/>
          </ac:spMkLst>
        </pc:spChg>
        <pc:spChg chg="add del">
          <ac:chgData name="Sonali Shekhawat" userId="0309683e1721122f" providerId="LiveId" clId="{81579934-A0E3-4E5B-A9C3-621F00061F9F}" dt="2026-03-19T09:52:26.940" v="33" actId="478"/>
          <ac:spMkLst>
            <pc:docMk/>
            <pc:sldMk cId="0" sldId="259"/>
            <ac:spMk id="20" creationId="{00000000-0000-0000-0000-000000000000}"/>
          </ac:spMkLst>
        </pc:spChg>
        <pc:spChg chg="del">
          <ac:chgData name="Sonali Shekhawat" userId="0309683e1721122f" providerId="LiveId" clId="{81579934-A0E3-4E5B-A9C3-621F00061F9F}" dt="2026-03-19T09:52:26.940" v="33" actId="478"/>
          <ac:spMkLst>
            <pc:docMk/>
            <pc:sldMk cId="0" sldId="259"/>
            <ac:spMk id="21" creationId="{00000000-0000-0000-0000-000000000000}"/>
          </ac:spMkLst>
        </pc:spChg>
        <pc:spChg chg="del">
          <ac:chgData name="Sonali Shekhawat" userId="0309683e1721122f" providerId="LiveId" clId="{81579934-A0E3-4E5B-A9C3-621F00061F9F}" dt="2026-03-19T09:52:26.940" v="33" actId="478"/>
          <ac:spMkLst>
            <pc:docMk/>
            <pc:sldMk cId="0" sldId="259"/>
            <ac:spMk id="22" creationId="{00000000-0000-0000-0000-000000000000}"/>
          </ac:spMkLst>
        </pc:spChg>
        <pc:spChg chg="del">
          <ac:chgData name="Sonali Shekhawat" userId="0309683e1721122f" providerId="LiveId" clId="{81579934-A0E3-4E5B-A9C3-621F00061F9F}" dt="2026-03-19T09:52:26.940" v="33" actId="478"/>
          <ac:spMkLst>
            <pc:docMk/>
            <pc:sldMk cId="0" sldId="259"/>
            <ac:spMk id="23" creationId="{00000000-0000-0000-0000-000000000000}"/>
          </ac:spMkLst>
        </pc:spChg>
      </pc:sldChg>
      <pc:sldChg chg="modSp mod">
        <pc:chgData name="Sonali Shekhawat" userId="0309683e1721122f" providerId="LiveId" clId="{81579934-A0E3-4E5B-A9C3-621F00061F9F}" dt="2026-03-19T09:52:52.836" v="34" actId="207"/>
        <pc:sldMkLst>
          <pc:docMk/>
          <pc:sldMk cId="0" sldId="260"/>
        </pc:sldMkLst>
        <pc:spChg chg="mod">
          <ac:chgData name="Sonali Shekhawat" userId="0309683e1721122f" providerId="LiveId" clId="{81579934-A0E3-4E5B-A9C3-621F00061F9F}" dt="2026-03-19T09:52:52.836" v="34" actId="207"/>
          <ac:spMkLst>
            <pc:docMk/>
            <pc:sldMk cId="0" sldId="260"/>
            <ac:spMk id="10" creationId="{00000000-0000-0000-0000-000000000000}"/>
          </ac:spMkLst>
        </pc:spChg>
        <pc:spChg chg="mod">
          <ac:chgData name="Sonali Shekhawat" userId="0309683e1721122f" providerId="LiveId" clId="{81579934-A0E3-4E5B-A9C3-621F00061F9F}" dt="2026-03-19T09:52:52.836" v="34" actId="207"/>
          <ac:spMkLst>
            <pc:docMk/>
            <pc:sldMk cId="0" sldId="260"/>
            <ac:spMk id="15" creationId="{00000000-0000-0000-0000-000000000000}"/>
          </ac:spMkLst>
        </pc:spChg>
        <pc:spChg chg="mod">
          <ac:chgData name="Sonali Shekhawat" userId="0309683e1721122f" providerId="LiveId" clId="{81579934-A0E3-4E5B-A9C3-621F00061F9F}" dt="2026-03-19T09:52:52.836" v="34" actId="207"/>
          <ac:spMkLst>
            <pc:docMk/>
            <pc:sldMk cId="0" sldId="260"/>
            <ac:spMk id="20" creationId="{00000000-0000-0000-0000-000000000000}"/>
          </ac:spMkLst>
        </pc:spChg>
        <pc:spChg chg="mod">
          <ac:chgData name="Sonali Shekhawat" userId="0309683e1721122f" providerId="LiveId" clId="{81579934-A0E3-4E5B-A9C3-621F00061F9F}" dt="2026-03-19T09:52:52.836" v="34" actId="207"/>
          <ac:spMkLst>
            <pc:docMk/>
            <pc:sldMk cId="0" sldId="260"/>
            <ac:spMk id="25" creationId="{00000000-0000-0000-0000-000000000000}"/>
          </ac:spMkLst>
        </pc:spChg>
      </pc:sldChg>
      <pc:sldChg chg="delSp mod">
        <pc:chgData name="Sonali Shekhawat" userId="0309683e1721122f" providerId="LiveId" clId="{81579934-A0E3-4E5B-A9C3-621F00061F9F}" dt="2026-03-19T09:53:04.890" v="35" actId="478"/>
        <pc:sldMkLst>
          <pc:docMk/>
          <pc:sldMk cId="0" sldId="261"/>
        </pc:sldMkLst>
        <pc:spChg chg="del">
          <ac:chgData name="Sonali Shekhawat" userId="0309683e1721122f" providerId="LiveId" clId="{81579934-A0E3-4E5B-A9C3-621F00061F9F}" dt="2026-03-19T09:53:04.890" v="35" actId="478"/>
          <ac:spMkLst>
            <pc:docMk/>
            <pc:sldMk cId="0" sldId="261"/>
            <ac:spMk id="4" creationId="{00000000-0000-0000-0000-000000000000}"/>
          </ac:spMkLst>
        </pc:spChg>
      </pc:sldChg>
      <pc:sldChg chg="delSp modSp mod">
        <pc:chgData name="Sonali Shekhawat" userId="0309683e1721122f" providerId="LiveId" clId="{81579934-A0E3-4E5B-A9C3-621F00061F9F}" dt="2026-03-19T09:54:11.376" v="38" actId="1076"/>
        <pc:sldMkLst>
          <pc:docMk/>
          <pc:sldMk cId="0" sldId="262"/>
        </pc:sldMkLst>
        <pc:spChg chg="del mod">
          <ac:chgData name="Sonali Shekhawat" userId="0309683e1721122f" providerId="LiveId" clId="{81579934-A0E3-4E5B-A9C3-621F00061F9F}" dt="2026-03-19T09:53:33.642" v="37" actId="478"/>
          <ac:spMkLst>
            <pc:docMk/>
            <pc:sldMk cId="0" sldId="262"/>
            <ac:spMk id="4" creationId="{00000000-0000-0000-0000-000000000000}"/>
          </ac:spMkLst>
        </pc:spChg>
        <pc:spChg chg="mod">
          <ac:chgData name="Sonali Shekhawat" userId="0309683e1721122f" providerId="LiveId" clId="{81579934-A0E3-4E5B-A9C3-621F00061F9F}" dt="2026-03-19T09:54:11.376" v="38" actId="1076"/>
          <ac:spMkLst>
            <pc:docMk/>
            <pc:sldMk cId="0" sldId="262"/>
            <ac:spMk id="7" creationId="{00000000-0000-0000-0000-000000000000}"/>
          </ac:spMkLst>
        </pc:spChg>
        <pc:spChg chg="mod">
          <ac:chgData name="Sonali Shekhawat" userId="0309683e1721122f" providerId="LiveId" clId="{81579934-A0E3-4E5B-A9C3-621F00061F9F}" dt="2026-03-19T09:54:11.376" v="38" actId="1076"/>
          <ac:spMkLst>
            <pc:docMk/>
            <pc:sldMk cId="0" sldId="262"/>
            <ac:spMk id="8" creationId="{00000000-0000-0000-0000-000000000000}"/>
          </ac:spMkLst>
        </pc:spChg>
        <pc:spChg chg="mod">
          <ac:chgData name="Sonali Shekhawat" userId="0309683e1721122f" providerId="LiveId" clId="{81579934-A0E3-4E5B-A9C3-621F00061F9F}" dt="2026-03-19T09:54:11.376" v="38" actId="1076"/>
          <ac:spMkLst>
            <pc:docMk/>
            <pc:sldMk cId="0" sldId="262"/>
            <ac:spMk id="9" creationId="{00000000-0000-0000-0000-000000000000}"/>
          </ac:spMkLst>
        </pc:spChg>
        <pc:spChg chg="mod">
          <ac:chgData name="Sonali Shekhawat" userId="0309683e1721122f" providerId="LiveId" clId="{81579934-A0E3-4E5B-A9C3-621F00061F9F}" dt="2026-03-19T09:54:11.376" v="38" actId="1076"/>
          <ac:spMkLst>
            <pc:docMk/>
            <pc:sldMk cId="0" sldId="262"/>
            <ac:spMk id="11" creationId="{00000000-0000-0000-0000-000000000000}"/>
          </ac:spMkLst>
        </pc:spChg>
        <pc:spChg chg="mod">
          <ac:chgData name="Sonali Shekhawat" userId="0309683e1721122f" providerId="LiveId" clId="{81579934-A0E3-4E5B-A9C3-621F00061F9F}" dt="2026-03-19T09:54:11.376" v="38" actId="1076"/>
          <ac:spMkLst>
            <pc:docMk/>
            <pc:sldMk cId="0" sldId="262"/>
            <ac:spMk id="12" creationId="{00000000-0000-0000-0000-000000000000}"/>
          </ac:spMkLst>
        </pc:spChg>
        <pc:spChg chg="mod">
          <ac:chgData name="Sonali Shekhawat" userId="0309683e1721122f" providerId="LiveId" clId="{81579934-A0E3-4E5B-A9C3-621F00061F9F}" dt="2026-03-19T09:54:11.376" v="38" actId="1076"/>
          <ac:spMkLst>
            <pc:docMk/>
            <pc:sldMk cId="0" sldId="262"/>
            <ac:spMk id="14" creationId="{00000000-0000-0000-0000-000000000000}"/>
          </ac:spMkLst>
        </pc:spChg>
        <pc:spChg chg="mod">
          <ac:chgData name="Sonali Shekhawat" userId="0309683e1721122f" providerId="LiveId" clId="{81579934-A0E3-4E5B-A9C3-621F00061F9F}" dt="2026-03-19T09:54:11.376" v="38" actId="1076"/>
          <ac:spMkLst>
            <pc:docMk/>
            <pc:sldMk cId="0" sldId="262"/>
            <ac:spMk id="18" creationId="{00000000-0000-0000-0000-000000000000}"/>
          </ac:spMkLst>
        </pc:spChg>
        <pc:spChg chg="mod">
          <ac:chgData name="Sonali Shekhawat" userId="0309683e1721122f" providerId="LiveId" clId="{81579934-A0E3-4E5B-A9C3-621F00061F9F}" dt="2026-03-19T09:54:11.376" v="38" actId="1076"/>
          <ac:spMkLst>
            <pc:docMk/>
            <pc:sldMk cId="0" sldId="262"/>
            <ac:spMk id="21" creationId="{00000000-0000-0000-0000-000000000000}"/>
          </ac:spMkLst>
        </pc:spChg>
        <pc:spChg chg="mod">
          <ac:chgData name="Sonali Shekhawat" userId="0309683e1721122f" providerId="LiveId" clId="{81579934-A0E3-4E5B-A9C3-621F00061F9F}" dt="2026-03-19T09:54:11.376" v="38" actId="1076"/>
          <ac:spMkLst>
            <pc:docMk/>
            <pc:sldMk cId="0" sldId="262"/>
            <ac:spMk id="22" creationId="{00000000-0000-0000-0000-000000000000}"/>
          </ac:spMkLst>
        </pc:spChg>
        <pc:spChg chg="mod">
          <ac:chgData name="Sonali Shekhawat" userId="0309683e1721122f" providerId="LiveId" clId="{81579934-A0E3-4E5B-A9C3-621F00061F9F}" dt="2026-03-19T09:54:11.376" v="38" actId="1076"/>
          <ac:spMkLst>
            <pc:docMk/>
            <pc:sldMk cId="0" sldId="262"/>
            <ac:spMk id="24" creationId="{00000000-0000-0000-0000-000000000000}"/>
          </ac:spMkLst>
        </pc:spChg>
      </pc:sldChg>
      <pc:sldChg chg="modSp mod">
        <pc:chgData name="Sonali Shekhawat" userId="0309683e1721122f" providerId="LiveId" clId="{81579934-A0E3-4E5B-A9C3-621F00061F9F}" dt="2026-03-19T09:54:45.570" v="40" actId="14100"/>
        <pc:sldMkLst>
          <pc:docMk/>
          <pc:sldMk cId="0" sldId="263"/>
        </pc:sldMkLst>
        <pc:graphicFrameChg chg="modGraphic">
          <ac:chgData name="Sonali Shekhawat" userId="0309683e1721122f" providerId="LiveId" clId="{81579934-A0E3-4E5B-A9C3-621F00061F9F}" dt="2026-03-19T09:54:45.570" v="40" actId="14100"/>
          <ac:graphicFrameMkLst>
            <pc:docMk/>
            <pc:sldMk cId="0" sldId="263"/>
            <ac:graphicFrameMk id="9" creationId="{00000000-0000-0000-0000-000000000000}"/>
          </ac:graphicFrameMkLst>
        </pc:graphicFrameChg>
      </pc:sldChg>
      <pc:sldChg chg="delSp mod">
        <pc:chgData name="Sonali Shekhawat" userId="0309683e1721122f" providerId="LiveId" clId="{81579934-A0E3-4E5B-A9C3-621F00061F9F}" dt="2026-03-19T10:01:16.131" v="72" actId="478"/>
        <pc:sldMkLst>
          <pc:docMk/>
          <pc:sldMk cId="0" sldId="264"/>
        </pc:sldMkLst>
        <pc:spChg chg="del">
          <ac:chgData name="Sonali Shekhawat" userId="0309683e1721122f" providerId="LiveId" clId="{81579934-A0E3-4E5B-A9C3-621F00061F9F}" dt="2026-03-19T09:55:00.945" v="41" actId="478"/>
          <ac:spMkLst>
            <pc:docMk/>
            <pc:sldMk cId="0" sldId="264"/>
            <ac:spMk id="4" creationId="{00000000-0000-0000-0000-000000000000}"/>
          </ac:spMkLst>
        </pc:spChg>
        <pc:spChg chg="del">
          <ac:chgData name="Sonali Shekhawat" userId="0309683e1721122f" providerId="LiveId" clId="{81579934-A0E3-4E5B-A9C3-621F00061F9F}" dt="2026-03-19T10:00:53.633" v="70" actId="478"/>
          <ac:spMkLst>
            <pc:docMk/>
            <pc:sldMk cId="0" sldId="264"/>
            <ac:spMk id="14" creationId="{00000000-0000-0000-0000-000000000000}"/>
          </ac:spMkLst>
        </pc:spChg>
        <pc:spChg chg="del">
          <ac:chgData name="Sonali Shekhawat" userId="0309683e1721122f" providerId="LiveId" clId="{81579934-A0E3-4E5B-A9C3-621F00061F9F}" dt="2026-03-19T10:00:57.176" v="71" actId="478"/>
          <ac:spMkLst>
            <pc:docMk/>
            <pc:sldMk cId="0" sldId="264"/>
            <ac:spMk id="15" creationId="{00000000-0000-0000-0000-000000000000}"/>
          </ac:spMkLst>
        </pc:spChg>
        <pc:spChg chg="del">
          <ac:chgData name="Sonali Shekhawat" userId="0309683e1721122f" providerId="LiveId" clId="{81579934-A0E3-4E5B-A9C3-621F00061F9F}" dt="2026-03-19T10:01:16.131" v="72" actId="478"/>
          <ac:spMkLst>
            <pc:docMk/>
            <pc:sldMk cId="0" sldId="264"/>
            <ac:spMk id="16" creationId="{00000000-0000-0000-0000-000000000000}"/>
          </ac:spMkLst>
        </pc:spChg>
        <pc:spChg chg="del">
          <ac:chgData name="Sonali Shekhawat" userId="0309683e1721122f" providerId="LiveId" clId="{81579934-A0E3-4E5B-A9C3-621F00061F9F}" dt="2026-03-19T10:01:16.131" v="72" actId="478"/>
          <ac:spMkLst>
            <pc:docMk/>
            <pc:sldMk cId="0" sldId="264"/>
            <ac:spMk id="18" creationId="{00000000-0000-0000-0000-000000000000}"/>
          </ac:spMkLst>
        </pc:spChg>
        <pc:spChg chg="del">
          <ac:chgData name="Sonali Shekhawat" userId="0309683e1721122f" providerId="LiveId" clId="{81579934-A0E3-4E5B-A9C3-621F00061F9F}" dt="2026-03-19T10:01:16.131" v="72" actId="478"/>
          <ac:spMkLst>
            <pc:docMk/>
            <pc:sldMk cId="0" sldId="264"/>
            <ac:spMk id="19" creationId="{00000000-0000-0000-0000-000000000000}"/>
          </ac:spMkLst>
        </pc:spChg>
        <pc:spChg chg="del">
          <ac:chgData name="Sonali Shekhawat" userId="0309683e1721122f" providerId="LiveId" clId="{81579934-A0E3-4E5B-A9C3-621F00061F9F}" dt="2026-03-19T10:01:16.131" v="72" actId="478"/>
          <ac:spMkLst>
            <pc:docMk/>
            <pc:sldMk cId="0" sldId="264"/>
            <ac:spMk id="21" creationId="{00000000-0000-0000-0000-000000000000}"/>
          </ac:spMkLst>
        </pc:spChg>
        <pc:spChg chg="del">
          <ac:chgData name="Sonali Shekhawat" userId="0309683e1721122f" providerId="LiveId" clId="{81579934-A0E3-4E5B-A9C3-621F00061F9F}" dt="2026-03-19T10:01:16.131" v="72" actId="478"/>
          <ac:spMkLst>
            <pc:docMk/>
            <pc:sldMk cId="0" sldId="264"/>
            <ac:spMk id="22" creationId="{00000000-0000-0000-0000-000000000000}"/>
          </ac:spMkLst>
        </pc:spChg>
        <pc:spChg chg="del">
          <ac:chgData name="Sonali Shekhawat" userId="0309683e1721122f" providerId="LiveId" clId="{81579934-A0E3-4E5B-A9C3-621F00061F9F}" dt="2026-03-19T10:01:16.131" v="72" actId="478"/>
          <ac:spMkLst>
            <pc:docMk/>
            <pc:sldMk cId="0" sldId="264"/>
            <ac:spMk id="24" creationId="{00000000-0000-0000-0000-000000000000}"/>
          </ac:spMkLst>
        </pc:spChg>
        <pc:spChg chg="del">
          <ac:chgData name="Sonali Shekhawat" userId="0309683e1721122f" providerId="LiveId" clId="{81579934-A0E3-4E5B-A9C3-621F00061F9F}" dt="2026-03-19T10:01:16.131" v="72" actId="478"/>
          <ac:spMkLst>
            <pc:docMk/>
            <pc:sldMk cId="0" sldId="264"/>
            <ac:spMk id="25" creationId="{00000000-0000-0000-0000-000000000000}"/>
          </ac:spMkLst>
        </pc:spChg>
        <pc:spChg chg="del">
          <ac:chgData name="Sonali Shekhawat" userId="0309683e1721122f" providerId="LiveId" clId="{81579934-A0E3-4E5B-A9C3-621F00061F9F}" dt="2026-03-19T10:01:16.131" v="72" actId="478"/>
          <ac:spMkLst>
            <pc:docMk/>
            <pc:sldMk cId="0" sldId="264"/>
            <ac:spMk id="27" creationId="{00000000-0000-0000-0000-000000000000}"/>
          </ac:spMkLst>
        </pc:spChg>
        <pc:spChg chg="del">
          <ac:chgData name="Sonali Shekhawat" userId="0309683e1721122f" providerId="LiveId" clId="{81579934-A0E3-4E5B-A9C3-621F00061F9F}" dt="2026-03-19T10:01:16.131" v="72" actId="478"/>
          <ac:spMkLst>
            <pc:docMk/>
            <pc:sldMk cId="0" sldId="264"/>
            <ac:spMk id="30" creationId="{00000000-0000-0000-0000-000000000000}"/>
          </ac:spMkLst>
        </pc:spChg>
        <pc:spChg chg="del">
          <ac:chgData name="Sonali Shekhawat" userId="0309683e1721122f" providerId="LiveId" clId="{81579934-A0E3-4E5B-A9C3-621F00061F9F}" dt="2026-03-19T10:01:16.131" v="72" actId="478"/>
          <ac:spMkLst>
            <pc:docMk/>
            <pc:sldMk cId="0" sldId="264"/>
            <ac:spMk id="31" creationId="{00000000-0000-0000-0000-000000000000}"/>
          </ac:spMkLst>
        </pc:spChg>
      </pc:sldChg>
      <pc:sldChg chg="delSp modSp mod">
        <pc:chgData name="Sonali Shekhawat" userId="0309683e1721122f" providerId="LiveId" clId="{81579934-A0E3-4E5B-A9C3-621F00061F9F}" dt="2026-03-19T09:56:09.119" v="43" actId="1076"/>
        <pc:sldMkLst>
          <pc:docMk/>
          <pc:sldMk cId="0" sldId="265"/>
        </pc:sldMkLst>
        <pc:spChg chg="del">
          <ac:chgData name="Sonali Shekhawat" userId="0309683e1721122f" providerId="LiveId" clId="{81579934-A0E3-4E5B-A9C3-621F00061F9F}" dt="2026-03-19T09:55:47.938" v="42" actId="478"/>
          <ac:spMkLst>
            <pc:docMk/>
            <pc:sldMk cId="0" sldId="265"/>
            <ac:spMk id="19" creationId="{00000000-0000-0000-0000-000000000000}"/>
          </ac:spMkLst>
        </pc:spChg>
        <pc:spChg chg="del">
          <ac:chgData name="Sonali Shekhawat" userId="0309683e1721122f" providerId="LiveId" clId="{81579934-A0E3-4E5B-A9C3-621F00061F9F}" dt="2026-03-19T09:55:47.938" v="42" actId="478"/>
          <ac:spMkLst>
            <pc:docMk/>
            <pc:sldMk cId="0" sldId="265"/>
            <ac:spMk id="20" creationId="{00000000-0000-0000-0000-000000000000}"/>
          </ac:spMkLst>
        </pc:spChg>
        <pc:spChg chg="del">
          <ac:chgData name="Sonali Shekhawat" userId="0309683e1721122f" providerId="LiveId" clId="{81579934-A0E3-4E5B-A9C3-621F00061F9F}" dt="2026-03-19T09:55:47.938" v="42" actId="478"/>
          <ac:spMkLst>
            <pc:docMk/>
            <pc:sldMk cId="0" sldId="265"/>
            <ac:spMk id="21" creationId="{00000000-0000-0000-0000-000000000000}"/>
          </ac:spMkLst>
        </pc:spChg>
        <pc:spChg chg="del">
          <ac:chgData name="Sonali Shekhawat" userId="0309683e1721122f" providerId="LiveId" clId="{81579934-A0E3-4E5B-A9C3-621F00061F9F}" dt="2026-03-19T09:55:47.938" v="42" actId="478"/>
          <ac:spMkLst>
            <pc:docMk/>
            <pc:sldMk cId="0" sldId="265"/>
            <ac:spMk id="22" creationId="{00000000-0000-0000-0000-000000000000}"/>
          </ac:spMkLst>
        </pc:spChg>
        <pc:spChg chg="mod">
          <ac:chgData name="Sonali Shekhawat" userId="0309683e1721122f" providerId="LiveId" clId="{81579934-A0E3-4E5B-A9C3-621F00061F9F}" dt="2026-03-19T09:56:09.119" v="43" actId="1076"/>
          <ac:spMkLst>
            <pc:docMk/>
            <pc:sldMk cId="0" sldId="265"/>
            <ac:spMk id="23" creationId="{00000000-0000-0000-0000-000000000000}"/>
          </ac:spMkLst>
        </pc:spChg>
        <pc:spChg chg="mod">
          <ac:chgData name="Sonali Shekhawat" userId="0309683e1721122f" providerId="LiveId" clId="{81579934-A0E3-4E5B-A9C3-621F00061F9F}" dt="2026-03-19T09:56:09.119" v="43" actId="1076"/>
          <ac:spMkLst>
            <pc:docMk/>
            <pc:sldMk cId="0" sldId="265"/>
            <ac:spMk id="24" creationId="{00000000-0000-0000-0000-000000000000}"/>
          </ac:spMkLst>
        </pc:spChg>
        <pc:spChg chg="mod">
          <ac:chgData name="Sonali Shekhawat" userId="0309683e1721122f" providerId="LiveId" clId="{81579934-A0E3-4E5B-A9C3-621F00061F9F}" dt="2026-03-19T09:56:09.119" v="43" actId="1076"/>
          <ac:spMkLst>
            <pc:docMk/>
            <pc:sldMk cId="0" sldId="265"/>
            <ac:spMk id="25" creationId="{00000000-0000-0000-0000-000000000000}"/>
          </ac:spMkLst>
        </pc:spChg>
        <pc:spChg chg="mod">
          <ac:chgData name="Sonali Shekhawat" userId="0309683e1721122f" providerId="LiveId" clId="{81579934-A0E3-4E5B-A9C3-621F00061F9F}" dt="2026-03-19T09:56:09.119" v="43" actId="1076"/>
          <ac:spMkLst>
            <pc:docMk/>
            <pc:sldMk cId="0" sldId="265"/>
            <ac:spMk id="26" creationId="{00000000-0000-0000-0000-000000000000}"/>
          </ac:spMkLst>
        </pc:spChg>
        <pc:spChg chg="mod">
          <ac:chgData name="Sonali Shekhawat" userId="0309683e1721122f" providerId="LiveId" clId="{81579934-A0E3-4E5B-A9C3-621F00061F9F}" dt="2026-03-19T09:56:09.119" v="43" actId="1076"/>
          <ac:spMkLst>
            <pc:docMk/>
            <pc:sldMk cId="0" sldId="265"/>
            <ac:spMk id="27" creationId="{00000000-0000-0000-0000-000000000000}"/>
          </ac:spMkLst>
        </pc:spChg>
        <pc:spChg chg="mod">
          <ac:chgData name="Sonali Shekhawat" userId="0309683e1721122f" providerId="LiveId" clId="{81579934-A0E3-4E5B-A9C3-621F00061F9F}" dt="2026-03-19T09:56:09.119" v="43" actId="1076"/>
          <ac:spMkLst>
            <pc:docMk/>
            <pc:sldMk cId="0" sldId="265"/>
            <ac:spMk id="28" creationId="{00000000-0000-0000-0000-000000000000}"/>
          </ac:spMkLst>
        </pc:spChg>
        <pc:spChg chg="mod">
          <ac:chgData name="Sonali Shekhawat" userId="0309683e1721122f" providerId="LiveId" clId="{81579934-A0E3-4E5B-A9C3-621F00061F9F}" dt="2026-03-19T09:56:09.119" v="43" actId="1076"/>
          <ac:spMkLst>
            <pc:docMk/>
            <pc:sldMk cId="0" sldId="265"/>
            <ac:spMk id="29" creationId="{00000000-0000-0000-0000-000000000000}"/>
          </ac:spMkLst>
        </pc:spChg>
        <pc:spChg chg="mod">
          <ac:chgData name="Sonali Shekhawat" userId="0309683e1721122f" providerId="LiveId" clId="{81579934-A0E3-4E5B-A9C3-621F00061F9F}" dt="2026-03-19T09:56:09.119" v="43" actId="1076"/>
          <ac:spMkLst>
            <pc:docMk/>
            <pc:sldMk cId="0" sldId="265"/>
            <ac:spMk id="30" creationId="{00000000-0000-0000-0000-000000000000}"/>
          </ac:spMkLst>
        </pc:spChg>
      </pc:sldChg>
      <pc:sldChg chg="delSp mod">
        <pc:chgData name="Sonali Shekhawat" userId="0309683e1721122f" providerId="LiveId" clId="{81579934-A0E3-4E5B-A9C3-621F00061F9F}" dt="2026-03-19T09:56:40.323" v="45" actId="478"/>
        <pc:sldMkLst>
          <pc:docMk/>
          <pc:sldMk cId="0" sldId="266"/>
        </pc:sldMkLst>
        <pc:spChg chg="del">
          <ac:chgData name="Sonali Shekhawat" userId="0309683e1721122f" providerId="LiveId" clId="{81579934-A0E3-4E5B-A9C3-621F00061F9F}" dt="2026-03-19T09:56:34.991" v="44" actId="478"/>
          <ac:spMkLst>
            <pc:docMk/>
            <pc:sldMk cId="0" sldId="266"/>
            <ac:spMk id="41" creationId="{00000000-0000-0000-0000-000000000000}"/>
          </ac:spMkLst>
        </pc:spChg>
        <pc:spChg chg="del">
          <ac:chgData name="Sonali Shekhawat" userId="0309683e1721122f" providerId="LiveId" clId="{81579934-A0E3-4E5B-A9C3-621F00061F9F}" dt="2026-03-19T09:56:40.323" v="45" actId="478"/>
          <ac:spMkLst>
            <pc:docMk/>
            <pc:sldMk cId="0" sldId="266"/>
            <ac:spMk id="42" creationId="{00000000-0000-0000-0000-000000000000}"/>
          </ac:spMkLst>
        </pc:spChg>
        <pc:spChg chg="del">
          <ac:chgData name="Sonali Shekhawat" userId="0309683e1721122f" providerId="LiveId" clId="{81579934-A0E3-4E5B-A9C3-621F00061F9F}" dt="2026-03-19T09:56:40.323" v="45" actId="478"/>
          <ac:spMkLst>
            <pc:docMk/>
            <pc:sldMk cId="0" sldId="266"/>
            <ac:spMk id="43" creationId="{00000000-0000-0000-0000-000000000000}"/>
          </ac:spMkLst>
        </pc:spChg>
        <pc:spChg chg="del">
          <ac:chgData name="Sonali Shekhawat" userId="0309683e1721122f" providerId="LiveId" clId="{81579934-A0E3-4E5B-A9C3-621F00061F9F}" dt="2026-03-19T09:56:40.323" v="45" actId="478"/>
          <ac:spMkLst>
            <pc:docMk/>
            <pc:sldMk cId="0" sldId="266"/>
            <ac:spMk id="45" creationId="{00000000-0000-0000-0000-000000000000}"/>
          </ac:spMkLst>
        </pc:spChg>
        <pc:spChg chg="del">
          <ac:chgData name="Sonali Shekhawat" userId="0309683e1721122f" providerId="LiveId" clId="{81579934-A0E3-4E5B-A9C3-621F00061F9F}" dt="2026-03-19T09:56:40.323" v="45" actId="478"/>
          <ac:spMkLst>
            <pc:docMk/>
            <pc:sldMk cId="0" sldId="266"/>
            <ac:spMk id="46" creationId="{00000000-0000-0000-0000-000000000000}"/>
          </ac:spMkLst>
        </pc:spChg>
        <pc:spChg chg="del">
          <ac:chgData name="Sonali Shekhawat" userId="0309683e1721122f" providerId="LiveId" clId="{81579934-A0E3-4E5B-A9C3-621F00061F9F}" dt="2026-03-19T09:56:40.323" v="45" actId="478"/>
          <ac:spMkLst>
            <pc:docMk/>
            <pc:sldMk cId="0" sldId="266"/>
            <ac:spMk id="47" creationId="{00000000-0000-0000-0000-000000000000}"/>
          </ac:spMkLst>
        </pc:spChg>
      </pc:sldChg>
      <pc:sldChg chg="addSp delSp modSp mod">
        <pc:chgData name="Sonali Shekhawat" userId="0309683e1721122f" providerId="LiveId" clId="{81579934-A0E3-4E5B-A9C3-621F00061F9F}" dt="2026-03-19T09:59:02.792" v="58" actId="14100"/>
        <pc:sldMkLst>
          <pc:docMk/>
          <pc:sldMk cId="0" sldId="268"/>
        </pc:sldMkLst>
        <pc:spChg chg="mod">
          <ac:chgData name="Sonali Shekhawat" userId="0309683e1721122f" providerId="LiveId" clId="{81579934-A0E3-4E5B-A9C3-621F00061F9F}" dt="2026-03-19T09:58:25.604" v="51" actId="207"/>
          <ac:spMkLst>
            <pc:docMk/>
            <pc:sldMk cId="0" sldId="268"/>
            <ac:spMk id="7" creationId="{00000000-0000-0000-0000-000000000000}"/>
          </ac:spMkLst>
        </pc:spChg>
        <pc:spChg chg="mod">
          <ac:chgData name="Sonali Shekhawat" userId="0309683e1721122f" providerId="LiveId" clId="{81579934-A0E3-4E5B-A9C3-621F00061F9F}" dt="2026-03-19T09:57:58.583" v="50" actId="207"/>
          <ac:spMkLst>
            <pc:docMk/>
            <pc:sldMk cId="0" sldId="268"/>
            <ac:spMk id="9" creationId="{00000000-0000-0000-0000-000000000000}"/>
          </ac:spMkLst>
        </pc:spChg>
        <pc:spChg chg="mod">
          <ac:chgData name="Sonali Shekhawat" userId="0309683e1721122f" providerId="LiveId" clId="{81579934-A0E3-4E5B-A9C3-621F00061F9F}" dt="2026-03-19T09:58:25.604" v="51" actId="207"/>
          <ac:spMkLst>
            <pc:docMk/>
            <pc:sldMk cId="0" sldId="268"/>
            <ac:spMk id="13" creationId="{00000000-0000-0000-0000-000000000000}"/>
          </ac:spMkLst>
        </pc:spChg>
        <pc:spChg chg="mod">
          <ac:chgData name="Sonali Shekhawat" userId="0309683e1721122f" providerId="LiveId" clId="{81579934-A0E3-4E5B-A9C3-621F00061F9F}" dt="2026-03-19T09:57:58.583" v="50" actId="207"/>
          <ac:spMkLst>
            <pc:docMk/>
            <pc:sldMk cId="0" sldId="268"/>
            <ac:spMk id="15" creationId="{00000000-0000-0000-0000-000000000000}"/>
          </ac:spMkLst>
        </pc:spChg>
        <pc:spChg chg="mod">
          <ac:chgData name="Sonali Shekhawat" userId="0309683e1721122f" providerId="LiveId" clId="{81579934-A0E3-4E5B-A9C3-621F00061F9F}" dt="2026-03-19T09:58:25.604" v="51" actId="207"/>
          <ac:spMkLst>
            <pc:docMk/>
            <pc:sldMk cId="0" sldId="268"/>
            <ac:spMk id="19" creationId="{00000000-0000-0000-0000-000000000000}"/>
          </ac:spMkLst>
        </pc:spChg>
        <pc:spChg chg="mod">
          <ac:chgData name="Sonali Shekhawat" userId="0309683e1721122f" providerId="LiveId" clId="{81579934-A0E3-4E5B-A9C3-621F00061F9F}" dt="2026-03-19T09:57:58.583" v="50" actId="207"/>
          <ac:spMkLst>
            <pc:docMk/>
            <pc:sldMk cId="0" sldId="268"/>
            <ac:spMk id="21" creationId="{00000000-0000-0000-0000-000000000000}"/>
          </ac:spMkLst>
        </pc:spChg>
        <pc:spChg chg="del">
          <ac:chgData name="Sonali Shekhawat" userId="0309683e1721122f" providerId="LiveId" clId="{81579934-A0E3-4E5B-A9C3-621F00061F9F}" dt="2026-03-19T09:58:32.220" v="52" actId="478"/>
          <ac:spMkLst>
            <pc:docMk/>
            <pc:sldMk cId="0" sldId="268"/>
            <ac:spMk id="22" creationId="{00000000-0000-0000-0000-000000000000}"/>
          </ac:spMkLst>
        </pc:spChg>
        <pc:spChg chg="del">
          <ac:chgData name="Sonali Shekhawat" userId="0309683e1721122f" providerId="LiveId" clId="{81579934-A0E3-4E5B-A9C3-621F00061F9F}" dt="2026-03-19T09:58:32.220" v="52" actId="478"/>
          <ac:spMkLst>
            <pc:docMk/>
            <pc:sldMk cId="0" sldId="268"/>
            <ac:spMk id="23" creationId="{00000000-0000-0000-0000-000000000000}"/>
          </ac:spMkLst>
        </pc:spChg>
        <pc:spChg chg="del">
          <ac:chgData name="Sonali Shekhawat" userId="0309683e1721122f" providerId="LiveId" clId="{81579934-A0E3-4E5B-A9C3-621F00061F9F}" dt="2026-03-19T09:58:32.220" v="52" actId="478"/>
          <ac:spMkLst>
            <pc:docMk/>
            <pc:sldMk cId="0" sldId="268"/>
            <ac:spMk id="24" creationId="{00000000-0000-0000-0000-000000000000}"/>
          </ac:spMkLst>
        </pc:spChg>
        <pc:spChg chg="del mod">
          <ac:chgData name="Sonali Shekhawat" userId="0309683e1721122f" providerId="LiveId" clId="{81579934-A0E3-4E5B-A9C3-621F00061F9F}" dt="2026-03-19T09:58:32.220" v="52" actId="478"/>
          <ac:spMkLst>
            <pc:docMk/>
            <pc:sldMk cId="0" sldId="268"/>
            <ac:spMk id="25" creationId="{00000000-0000-0000-0000-000000000000}"/>
          </ac:spMkLst>
        </pc:spChg>
        <pc:spChg chg="del">
          <ac:chgData name="Sonali Shekhawat" userId="0309683e1721122f" providerId="LiveId" clId="{81579934-A0E3-4E5B-A9C3-621F00061F9F}" dt="2026-03-19T09:58:32.220" v="52" actId="478"/>
          <ac:spMkLst>
            <pc:docMk/>
            <pc:sldMk cId="0" sldId="268"/>
            <ac:spMk id="26" creationId="{00000000-0000-0000-0000-000000000000}"/>
          </ac:spMkLst>
        </pc:spChg>
        <pc:spChg chg="del mod">
          <ac:chgData name="Sonali Shekhawat" userId="0309683e1721122f" providerId="LiveId" clId="{81579934-A0E3-4E5B-A9C3-621F00061F9F}" dt="2026-03-19T09:58:32.220" v="52" actId="478"/>
          <ac:spMkLst>
            <pc:docMk/>
            <pc:sldMk cId="0" sldId="268"/>
            <ac:spMk id="27" creationId="{00000000-0000-0000-0000-000000000000}"/>
          </ac:spMkLst>
        </pc:spChg>
        <pc:spChg chg="mod">
          <ac:chgData name="Sonali Shekhawat" userId="0309683e1721122f" providerId="LiveId" clId="{81579934-A0E3-4E5B-A9C3-621F00061F9F}" dt="2026-03-19T09:58:52.933" v="56" actId="14100"/>
          <ac:spMkLst>
            <pc:docMk/>
            <pc:sldMk cId="0" sldId="268"/>
            <ac:spMk id="28" creationId="{00000000-0000-0000-0000-000000000000}"/>
          </ac:spMkLst>
        </pc:spChg>
        <pc:spChg chg="mod">
          <ac:chgData name="Sonali Shekhawat" userId="0309683e1721122f" providerId="LiveId" clId="{81579934-A0E3-4E5B-A9C3-621F00061F9F}" dt="2026-03-19T09:58:52.933" v="56" actId="14100"/>
          <ac:spMkLst>
            <pc:docMk/>
            <pc:sldMk cId="0" sldId="268"/>
            <ac:spMk id="29" creationId="{00000000-0000-0000-0000-000000000000}"/>
          </ac:spMkLst>
        </pc:spChg>
        <pc:spChg chg="mod">
          <ac:chgData name="Sonali Shekhawat" userId="0309683e1721122f" providerId="LiveId" clId="{81579934-A0E3-4E5B-A9C3-621F00061F9F}" dt="2026-03-19T09:58:52.933" v="56" actId="14100"/>
          <ac:spMkLst>
            <pc:docMk/>
            <pc:sldMk cId="0" sldId="268"/>
            <ac:spMk id="30" creationId="{00000000-0000-0000-0000-000000000000}"/>
          </ac:spMkLst>
        </pc:spChg>
        <pc:spChg chg="mod">
          <ac:chgData name="Sonali Shekhawat" userId="0309683e1721122f" providerId="LiveId" clId="{81579934-A0E3-4E5B-A9C3-621F00061F9F}" dt="2026-03-19T09:58:59.312" v="57" actId="14100"/>
          <ac:spMkLst>
            <pc:docMk/>
            <pc:sldMk cId="0" sldId="268"/>
            <ac:spMk id="31" creationId="{00000000-0000-0000-0000-000000000000}"/>
          </ac:spMkLst>
        </pc:spChg>
        <pc:spChg chg="mod">
          <ac:chgData name="Sonali Shekhawat" userId="0309683e1721122f" providerId="LiveId" clId="{81579934-A0E3-4E5B-A9C3-621F00061F9F}" dt="2026-03-19T09:59:02.792" v="58" actId="14100"/>
          <ac:spMkLst>
            <pc:docMk/>
            <pc:sldMk cId="0" sldId="268"/>
            <ac:spMk id="32" creationId="{00000000-0000-0000-0000-000000000000}"/>
          </ac:spMkLst>
        </pc:spChg>
        <pc:spChg chg="mod">
          <ac:chgData name="Sonali Shekhawat" userId="0309683e1721122f" providerId="LiveId" clId="{81579934-A0E3-4E5B-A9C3-621F00061F9F}" dt="2026-03-19T09:58:52.933" v="56" actId="14100"/>
          <ac:spMkLst>
            <pc:docMk/>
            <pc:sldMk cId="0" sldId="268"/>
            <ac:spMk id="33" creationId="{00000000-0000-0000-0000-000000000000}"/>
          </ac:spMkLst>
        </pc:spChg>
        <pc:spChg chg="add mod">
          <ac:chgData name="Sonali Shekhawat" userId="0309683e1721122f" providerId="LiveId" clId="{81579934-A0E3-4E5B-A9C3-621F00061F9F}" dt="2026-03-19T09:57:16.550" v="47" actId="571"/>
          <ac:spMkLst>
            <pc:docMk/>
            <pc:sldMk cId="0" sldId="268"/>
            <ac:spMk id="34" creationId="{BAFFA728-3F38-C61F-779B-61E4FAEB3DD7}"/>
          </ac:spMkLst>
        </pc:spChg>
        <pc:spChg chg="add mod">
          <ac:chgData name="Sonali Shekhawat" userId="0309683e1721122f" providerId="LiveId" clId="{81579934-A0E3-4E5B-A9C3-621F00061F9F}" dt="2026-03-19T09:57:16.550" v="47" actId="571"/>
          <ac:spMkLst>
            <pc:docMk/>
            <pc:sldMk cId="0" sldId="268"/>
            <ac:spMk id="35" creationId="{07B42242-4744-BC88-3CDA-6D9071C6F3E2}"/>
          </ac:spMkLst>
        </pc:spChg>
        <pc:spChg chg="add mod">
          <ac:chgData name="Sonali Shekhawat" userId="0309683e1721122f" providerId="LiveId" clId="{81579934-A0E3-4E5B-A9C3-621F00061F9F}" dt="2026-03-19T09:57:28.838" v="49" actId="571"/>
          <ac:spMkLst>
            <pc:docMk/>
            <pc:sldMk cId="0" sldId="268"/>
            <ac:spMk id="36" creationId="{777A96DC-D208-50A9-D115-0083382686E2}"/>
          </ac:spMkLst>
        </pc:spChg>
        <pc:spChg chg="add mod">
          <ac:chgData name="Sonali Shekhawat" userId="0309683e1721122f" providerId="LiveId" clId="{81579934-A0E3-4E5B-A9C3-621F00061F9F}" dt="2026-03-19T09:57:28.838" v="49" actId="571"/>
          <ac:spMkLst>
            <pc:docMk/>
            <pc:sldMk cId="0" sldId="268"/>
            <ac:spMk id="37" creationId="{324A3B66-114A-665F-D8E5-4991B6E775BD}"/>
          </ac:spMkLst>
        </pc:spChg>
        <pc:spChg chg="add mod">
          <ac:chgData name="Sonali Shekhawat" userId="0309683e1721122f" providerId="LiveId" clId="{81579934-A0E3-4E5B-A9C3-621F00061F9F}" dt="2026-03-19T09:57:28.838" v="49" actId="571"/>
          <ac:spMkLst>
            <pc:docMk/>
            <pc:sldMk cId="0" sldId="268"/>
            <ac:spMk id="38" creationId="{B73E342B-D986-E59C-8BD0-5016DBF85177}"/>
          </ac:spMkLst>
        </pc:spChg>
      </pc:sldChg>
      <pc:sldChg chg="modSp mod">
        <pc:chgData name="Sonali Shekhawat" userId="0309683e1721122f" providerId="LiveId" clId="{81579934-A0E3-4E5B-A9C3-621F00061F9F}" dt="2026-03-19T10:00:24.246" v="69" actId="14100"/>
        <pc:sldMkLst>
          <pc:docMk/>
          <pc:sldMk cId="0" sldId="272"/>
        </pc:sldMkLst>
        <pc:spChg chg="mod">
          <ac:chgData name="Sonali Shekhawat" userId="0309683e1721122f" providerId="LiveId" clId="{81579934-A0E3-4E5B-A9C3-621F00061F9F}" dt="2026-03-19T10:00:16.536" v="67" actId="14100"/>
          <ac:spMkLst>
            <pc:docMk/>
            <pc:sldMk cId="0" sldId="272"/>
            <ac:spMk id="19" creationId="{00000000-0000-0000-0000-000000000000}"/>
          </ac:spMkLst>
        </pc:spChg>
        <pc:spChg chg="mod">
          <ac:chgData name="Sonali Shekhawat" userId="0309683e1721122f" providerId="LiveId" clId="{81579934-A0E3-4E5B-A9C3-621F00061F9F}" dt="2026-03-19T10:00:24.246" v="69" actId="14100"/>
          <ac:spMkLst>
            <pc:docMk/>
            <pc:sldMk cId="0" sldId="272"/>
            <ac:spMk id="20" creationId="{00000000-0000-0000-0000-000000000000}"/>
          </ac:spMkLst>
        </pc:spChg>
        <pc:spChg chg="mod">
          <ac:chgData name="Sonali Shekhawat" userId="0309683e1721122f" providerId="LiveId" clId="{81579934-A0E3-4E5B-A9C3-621F00061F9F}" dt="2026-03-19T09:59:43.725" v="59" actId="1076"/>
          <ac:spMkLst>
            <pc:docMk/>
            <pc:sldMk cId="0" sldId="272"/>
            <ac:spMk id="21" creationId="{00000000-0000-0000-0000-000000000000}"/>
          </ac:spMkLst>
        </pc:spChg>
        <pc:spChg chg="mod">
          <ac:chgData name="Sonali Shekhawat" userId="0309683e1721122f" providerId="LiveId" clId="{81579934-A0E3-4E5B-A9C3-621F00061F9F}" dt="2026-03-19T10:00:07.748" v="65" actId="14100"/>
          <ac:spMkLst>
            <pc:docMk/>
            <pc:sldMk cId="0" sldId="272"/>
            <ac:spMk id="22" creationId="{00000000-0000-0000-0000-000000000000}"/>
          </ac:spMkLst>
        </pc:spChg>
      </pc:sldChg>
      <pc:sldChg chg="modSp mod">
        <pc:chgData name="Sonali Shekhawat" userId="0309683e1721122f" providerId="LiveId" clId="{81579934-A0E3-4E5B-A9C3-621F00061F9F}" dt="2026-03-19T10:01:38.741" v="74" actId="1076"/>
        <pc:sldMkLst>
          <pc:docMk/>
          <pc:sldMk cId="0" sldId="273"/>
        </pc:sldMkLst>
        <pc:spChg chg="mod">
          <ac:chgData name="Sonali Shekhawat" userId="0309683e1721122f" providerId="LiveId" clId="{81579934-A0E3-4E5B-A9C3-621F00061F9F}" dt="2026-03-19T10:01:38.741" v="74" actId="1076"/>
          <ac:spMkLst>
            <pc:docMk/>
            <pc:sldMk cId="0" sldId="273"/>
            <ac:spMk id="25" creationId="{00000000-0000-0000-0000-000000000000}"/>
          </ac:spMkLst>
        </pc:spChg>
      </pc:sldChg>
      <pc:sldChg chg="del">
        <pc:chgData name="Sonali Shekhawat" userId="0309683e1721122f" providerId="LiveId" clId="{81579934-A0E3-4E5B-A9C3-621F00061F9F}" dt="2026-03-19T10:01:45.804" v="75" actId="2696"/>
        <pc:sldMkLst>
          <pc:docMk/>
          <pc:sldMk cId="0" sldId="274"/>
        </pc:sldMkLst>
      </pc:sldChg>
      <pc:sldChg chg="modSp mod">
        <pc:chgData name="Sonali Shekhawat" userId="0309683e1721122f" providerId="LiveId" clId="{81579934-A0E3-4E5B-A9C3-621F00061F9F}" dt="2026-03-19T10:02:16.288" v="79" actId="14100"/>
        <pc:sldMkLst>
          <pc:docMk/>
          <pc:sldMk cId="0" sldId="275"/>
        </pc:sldMkLst>
        <pc:spChg chg="mod">
          <ac:chgData name="Sonali Shekhawat" userId="0309683e1721122f" providerId="LiveId" clId="{81579934-A0E3-4E5B-A9C3-621F00061F9F}" dt="2026-03-19T10:02:01.995" v="77" actId="14100"/>
          <ac:spMkLst>
            <pc:docMk/>
            <pc:sldMk cId="0" sldId="275"/>
            <ac:spMk id="19" creationId="{00000000-0000-0000-0000-000000000000}"/>
          </ac:spMkLst>
        </pc:spChg>
        <pc:spChg chg="mod">
          <ac:chgData name="Sonali Shekhawat" userId="0309683e1721122f" providerId="LiveId" clId="{81579934-A0E3-4E5B-A9C3-621F00061F9F}" dt="2026-03-19T10:02:16.288" v="79" actId="14100"/>
          <ac:spMkLst>
            <pc:docMk/>
            <pc:sldMk cId="0" sldId="275"/>
            <ac:spMk id="20" creationId="{00000000-0000-0000-0000-000000000000}"/>
          </ac:spMkLst>
        </pc:spChg>
        <pc:spChg chg="mod">
          <ac:chgData name="Sonali Shekhawat" userId="0309683e1721122f" providerId="LiveId" clId="{81579934-A0E3-4E5B-A9C3-621F00061F9F}" dt="2026-03-19T10:01:56.579" v="76" actId="1076"/>
          <ac:spMkLst>
            <pc:docMk/>
            <pc:sldMk cId="0" sldId="275"/>
            <ac:spMk id="21" creationId="{00000000-0000-0000-0000-000000000000}"/>
          </ac:spMkLst>
        </pc:spChg>
        <pc:spChg chg="mod">
          <ac:chgData name="Sonali Shekhawat" userId="0309683e1721122f" providerId="LiveId" clId="{81579934-A0E3-4E5B-A9C3-621F00061F9F}" dt="2026-03-19T10:02:08.566" v="78" actId="1076"/>
          <ac:spMkLst>
            <pc:docMk/>
            <pc:sldMk cId="0" sldId="275"/>
            <ac:spMk id="22" creationId="{00000000-0000-0000-0000-000000000000}"/>
          </ac:spMkLst>
        </pc:spChg>
      </pc:sldChg>
      <pc:sldChg chg="addSp delSp modSp mod">
        <pc:chgData name="Sonali Shekhawat" userId="0309683e1721122f" providerId="LiveId" clId="{81579934-A0E3-4E5B-A9C3-621F00061F9F}" dt="2026-03-19T10:03:58.442" v="100" actId="1076"/>
        <pc:sldMkLst>
          <pc:docMk/>
          <pc:sldMk cId="0" sldId="277"/>
        </pc:sldMkLst>
        <pc:spChg chg="mod">
          <ac:chgData name="Sonali Shekhawat" userId="0309683e1721122f" providerId="LiveId" clId="{81579934-A0E3-4E5B-A9C3-621F00061F9F}" dt="2026-03-19T10:03:44.039" v="98" actId="14100"/>
          <ac:spMkLst>
            <pc:docMk/>
            <pc:sldMk cId="0" sldId="277"/>
            <ac:spMk id="19" creationId="{00000000-0000-0000-0000-000000000000}"/>
          </ac:spMkLst>
        </pc:spChg>
        <pc:spChg chg="mod">
          <ac:chgData name="Sonali Shekhawat" userId="0309683e1721122f" providerId="LiveId" clId="{81579934-A0E3-4E5B-A9C3-621F00061F9F}" dt="2026-03-19T10:03:58.442" v="100" actId="1076"/>
          <ac:spMkLst>
            <pc:docMk/>
            <pc:sldMk cId="0" sldId="277"/>
            <ac:spMk id="21" creationId="{00000000-0000-0000-0000-000000000000}"/>
          </ac:spMkLst>
        </pc:spChg>
        <pc:spChg chg="add del">
          <ac:chgData name="Sonali Shekhawat" userId="0309683e1721122f" providerId="LiveId" clId="{81579934-A0E3-4E5B-A9C3-621F00061F9F}" dt="2026-03-19T10:03:17.750" v="92" actId="478"/>
          <ac:spMkLst>
            <pc:docMk/>
            <pc:sldMk cId="0" sldId="277"/>
            <ac:spMk id="22" creationId="{00000000-0000-0000-0000-000000000000}"/>
          </ac:spMkLst>
        </pc:spChg>
        <pc:spChg chg="add del">
          <ac:chgData name="Sonali Shekhawat" userId="0309683e1721122f" providerId="LiveId" clId="{81579934-A0E3-4E5B-A9C3-621F00061F9F}" dt="2026-03-19T10:03:27.190" v="94" actId="478"/>
          <ac:spMkLst>
            <pc:docMk/>
            <pc:sldMk cId="0" sldId="277"/>
            <ac:spMk id="23" creationId="{00000000-0000-0000-0000-000000000000}"/>
          </ac:spMkLst>
        </pc:spChg>
        <pc:spChg chg="add del">
          <ac:chgData name="Sonali Shekhawat" userId="0309683e1721122f" providerId="LiveId" clId="{81579934-A0E3-4E5B-A9C3-621F00061F9F}" dt="2026-03-19T10:03:39.266" v="97" actId="478"/>
          <ac:spMkLst>
            <pc:docMk/>
            <pc:sldMk cId="0" sldId="277"/>
            <ac:spMk id="24" creationId="{00000000-0000-0000-0000-000000000000}"/>
          </ac:spMkLst>
        </pc:spChg>
        <pc:spChg chg="del">
          <ac:chgData name="Sonali Shekhawat" userId="0309683e1721122f" providerId="LiveId" clId="{81579934-A0E3-4E5B-A9C3-621F00061F9F}" dt="2026-03-19T10:03:32.907" v="95" actId="478"/>
          <ac:spMkLst>
            <pc:docMk/>
            <pc:sldMk cId="0" sldId="277"/>
            <ac:spMk id="25" creationId="{00000000-0000-0000-0000-000000000000}"/>
          </ac:spMkLst>
        </pc:spChg>
        <pc:spChg chg="del">
          <ac:chgData name="Sonali Shekhawat" userId="0309683e1721122f" providerId="LiveId" clId="{81579934-A0E3-4E5B-A9C3-621F00061F9F}" dt="2026-03-19T10:03:03.191" v="84" actId="478"/>
          <ac:spMkLst>
            <pc:docMk/>
            <pc:sldMk cId="0" sldId="277"/>
            <ac:spMk id="27" creationId="{00000000-0000-0000-0000-000000000000}"/>
          </ac:spMkLst>
        </pc:spChg>
      </pc:sldChg>
      <pc:sldChg chg="modSp mod">
        <pc:chgData name="Sonali Shekhawat" userId="0309683e1721122f" providerId="LiveId" clId="{81579934-A0E3-4E5B-A9C3-621F00061F9F}" dt="2026-03-19T10:04:59.877" v="111" actId="14100"/>
        <pc:sldMkLst>
          <pc:docMk/>
          <pc:sldMk cId="0" sldId="278"/>
        </pc:sldMkLst>
        <pc:spChg chg="mod">
          <ac:chgData name="Sonali Shekhawat" userId="0309683e1721122f" providerId="LiveId" clId="{81579934-A0E3-4E5B-A9C3-621F00061F9F}" dt="2026-03-19T10:04:20.691" v="104" actId="14100"/>
          <ac:spMkLst>
            <pc:docMk/>
            <pc:sldMk cId="0" sldId="278"/>
            <ac:spMk id="7" creationId="{00000000-0000-0000-0000-000000000000}"/>
          </ac:spMkLst>
        </pc:spChg>
        <pc:spChg chg="mod">
          <ac:chgData name="Sonali Shekhawat" userId="0309683e1721122f" providerId="LiveId" clId="{81579934-A0E3-4E5B-A9C3-621F00061F9F}" dt="2026-03-19T10:04:24.022" v="105" actId="14100"/>
          <ac:spMkLst>
            <pc:docMk/>
            <pc:sldMk cId="0" sldId="278"/>
            <ac:spMk id="8" creationId="{00000000-0000-0000-0000-000000000000}"/>
          </ac:spMkLst>
        </pc:spChg>
        <pc:spChg chg="mod">
          <ac:chgData name="Sonali Shekhawat" userId="0309683e1721122f" providerId="LiveId" clId="{81579934-A0E3-4E5B-A9C3-621F00061F9F}" dt="2026-03-19T10:04:08.702" v="101" actId="1076"/>
          <ac:spMkLst>
            <pc:docMk/>
            <pc:sldMk cId="0" sldId="278"/>
            <ac:spMk id="9" creationId="{00000000-0000-0000-0000-000000000000}"/>
          </ac:spMkLst>
        </pc:spChg>
        <pc:spChg chg="mod">
          <ac:chgData name="Sonali Shekhawat" userId="0309683e1721122f" providerId="LiveId" clId="{81579934-A0E3-4E5B-A9C3-621F00061F9F}" dt="2026-03-19T10:04:15.701" v="103" actId="14100"/>
          <ac:spMkLst>
            <pc:docMk/>
            <pc:sldMk cId="0" sldId="278"/>
            <ac:spMk id="10" creationId="{00000000-0000-0000-0000-000000000000}"/>
          </ac:spMkLst>
        </pc:spChg>
        <pc:spChg chg="mod">
          <ac:chgData name="Sonali Shekhawat" userId="0309683e1721122f" providerId="LiveId" clId="{81579934-A0E3-4E5B-A9C3-621F00061F9F}" dt="2026-03-19T10:04:36.648" v="108" actId="1076"/>
          <ac:spMkLst>
            <pc:docMk/>
            <pc:sldMk cId="0" sldId="278"/>
            <ac:spMk id="11" creationId="{00000000-0000-0000-0000-000000000000}"/>
          </ac:spMkLst>
        </pc:spChg>
        <pc:spChg chg="mod">
          <ac:chgData name="Sonali Shekhawat" userId="0309683e1721122f" providerId="LiveId" clId="{81579934-A0E3-4E5B-A9C3-621F00061F9F}" dt="2026-03-19T10:04:59.877" v="111" actId="14100"/>
          <ac:spMkLst>
            <pc:docMk/>
            <pc:sldMk cId="0" sldId="278"/>
            <ac:spMk id="12" creationId="{00000000-0000-0000-0000-000000000000}"/>
          </ac:spMkLst>
        </pc:spChg>
        <pc:spChg chg="mod">
          <ac:chgData name="Sonali Shekhawat" userId="0309683e1721122f" providerId="LiveId" clId="{81579934-A0E3-4E5B-A9C3-621F00061F9F}" dt="2026-03-19T10:04:49.507" v="109" actId="1076"/>
          <ac:spMkLst>
            <pc:docMk/>
            <pc:sldMk cId="0" sldId="278"/>
            <ac:spMk id="13" creationId="{00000000-0000-0000-0000-000000000000}"/>
          </ac:spMkLst>
        </pc:spChg>
        <pc:spChg chg="mod">
          <ac:chgData name="Sonali Shekhawat" userId="0309683e1721122f" providerId="LiveId" clId="{81579934-A0E3-4E5B-A9C3-621F00061F9F}" dt="2026-03-19T10:04:53.661" v="110" actId="1076"/>
          <ac:spMkLst>
            <pc:docMk/>
            <pc:sldMk cId="0" sldId="278"/>
            <ac:spMk id="14" creationId="{00000000-0000-0000-0000-000000000000}"/>
          </ac:spMkLst>
        </pc:spChg>
      </pc:sldChg>
      <pc:sldChg chg="modSp del mod">
        <pc:chgData name="Sonali Shekhawat" userId="0309683e1721122f" providerId="LiveId" clId="{81579934-A0E3-4E5B-A9C3-621F00061F9F}" dt="2026-03-19T10:05:54.408" v="113" actId="2696"/>
        <pc:sldMkLst>
          <pc:docMk/>
          <pc:sldMk cId="0" sldId="280"/>
        </pc:sldMkLst>
        <pc:spChg chg="mod">
          <ac:chgData name="Sonali Shekhawat" userId="0309683e1721122f" providerId="LiveId" clId="{81579934-A0E3-4E5B-A9C3-621F00061F9F}" dt="2026-03-19T10:05:29.381" v="112" actId="20577"/>
          <ac:spMkLst>
            <pc:docMk/>
            <pc:sldMk cId="0" sldId="280"/>
            <ac:spMk id="3" creationId="{00000000-0000-0000-0000-000000000000}"/>
          </ac:spMkLst>
        </pc:spChg>
      </pc:sldChg>
      <pc:sldChg chg="delSp mod">
        <pc:chgData name="Sonali Shekhawat" userId="0309683e1721122f" providerId="LiveId" clId="{81579934-A0E3-4E5B-A9C3-621F00061F9F}" dt="2026-03-19T10:06:10.152" v="114" actId="478"/>
        <pc:sldMkLst>
          <pc:docMk/>
          <pc:sldMk cId="0" sldId="283"/>
        </pc:sldMkLst>
        <pc:spChg chg="del">
          <ac:chgData name="Sonali Shekhawat" userId="0309683e1721122f" providerId="LiveId" clId="{81579934-A0E3-4E5B-A9C3-621F00061F9F}" dt="2026-03-19T10:06:10.152" v="114" actId="478"/>
          <ac:spMkLst>
            <pc:docMk/>
            <pc:sldMk cId="0" sldId="283"/>
            <ac:spMk id="2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Calls Answered</c:v>
                </c:pt>
              </c:strCache>
            </c:strRef>
          </c:tx>
          <c:spPr>
            <a:solidFill>
              <a:srgbClr val="0D7377"/>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Becky</c:v>
                </c:pt>
                <c:pt idx="1">
                  <c:v>Dan</c:v>
                </c:pt>
                <c:pt idx="2">
                  <c:v>Diane</c:v>
                </c:pt>
                <c:pt idx="3">
                  <c:v>Greg</c:v>
                </c:pt>
                <c:pt idx="4">
                  <c:v>Jim</c:v>
                </c:pt>
                <c:pt idx="5">
                  <c:v>Joe</c:v>
                </c:pt>
                <c:pt idx="6">
                  <c:v>Martha</c:v>
                </c:pt>
                <c:pt idx="7">
                  <c:v>Stewart</c:v>
                </c:pt>
              </c:strCache>
            </c:strRef>
          </c:cat>
          <c:val>
            <c:numRef>
              <c:f>Sheet1!$B$2:$B$9</c:f>
              <c:numCache>
                <c:formatCode>General</c:formatCode>
                <c:ptCount val="8"/>
                <c:pt idx="0">
                  <c:v>517</c:v>
                </c:pt>
                <c:pt idx="1">
                  <c:v>523</c:v>
                </c:pt>
                <c:pt idx="2">
                  <c:v>501</c:v>
                </c:pt>
                <c:pt idx="3">
                  <c:v>502</c:v>
                </c:pt>
                <c:pt idx="4">
                  <c:v>536</c:v>
                </c:pt>
                <c:pt idx="5">
                  <c:v>484</c:v>
                </c:pt>
                <c:pt idx="6">
                  <c:v>514</c:v>
                </c:pt>
                <c:pt idx="7">
                  <c:v>477</c:v>
                </c:pt>
              </c:numCache>
            </c:numRef>
          </c:val>
          <c:extLst>
            <c:ext xmlns:c16="http://schemas.microsoft.com/office/drawing/2014/chart" uri="{C3380CC4-5D6E-409C-BE32-E72D297353CC}">
              <c16:uniqueId val="{00000000-975F-4487-AD17-39897C7F6A3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CSAT Rating</c:v>
                </c:pt>
              </c:strCache>
            </c:strRef>
          </c:tx>
          <c:spPr>
            <a:ln w="3175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Becky</c:v>
                </c:pt>
                <c:pt idx="1">
                  <c:v>Dan</c:v>
                </c:pt>
                <c:pt idx="2">
                  <c:v>Diane</c:v>
                </c:pt>
                <c:pt idx="3">
                  <c:v>Greg</c:v>
                </c:pt>
                <c:pt idx="4">
                  <c:v>Jim</c:v>
                </c:pt>
                <c:pt idx="5">
                  <c:v>Joe</c:v>
                </c:pt>
                <c:pt idx="6">
                  <c:v>Martha</c:v>
                </c:pt>
                <c:pt idx="7">
                  <c:v>Stewart</c:v>
                </c:pt>
              </c:strCache>
            </c:strRef>
          </c:cat>
          <c:val>
            <c:numRef>
              <c:f>Sheet1!$B$2:$B$9</c:f>
              <c:numCache>
                <c:formatCode>General</c:formatCode>
                <c:ptCount val="8"/>
                <c:pt idx="0">
                  <c:v>3.3</c:v>
                </c:pt>
                <c:pt idx="1">
                  <c:v>3.37</c:v>
                </c:pt>
                <c:pt idx="2">
                  <c:v>3.32</c:v>
                </c:pt>
                <c:pt idx="3">
                  <c:v>3.33</c:v>
                </c:pt>
                <c:pt idx="4">
                  <c:v>3.32</c:v>
                </c:pt>
                <c:pt idx="5">
                  <c:v>3.27</c:v>
                </c:pt>
                <c:pt idx="6">
                  <c:v>3.38</c:v>
                </c:pt>
                <c:pt idx="7">
                  <c:v>3.33</c:v>
                </c:pt>
              </c:numCache>
            </c:numRef>
          </c:val>
          <c:smooth val="1"/>
          <c:extLst>
            <c:ext xmlns:c16="http://schemas.microsoft.com/office/drawing/2014/chart" uri="{C3380CC4-5D6E-409C-BE32-E72D297353CC}">
              <c16:uniqueId val="{00000000-C9F6-4239-B7BF-6BCF2295DAA1}"/>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3.5"/>
          <c:min val="3.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Topic Volume</c:v>
                </c:pt>
              </c:strCache>
            </c:strRef>
          </c:tx>
          <c:spPr>
            <a:solidFill>
              <a:schemeClr val="accent1"/>
            </a:solidFill>
            <a:ln w="9525" cap="flat">
              <a:solidFill>
                <a:srgbClr val="F9F9F9"/>
              </a:solidFill>
              <a:prstDash val="solid"/>
              <a:round/>
            </a:ln>
            <a:effectLst/>
          </c:spPr>
          <c:dPt>
            <c:idx val="0"/>
            <c:bubble3D val="0"/>
            <c:spPr>
              <a:solidFill>
                <a:srgbClr val="0D7377"/>
              </a:solidFill>
              <a:effectLst/>
            </c:spPr>
            <c:extLst>
              <c:ext xmlns:c16="http://schemas.microsoft.com/office/drawing/2014/chart" uri="{C3380CC4-5D6E-409C-BE32-E72D297353CC}">
                <c16:uniqueId val="{00000001-E635-4F32-B4A0-C415A61DA6A7}"/>
              </c:ext>
            </c:extLst>
          </c:dPt>
          <c:dPt>
            <c:idx val="1"/>
            <c:bubble3D val="0"/>
            <c:spPr>
              <a:solidFill>
                <a:srgbClr val="1B2A4A"/>
              </a:solidFill>
              <a:effectLst/>
            </c:spPr>
            <c:extLst>
              <c:ext xmlns:c16="http://schemas.microsoft.com/office/drawing/2014/chart" uri="{C3380CC4-5D6E-409C-BE32-E72D297353CC}">
                <c16:uniqueId val="{00000003-E635-4F32-B4A0-C415A61DA6A7}"/>
              </c:ext>
            </c:extLst>
          </c:dPt>
          <c:dPt>
            <c:idx val="2"/>
            <c:bubble3D val="0"/>
            <c:spPr>
              <a:solidFill>
                <a:srgbClr val="F5A623"/>
              </a:solidFill>
              <a:effectLst/>
            </c:spPr>
            <c:extLst>
              <c:ext xmlns:c16="http://schemas.microsoft.com/office/drawing/2014/chart" uri="{C3380CC4-5D6E-409C-BE32-E72D297353CC}">
                <c16:uniqueId val="{00000005-E635-4F32-B4A0-C415A61DA6A7}"/>
              </c:ext>
            </c:extLst>
          </c:dPt>
          <c:dPt>
            <c:idx val="3"/>
            <c:bubble3D val="0"/>
            <c:spPr>
              <a:solidFill>
                <a:srgbClr val="10B981"/>
              </a:solidFill>
              <a:effectLst/>
            </c:spPr>
            <c:extLst>
              <c:ext xmlns:c16="http://schemas.microsoft.com/office/drawing/2014/chart" uri="{C3380CC4-5D6E-409C-BE32-E72D297353CC}">
                <c16:uniqueId val="{00000007-E635-4F32-B4A0-C415A61DA6A7}"/>
              </c:ext>
            </c:extLst>
          </c:dPt>
          <c:dPt>
            <c:idx val="4"/>
            <c:bubble3D val="0"/>
            <c:spPr>
              <a:solidFill>
                <a:srgbClr val="14BDEB"/>
              </a:solidFill>
              <a:effectLst/>
            </c:spPr>
            <c:extLst>
              <c:ext xmlns:c16="http://schemas.microsoft.com/office/drawing/2014/chart" uri="{C3380CC4-5D6E-409C-BE32-E72D297353CC}">
                <c16:uniqueId val="{00000009-E635-4F32-B4A0-C415A61DA6A7}"/>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635-4F32-B4A0-C415A61DA6A7}"/>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635-4F32-B4A0-C415A61DA6A7}"/>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635-4F32-B4A0-C415A61DA6A7}"/>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E635-4F32-B4A0-C415A61DA6A7}"/>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E635-4F32-B4A0-C415A61DA6A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Streaming</c:v>
                </c:pt>
                <c:pt idx="1">
                  <c:v>Technical Support</c:v>
                </c:pt>
                <c:pt idx="2">
                  <c:v>Payment Related</c:v>
                </c:pt>
                <c:pt idx="3">
                  <c:v>Contract Related</c:v>
                </c:pt>
                <c:pt idx="4">
                  <c:v>Admin Support</c:v>
                </c:pt>
              </c:strCache>
            </c:strRef>
          </c:cat>
          <c:val>
            <c:numRef>
              <c:f>Sheet1!$B$2:$B$6</c:f>
              <c:numCache>
                <c:formatCode>General</c:formatCode>
                <c:ptCount val="5"/>
                <c:pt idx="0">
                  <c:v>1022</c:v>
                </c:pt>
                <c:pt idx="1">
                  <c:v>1019</c:v>
                </c:pt>
                <c:pt idx="2">
                  <c:v>1007</c:v>
                </c:pt>
                <c:pt idx="3">
                  <c:v>976</c:v>
                </c:pt>
                <c:pt idx="4">
                  <c:v>976</c:v>
                </c:pt>
              </c:numCache>
            </c:numRef>
          </c:val>
          <c:extLst>
            <c:ext xmlns:c16="http://schemas.microsoft.com/office/drawing/2014/chart" uri="{C3380CC4-5D6E-409C-BE32-E72D297353CC}">
              <c16:uniqueId val="{0000000A-E635-4F32-B4A0-C415A61DA6A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Calls</c:v>
                </c:pt>
              </c:strCache>
            </c:strRef>
          </c:tx>
          <c:spPr>
            <a:ln w="3175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January</c:v>
                </c:pt>
                <c:pt idx="1">
                  <c:v>February</c:v>
                </c:pt>
                <c:pt idx="2">
                  <c:v>March</c:v>
                </c:pt>
              </c:strCache>
            </c:strRef>
          </c:cat>
          <c:val>
            <c:numRef>
              <c:f>Sheet1!$B$2:$B$4</c:f>
              <c:numCache>
                <c:formatCode>General</c:formatCode>
                <c:ptCount val="3"/>
                <c:pt idx="0">
                  <c:v>1772</c:v>
                </c:pt>
                <c:pt idx="1">
                  <c:v>1616</c:v>
                </c:pt>
                <c:pt idx="2">
                  <c:v>1612</c:v>
                </c:pt>
              </c:numCache>
            </c:numRef>
          </c:val>
          <c:smooth val="0"/>
          <c:extLst>
            <c:ext xmlns:c16="http://schemas.microsoft.com/office/drawing/2014/chart" uri="{C3380CC4-5D6E-409C-BE32-E72D297353CC}">
              <c16:uniqueId val="{00000000-C52F-45FD-89AF-C5B957B23675}"/>
            </c:ext>
          </c:extLst>
        </c:ser>
        <c:ser>
          <c:idx val="1"/>
          <c:order val="1"/>
          <c:tx>
            <c:strRef>
              <c:f>Sheet1!$C$1</c:f>
              <c:strCache>
                <c:ptCount val="1"/>
                <c:pt idx="0">
                  <c:v>Resolved Calls</c:v>
                </c:pt>
              </c:strCache>
            </c:strRef>
          </c:tx>
          <c:spPr>
            <a:ln w="31750" cap="flat">
              <a:solidFill>
                <a:srgbClr val="F5A623"/>
              </a:solidFill>
              <a:prstDash val="solid"/>
              <a:round/>
            </a:ln>
            <a:effectLst/>
          </c:spPr>
          <c:marker>
            <c:symbol val="circle"/>
            <c:size val="6"/>
            <c:spPr>
              <a:solidFill>
                <a:srgbClr val="F5A623"/>
              </a:solidFill>
              <a:ln w="9525" cap="flat">
                <a:solidFill>
                  <a:srgbClr val="F5A623"/>
                </a:solidFill>
                <a:prstDash val="solid"/>
                <a:round/>
              </a:ln>
              <a:effectLst/>
            </c:spPr>
          </c:marker>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January</c:v>
                </c:pt>
                <c:pt idx="1">
                  <c:v>February</c:v>
                </c:pt>
                <c:pt idx="2">
                  <c:v>March</c:v>
                </c:pt>
              </c:strCache>
            </c:strRef>
          </c:cat>
          <c:val>
            <c:numRef>
              <c:f>Sheet1!$C$2:$C$4</c:f>
              <c:numCache>
                <c:formatCode>General</c:formatCode>
                <c:ptCount val="3"/>
                <c:pt idx="0">
                  <c:v>1292</c:v>
                </c:pt>
                <c:pt idx="1">
                  <c:v>1179</c:v>
                </c:pt>
                <c:pt idx="2">
                  <c:v>1175</c:v>
                </c:pt>
              </c:numCache>
            </c:numRef>
          </c:val>
          <c:smooth val="0"/>
          <c:extLst>
            <c:ext xmlns:c16="http://schemas.microsoft.com/office/drawing/2014/chart" uri="{C3380CC4-5D6E-409C-BE32-E72D297353CC}">
              <c16:uniqueId val="{00000001-C52F-45FD-89AF-C5B957B23675}"/>
            </c:ext>
          </c:extLst>
        </c:ser>
        <c:ser>
          <c:idx val="2"/>
          <c:order val="2"/>
          <c:tx>
            <c:strRef>
              <c:f>Sheet1!$D$1</c:f>
              <c:strCache>
                <c:ptCount val="1"/>
                <c:pt idx="0">
                  <c:v>Answered Calls</c:v>
                </c:pt>
              </c:strCache>
            </c:strRef>
          </c:tx>
          <c:spPr>
            <a:ln w="31750" cap="flat">
              <a:solidFill>
                <a:srgbClr val="14BDEB"/>
              </a:solidFill>
              <a:prstDash val="solid"/>
              <a:round/>
            </a:ln>
            <a:effectLst/>
          </c:spPr>
          <c:marker>
            <c:symbol val="circle"/>
            <c:size val="6"/>
            <c:spPr>
              <a:solidFill>
                <a:srgbClr val="14BDEB"/>
              </a:solidFill>
              <a:ln w="9525" cap="flat">
                <a:solidFill>
                  <a:srgbClr val="14BDEB"/>
                </a:solidFill>
                <a:prstDash val="solid"/>
                <a:round/>
              </a:ln>
              <a:effectLst/>
            </c:spPr>
          </c:marker>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January</c:v>
                </c:pt>
                <c:pt idx="1">
                  <c:v>February</c:v>
                </c:pt>
                <c:pt idx="2">
                  <c:v>March</c:v>
                </c:pt>
              </c:strCache>
            </c:strRef>
          </c:cat>
          <c:val>
            <c:numRef>
              <c:f>Sheet1!$D$2:$D$4</c:f>
              <c:numCache>
                <c:formatCode>General</c:formatCode>
                <c:ptCount val="3"/>
                <c:pt idx="0">
                  <c:v>1453</c:v>
                </c:pt>
                <c:pt idx="1">
                  <c:v>1305</c:v>
                </c:pt>
                <c:pt idx="2">
                  <c:v>1296</c:v>
                </c:pt>
              </c:numCache>
            </c:numRef>
          </c:val>
          <c:smooth val="0"/>
          <c:extLst>
            <c:ext xmlns:c16="http://schemas.microsoft.com/office/drawing/2014/chart" uri="{C3380CC4-5D6E-409C-BE32-E72D297353CC}">
              <c16:uniqueId val="{00000002-C52F-45FD-89AF-C5B957B23675}"/>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Calls Answered</c:v>
                </c:pt>
              </c:strCache>
            </c:strRef>
          </c:tx>
          <c:spPr>
            <a:solidFill>
              <a:srgbClr val="0D7377"/>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Becky</c:v>
                </c:pt>
                <c:pt idx="1">
                  <c:v>Dan</c:v>
                </c:pt>
                <c:pt idx="2">
                  <c:v>Diane</c:v>
                </c:pt>
                <c:pt idx="3">
                  <c:v>Greg</c:v>
                </c:pt>
                <c:pt idx="4">
                  <c:v>Jim</c:v>
                </c:pt>
                <c:pt idx="5">
                  <c:v>Joe</c:v>
                </c:pt>
                <c:pt idx="6">
                  <c:v>Martha</c:v>
                </c:pt>
                <c:pt idx="7">
                  <c:v>Stewart</c:v>
                </c:pt>
              </c:strCache>
            </c:strRef>
          </c:cat>
          <c:val>
            <c:numRef>
              <c:f>Sheet1!$B$2:$B$9</c:f>
              <c:numCache>
                <c:formatCode>General</c:formatCode>
                <c:ptCount val="8"/>
                <c:pt idx="0">
                  <c:v>517</c:v>
                </c:pt>
                <c:pt idx="1">
                  <c:v>523</c:v>
                </c:pt>
                <c:pt idx="2">
                  <c:v>501</c:v>
                </c:pt>
                <c:pt idx="3">
                  <c:v>502</c:v>
                </c:pt>
                <c:pt idx="4">
                  <c:v>536</c:v>
                </c:pt>
                <c:pt idx="5">
                  <c:v>484</c:v>
                </c:pt>
                <c:pt idx="6">
                  <c:v>514</c:v>
                </c:pt>
                <c:pt idx="7">
                  <c:v>477</c:v>
                </c:pt>
              </c:numCache>
            </c:numRef>
          </c:val>
          <c:extLst>
            <c:ext xmlns:c16="http://schemas.microsoft.com/office/drawing/2014/chart" uri="{C3380CC4-5D6E-409C-BE32-E72D297353CC}">
              <c16:uniqueId val="{00000000-D55A-4832-AF5B-1C68225946E4}"/>
            </c:ext>
          </c:extLst>
        </c:ser>
        <c:ser>
          <c:idx val="1"/>
          <c:order val="1"/>
          <c:tx>
            <c:strRef>
              <c:f>Sheet1!$C$1</c:f>
              <c:strCache>
                <c:ptCount val="1"/>
                <c:pt idx="0">
                  <c:v>Calls Resolved</c:v>
                </c:pt>
              </c:strCache>
            </c:strRef>
          </c:tx>
          <c:spPr>
            <a:solidFill>
              <a:srgbClr val="F5A623"/>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Becky</c:v>
                </c:pt>
                <c:pt idx="1">
                  <c:v>Dan</c:v>
                </c:pt>
                <c:pt idx="2">
                  <c:v>Diane</c:v>
                </c:pt>
                <c:pt idx="3">
                  <c:v>Greg</c:v>
                </c:pt>
                <c:pt idx="4">
                  <c:v>Jim</c:v>
                </c:pt>
                <c:pt idx="5">
                  <c:v>Joe</c:v>
                </c:pt>
                <c:pt idx="6">
                  <c:v>Martha</c:v>
                </c:pt>
                <c:pt idx="7">
                  <c:v>Stewart</c:v>
                </c:pt>
              </c:strCache>
            </c:strRef>
          </c:cat>
          <c:val>
            <c:numRef>
              <c:f>Sheet1!$C$2:$C$9</c:f>
              <c:numCache>
                <c:formatCode>General</c:formatCode>
                <c:ptCount val="8"/>
                <c:pt idx="0">
                  <c:v>462</c:v>
                </c:pt>
                <c:pt idx="1">
                  <c:v>471</c:v>
                </c:pt>
                <c:pt idx="2">
                  <c:v>452</c:v>
                </c:pt>
                <c:pt idx="3">
                  <c:v>455</c:v>
                </c:pt>
                <c:pt idx="4">
                  <c:v>485</c:v>
                </c:pt>
                <c:pt idx="5">
                  <c:v>436</c:v>
                </c:pt>
                <c:pt idx="6">
                  <c:v>461</c:v>
                </c:pt>
                <c:pt idx="7">
                  <c:v>424</c:v>
                </c:pt>
              </c:numCache>
            </c:numRef>
          </c:val>
          <c:extLst>
            <c:ext xmlns:c16="http://schemas.microsoft.com/office/drawing/2014/chart" uri="{C3380CC4-5D6E-409C-BE32-E72D297353CC}">
              <c16:uniqueId val="{00000001-D55A-4832-AF5B-1C68225946E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Number of Calls</c:v>
                </c:pt>
              </c:strCache>
            </c:strRef>
          </c:tx>
          <c:spPr>
            <a:solidFill>
              <a:srgbClr val="EF4444"/>
            </a:solidFill>
            <a:effectLst/>
          </c:spPr>
          <c:invertIfNegative val="0"/>
          <c:dPt>
            <c:idx val="0"/>
            <c:invertIfNegative val="0"/>
            <c:bubble3D val="0"/>
            <c:extLst>
              <c:ext xmlns:c16="http://schemas.microsoft.com/office/drawing/2014/chart" uri="{C3380CC4-5D6E-409C-BE32-E72D297353CC}">
                <c16:uniqueId val="{00000001-0E54-4291-98D9-0D552EAA85D0}"/>
              </c:ext>
            </c:extLst>
          </c:dPt>
          <c:dPt>
            <c:idx val="1"/>
            <c:invertIfNegative val="0"/>
            <c:bubble3D val="0"/>
            <c:spPr>
              <a:solidFill>
                <a:srgbClr val="F59E0B"/>
              </a:solidFill>
              <a:effectLst/>
            </c:spPr>
            <c:extLst>
              <c:ext xmlns:c16="http://schemas.microsoft.com/office/drawing/2014/chart" uri="{C3380CC4-5D6E-409C-BE32-E72D297353CC}">
                <c16:uniqueId val="{00000003-0E54-4291-98D9-0D552EAA85D0}"/>
              </c:ext>
            </c:extLst>
          </c:dPt>
          <c:dPt>
            <c:idx val="2"/>
            <c:invertIfNegative val="0"/>
            <c:bubble3D val="0"/>
            <c:spPr>
              <a:solidFill>
                <a:srgbClr val="64748B"/>
              </a:solidFill>
              <a:effectLst/>
            </c:spPr>
            <c:extLst>
              <c:ext xmlns:c16="http://schemas.microsoft.com/office/drawing/2014/chart" uri="{C3380CC4-5D6E-409C-BE32-E72D297353CC}">
                <c16:uniqueId val="{00000005-0E54-4291-98D9-0D552EAA85D0}"/>
              </c:ext>
            </c:extLst>
          </c:dPt>
          <c:dPt>
            <c:idx val="3"/>
            <c:invertIfNegative val="0"/>
            <c:bubble3D val="0"/>
            <c:spPr>
              <a:solidFill>
                <a:srgbClr val="10B981"/>
              </a:solidFill>
              <a:effectLst/>
            </c:spPr>
            <c:extLst>
              <c:ext xmlns:c16="http://schemas.microsoft.com/office/drawing/2014/chart" uri="{C3380CC4-5D6E-409C-BE32-E72D297353CC}">
                <c16:uniqueId val="{00000007-0E54-4291-98D9-0D552EAA85D0}"/>
              </c:ext>
            </c:extLst>
          </c:dPt>
          <c:dPt>
            <c:idx val="4"/>
            <c:invertIfNegative val="0"/>
            <c:bubble3D val="0"/>
            <c:spPr>
              <a:solidFill>
                <a:srgbClr val="0D7377"/>
              </a:solidFill>
              <a:effectLst/>
            </c:spPr>
            <c:extLst>
              <c:ext xmlns:c16="http://schemas.microsoft.com/office/drawing/2014/chart" uri="{C3380CC4-5D6E-409C-BE32-E72D297353CC}">
                <c16:uniqueId val="{00000009-0E54-4291-98D9-0D552EAA85D0}"/>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 Very Poor</c:v>
                </c:pt>
                <c:pt idx="1">
                  <c:v>2 — Poor</c:v>
                </c:pt>
                <c:pt idx="2">
                  <c:v>3 — Neutral</c:v>
                </c:pt>
                <c:pt idx="3">
                  <c:v>4 — Good</c:v>
                </c:pt>
                <c:pt idx="4">
                  <c:v>5 — Excellent</c:v>
                </c:pt>
              </c:strCache>
            </c:strRef>
          </c:cat>
          <c:val>
            <c:numRef>
              <c:f>Sheet1!$B$2:$B$6</c:f>
              <c:numCache>
                <c:formatCode>General</c:formatCode>
                <c:ptCount val="5"/>
                <c:pt idx="0">
                  <c:v>417</c:v>
                </c:pt>
                <c:pt idx="1">
                  <c:v>396</c:v>
                </c:pt>
                <c:pt idx="2">
                  <c:v>2164</c:v>
                </c:pt>
                <c:pt idx="3">
                  <c:v>1180</c:v>
                </c:pt>
                <c:pt idx="4">
                  <c:v>843</c:v>
                </c:pt>
              </c:numCache>
            </c:numRef>
          </c:val>
          <c:extLst>
            <c:ext xmlns:c16="http://schemas.microsoft.com/office/drawing/2014/chart" uri="{C3380CC4-5D6E-409C-BE32-E72D297353CC}">
              <c16:uniqueId val="{0000000A-0E54-4291-98D9-0D552EAA85D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70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7377"/>
          </a:solidFill>
          <a:ln w="12700">
            <a:solidFill>
              <a:srgbClr val="0D7377"/>
            </a:solidFill>
            <a:prstDash val="solid"/>
          </a:ln>
        </p:spPr>
      </p:sp>
      <p:sp>
        <p:nvSpPr>
          <p:cNvPr id="4" name="Shape 2"/>
          <p:cNvSpPr/>
          <p:nvPr/>
        </p:nvSpPr>
        <p:spPr>
          <a:xfrm>
            <a:off x="365760" y="274320"/>
            <a:ext cx="1371600" cy="1371600"/>
          </a:xfrm>
          <a:prstGeom prst="ellipse">
            <a:avLst/>
          </a:prstGeom>
          <a:solidFill>
            <a:srgbClr val="0D9377">
              <a:alpha val="50000"/>
            </a:srgbClr>
          </a:solidFill>
          <a:ln w="12700">
            <a:solidFill>
              <a:srgbClr val="0D9377">
                <a:alpha val="50000"/>
              </a:srgbClr>
            </a:solidFill>
            <a:prstDash val="solid"/>
          </a:ln>
        </p:spPr>
      </p:sp>
      <p:sp>
        <p:nvSpPr>
          <p:cNvPr id="5" name="Shape 3"/>
          <p:cNvSpPr/>
          <p:nvPr/>
        </p:nvSpPr>
        <p:spPr>
          <a:xfrm>
            <a:off x="2011680" y="3474720"/>
            <a:ext cx="1828800" cy="1828800"/>
          </a:xfrm>
          <a:prstGeom prst="ellipse">
            <a:avLst/>
          </a:prstGeom>
          <a:solidFill>
            <a:srgbClr val="0B6860">
              <a:alpha val="40000"/>
            </a:srgbClr>
          </a:solidFill>
          <a:ln w="12700">
            <a:solidFill>
              <a:srgbClr val="0B6860">
                <a:alpha val="40000"/>
              </a:srgbClr>
            </a:solidFill>
            <a:prstDash val="solid"/>
          </a:ln>
        </p:spPr>
      </p:sp>
      <p:sp>
        <p:nvSpPr>
          <p:cNvPr id="6" name="Text 4"/>
          <p:cNvSpPr/>
          <p:nvPr/>
        </p:nvSpPr>
        <p:spPr>
          <a:xfrm>
            <a:off x="3611880" y="640080"/>
            <a:ext cx="5394960" cy="457200"/>
          </a:xfrm>
          <a:prstGeom prst="rect">
            <a:avLst/>
          </a:prstGeom>
          <a:noFill/>
          <a:ln/>
        </p:spPr>
        <p:txBody>
          <a:bodyPr wrap="square" rtlCol="0" anchor="ctr"/>
          <a:lstStyle/>
          <a:p>
            <a:pPr marL="0" indent="0">
              <a:buNone/>
            </a:pPr>
            <a:r>
              <a:rPr lang="en-US" sz="1200" b="1" kern="0" spc="500" dirty="0">
                <a:solidFill>
                  <a:srgbClr val="14BDEB"/>
                </a:solidFill>
              </a:rPr>
              <a:t>DATA ANALYSIS</a:t>
            </a:r>
            <a:endParaRPr lang="en-US" sz="1200" dirty="0"/>
          </a:p>
        </p:txBody>
      </p:sp>
      <p:sp>
        <p:nvSpPr>
          <p:cNvPr id="7" name="Text 5"/>
          <p:cNvSpPr/>
          <p:nvPr/>
        </p:nvSpPr>
        <p:spPr>
          <a:xfrm>
            <a:off x="3611880" y="1051560"/>
            <a:ext cx="5394960" cy="2286000"/>
          </a:xfrm>
          <a:prstGeom prst="rect">
            <a:avLst/>
          </a:prstGeom>
          <a:noFill/>
          <a:ln/>
        </p:spPr>
        <p:txBody>
          <a:bodyPr wrap="square" rtlCol="0" anchor="ctr"/>
          <a:lstStyle/>
          <a:p>
            <a:pPr marL="0" indent="0">
              <a:lnSpc>
                <a:spcPct val="115000"/>
              </a:lnSpc>
              <a:buNone/>
            </a:pPr>
            <a:r>
              <a:rPr lang="en-US" sz="3600" b="1" dirty="0">
                <a:solidFill>
                  <a:srgbClr val="FFFFFF"/>
                </a:solidFill>
              </a:rPr>
              <a:t>Call Center</a:t>
            </a:r>
            <a:endParaRPr lang="en-US" sz="3600" dirty="0"/>
          </a:p>
          <a:p>
            <a:pPr marL="0" indent="0">
              <a:lnSpc>
                <a:spcPct val="115000"/>
              </a:lnSpc>
              <a:buNone/>
            </a:pPr>
            <a:r>
              <a:rPr lang="en-US" sz="3600" b="1" dirty="0">
                <a:solidFill>
                  <a:srgbClr val="FFFFFF"/>
                </a:solidFill>
              </a:rPr>
              <a:t>Performance</a:t>
            </a:r>
            <a:endParaRPr lang="en-US" sz="3600" dirty="0"/>
          </a:p>
          <a:p>
            <a:pPr marL="0" indent="0">
              <a:lnSpc>
                <a:spcPct val="115000"/>
              </a:lnSpc>
              <a:buNone/>
            </a:pPr>
            <a:r>
              <a:rPr lang="en-US" sz="3600" b="1" dirty="0">
                <a:solidFill>
                  <a:srgbClr val="FFFFFF"/>
                </a:solidFill>
              </a:rPr>
              <a:t>Report</a:t>
            </a:r>
            <a:endParaRPr lang="en-US" sz="3600" dirty="0"/>
          </a:p>
        </p:txBody>
      </p:sp>
      <p:sp>
        <p:nvSpPr>
          <p:cNvPr id="8" name="Shape 6"/>
          <p:cNvSpPr/>
          <p:nvPr/>
        </p:nvSpPr>
        <p:spPr>
          <a:xfrm>
            <a:off x="3611880" y="3383280"/>
            <a:ext cx="1097280" cy="54864"/>
          </a:xfrm>
          <a:prstGeom prst="rect">
            <a:avLst/>
          </a:prstGeom>
          <a:solidFill>
            <a:srgbClr val="F5A623"/>
          </a:solidFill>
          <a:ln w="12700">
            <a:solidFill>
              <a:srgbClr val="F5A623"/>
            </a:solidFill>
            <a:prstDash val="solid"/>
          </a:ln>
        </p:spPr>
      </p:sp>
      <p:sp>
        <p:nvSpPr>
          <p:cNvPr id="9" name="Text 7"/>
          <p:cNvSpPr/>
          <p:nvPr/>
        </p:nvSpPr>
        <p:spPr>
          <a:xfrm>
            <a:off x="3611880" y="3474720"/>
            <a:ext cx="5394960" cy="457200"/>
          </a:xfrm>
          <a:prstGeom prst="rect">
            <a:avLst/>
          </a:prstGeom>
          <a:noFill/>
          <a:ln/>
        </p:spPr>
        <p:txBody>
          <a:bodyPr wrap="square" rtlCol="0" anchor="ctr"/>
          <a:lstStyle/>
          <a:p>
            <a:pPr marL="0" indent="0">
              <a:buNone/>
            </a:pPr>
            <a:r>
              <a:rPr lang="en-US" sz="1100" i="1" dirty="0">
                <a:solidFill>
                  <a:srgbClr val="B0C4D8"/>
                </a:solidFill>
              </a:rPr>
              <a:t>Comprehensive Business Intelligence &amp; Performance Insights</a:t>
            </a:r>
            <a:endParaRPr lang="en-US" sz="1100" dirty="0"/>
          </a:p>
        </p:txBody>
      </p:sp>
      <p:sp>
        <p:nvSpPr>
          <p:cNvPr id="11" name="Text 9"/>
          <p:cNvSpPr/>
          <p:nvPr/>
        </p:nvSpPr>
        <p:spPr>
          <a:xfrm>
            <a:off x="457200" y="1371600"/>
            <a:ext cx="2286000" cy="73152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
        <p:nvSpPr>
          <p:cNvPr id="12" name="Text 10"/>
          <p:cNvSpPr/>
          <p:nvPr/>
        </p:nvSpPr>
        <p:spPr>
          <a:xfrm>
            <a:off x="274320" y="2148840"/>
            <a:ext cx="2834640" cy="914400"/>
          </a:xfrm>
          <a:prstGeom prst="rect">
            <a:avLst/>
          </a:prstGeom>
          <a:noFill/>
          <a:ln/>
        </p:spPr>
        <p:txBody>
          <a:bodyPr wrap="square" rtlCol="0" anchor="ctr"/>
          <a:lstStyle/>
          <a:p>
            <a:pPr marL="0" indent="0" algn="ctr">
              <a:lnSpc>
                <a:spcPct val="130000"/>
              </a:lnSpc>
              <a:buNone/>
            </a:pPr>
            <a:r>
              <a:rPr lang="en-US" sz="1600" b="1" dirty="0">
                <a:solidFill>
                  <a:srgbClr val="FFFFFF"/>
                </a:solidFill>
              </a:rPr>
              <a:t>CALL CENTER</a:t>
            </a:r>
            <a:endParaRPr lang="en-US" sz="1600" dirty="0"/>
          </a:p>
          <a:p>
            <a:pPr marL="0" indent="0" algn="ctr">
              <a:lnSpc>
                <a:spcPct val="130000"/>
              </a:lnSpc>
              <a:buNone/>
            </a:pPr>
            <a:r>
              <a:rPr lang="en-US" sz="1600" b="1" dirty="0">
                <a:solidFill>
                  <a:srgbClr val="FFFFFF"/>
                </a:solidFill>
              </a:rPr>
              <a:t>ANALYTICS</a:t>
            </a:r>
            <a:endParaRPr lang="en-US" sz="1600" dirty="0"/>
          </a:p>
        </p:txBody>
      </p:sp>
      <p:sp>
        <p:nvSpPr>
          <p:cNvPr id="13" name="Text 11"/>
          <p:cNvSpPr/>
          <p:nvPr/>
        </p:nvSpPr>
        <p:spPr>
          <a:xfrm>
            <a:off x="274320" y="3154680"/>
            <a:ext cx="2834640" cy="731520"/>
          </a:xfrm>
          <a:prstGeom prst="rect">
            <a:avLst/>
          </a:prstGeom>
          <a:noFill/>
          <a:ln/>
        </p:spPr>
        <p:txBody>
          <a:bodyPr wrap="square" rtlCol="0" anchor="ctr"/>
          <a:lstStyle/>
          <a:p>
            <a:pPr marL="0" indent="0" algn="ctr">
              <a:buNone/>
            </a:pPr>
            <a:r>
              <a:rPr lang="en-US" sz="1000" dirty="0">
                <a:solidFill>
                  <a:srgbClr val="D0ECE7"/>
                </a:solidFill>
              </a:rPr>
              <a:t>5,000 Calls Analyzed</a:t>
            </a:r>
            <a:endParaRPr lang="en-US" sz="1000" dirty="0"/>
          </a:p>
          <a:p>
            <a:pPr marL="0" indent="0" algn="ctr">
              <a:buNone/>
            </a:pPr>
            <a:r>
              <a:rPr lang="en-US" sz="1000" dirty="0">
                <a:solidFill>
                  <a:srgbClr val="D0ECE7"/>
                </a:solidFill>
              </a:rPr>
              <a:t>8 Agents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96351"/>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Table of Contents</a:t>
            </a:r>
            <a:endParaRPr lang="en-US" sz="2200" dirty="0"/>
          </a:p>
        </p:txBody>
      </p:sp>
      <p:sp>
        <p:nvSpPr>
          <p:cNvPr id="5" name="Shape 3"/>
          <p:cNvSpPr/>
          <p:nvPr/>
        </p:nvSpPr>
        <p:spPr>
          <a:xfrm>
            <a:off x="0" y="0"/>
            <a:ext cx="64008" cy="696351"/>
          </a:xfrm>
          <a:prstGeom prst="rect">
            <a:avLst/>
          </a:prstGeom>
          <a:solidFill>
            <a:srgbClr val="0D7377"/>
          </a:solidFill>
          <a:ln w="12700">
            <a:solidFill>
              <a:srgbClr val="0D7377"/>
            </a:solidFill>
            <a:prstDash val="solid"/>
          </a:ln>
        </p:spPr>
      </p:sp>
      <p:sp>
        <p:nvSpPr>
          <p:cNvPr id="6" name="Shape 4"/>
          <p:cNvSpPr/>
          <p:nvPr/>
        </p:nvSpPr>
        <p:spPr>
          <a:xfrm>
            <a:off x="320040" y="8496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849689"/>
            <a:ext cx="502920" cy="749808"/>
          </a:xfrm>
          <a:prstGeom prst="rect">
            <a:avLst/>
          </a:prstGeom>
          <a:solidFill>
            <a:srgbClr val="1B2A4A"/>
          </a:solidFill>
          <a:ln w="12700">
            <a:solidFill>
              <a:srgbClr val="1B2A4A"/>
            </a:solidFill>
            <a:prstDash val="solid"/>
          </a:ln>
        </p:spPr>
      </p:sp>
      <p:sp>
        <p:nvSpPr>
          <p:cNvPr id="8" name="Text 6"/>
          <p:cNvSpPr/>
          <p:nvPr/>
        </p:nvSpPr>
        <p:spPr>
          <a:xfrm>
            <a:off x="320040" y="8496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01</a:t>
            </a:r>
            <a:endParaRPr lang="en-US" sz="1400" dirty="0"/>
          </a:p>
        </p:txBody>
      </p:sp>
      <p:sp>
        <p:nvSpPr>
          <p:cNvPr id="9" name="Text 7"/>
          <p:cNvSpPr/>
          <p:nvPr/>
        </p:nvSpPr>
        <p:spPr>
          <a:xfrm>
            <a:off x="914400" y="895409"/>
            <a:ext cx="3337560" cy="347472"/>
          </a:xfrm>
          <a:prstGeom prst="rect">
            <a:avLst/>
          </a:prstGeom>
          <a:noFill/>
          <a:ln/>
        </p:spPr>
        <p:txBody>
          <a:bodyPr wrap="square" rtlCol="0" anchor="ctr"/>
          <a:lstStyle/>
          <a:p>
            <a:pPr marL="0" indent="0">
              <a:buNone/>
            </a:pPr>
            <a:r>
              <a:rPr lang="en-US" sz="1100" b="1" dirty="0">
                <a:solidFill>
                  <a:srgbClr val="1E293B"/>
                </a:solidFill>
              </a:rPr>
              <a:t>Introduction &amp; Background</a:t>
            </a:r>
            <a:endParaRPr lang="en-US" sz="1100" dirty="0"/>
          </a:p>
        </p:txBody>
      </p:sp>
      <p:sp>
        <p:nvSpPr>
          <p:cNvPr id="10" name="Text 8"/>
          <p:cNvSpPr/>
          <p:nvPr/>
        </p:nvSpPr>
        <p:spPr>
          <a:xfrm>
            <a:off x="914400" y="1242881"/>
            <a:ext cx="3337560" cy="292608"/>
          </a:xfrm>
          <a:prstGeom prst="rect">
            <a:avLst/>
          </a:prstGeom>
          <a:noFill/>
          <a:ln/>
        </p:spPr>
        <p:txBody>
          <a:bodyPr wrap="square" rtlCol="0" anchor="ctr"/>
          <a:lstStyle/>
          <a:p>
            <a:pPr marL="0" indent="0">
              <a:buNone/>
            </a:pPr>
            <a:r>
              <a:rPr lang="en-US" sz="900" dirty="0">
                <a:solidFill>
                  <a:srgbClr val="64748B"/>
                </a:solidFill>
              </a:rPr>
              <a:t>Context of the call center project</a:t>
            </a:r>
            <a:endParaRPr lang="en-US" sz="900" dirty="0"/>
          </a:p>
        </p:txBody>
      </p:sp>
      <p:sp>
        <p:nvSpPr>
          <p:cNvPr id="11" name="Shape 9"/>
          <p:cNvSpPr/>
          <p:nvPr/>
        </p:nvSpPr>
        <p:spPr>
          <a:xfrm>
            <a:off x="4709160" y="8496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4709160" y="849689"/>
            <a:ext cx="502920" cy="749808"/>
          </a:xfrm>
          <a:prstGeom prst="rect">
            <a:avLst/>
          </a:prstGeom>
          <a:solidFill>
            <a:srgbClr val="1B2A4A"/>
          </a:solidFill>
          <a:ln w="12700">
            <a:solidFill>
              <a:srgbClr val="1B2A4A"/>
            </a:solidFill>
            <a:prstDash val="solid"/>
          </a:ln>
        </p:spPr>
      </p:sp>
      <p:sp>
        <p:nvSpPr>
          <p:cNvPr id="13" name="Text 11"/>
          <p:cNvSpPr/>
          <p:nvPr/>
        </p:nvSpPr>
        <p:spPr>
          <a:xfrm>
            <a:off x="4709160" y="8496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02</a:t>
            </a:r>
            <a:endParaRPr lang="en-US" sz="1400" dirty="0"/>
          </a:p>
        </p:txBody>
      </p:sp>
      <p:sp>
        <p:nvSpPr>
          <p:cNvPr id="14" name="Text 12"/>
          <p:cNvSpPr/>
          <p:nvPr/>
        </p:nvSpPr>
        <p:spPr>
          <a:xfrm>
            <a:off x="5303520" y="895409"/>
            <a:ext cx="3337560" cy="347472"/>
          </a:xfrm>
          <a:prstGeom prst="rect">
            <a:avLst/>
          </a:prstGeom>
          <a:noFill/>
          <a:ln/>
        </p:spPr>
        <p:txBody>
          <a:bodyPr wrap="square" rtlCol="0" anchor="ctr"/>
          <a:lstStyle/>
          <a:p>
            <a:pPr marL="0" indent="0">
              <a:buNone/>
            </a:pPr>
            <a:r>
              <a:rPr lang="en-US" sz="1100" b="1" dirty="0">
                <a:solidFill>
                  <a:srgbClr val="1E293B"/>
                </a:solidFill>
              </a:rPr>
              <a:t>Domain Overview &amp; Problem</a:t>
            </a:r>
            <a:endParaRPr lang="en-US" sz="1100" dirty="0"/>
          </a:p>
        </p:txBody>
      </p:sp>
      <p:sp>
        <p:nvSpPr>
          <p:cNvPr id="15" name="Text 13"/>
          <p:cNvSpPr/>
          <p:nvPr/>
        </p:nvSpPr>
        <p:spPr>
          <a:xfrm>
            <a:off x="5303520" y="1242881"/>
            <a:ext cx="3337560" cy="292608"/>
          </a:xfrm>
          <a:prstGeom prst="rect">
            <a:avLst/>
          </a:prstGeom>
          <a:noFill/>
          <a:ln/>
        </p:spPr>
        <p:txBody>
          <a:bodyPr wrap="square" rtlCol="0" anchor="ctr"/>
          <a:lstStyle/>
          <a:p>
            <a:pPr marL="0" indent="0">
              <a:buNone/>
            </a:pPr>
            <a:r>
              <a:rPr lang="en-US" sz="900" dirty="0">
                <a:solidFill>
                  <a:srgbClr val="64748B"/>
                </a:solidFill>
              </a:rPr>
              <a:t>Industry context and business challenges</a:t>
            </a:r>
            <a:endParaRPr lang="en-US" sz="900" dirty="0"/>
          </a:p>
        </p:txBody>
      </p:sp>
      <p:sp>
        <p:nvSpPr>
          <p:cNvPr id="16" name="Shape 14"/>
          <p:cNvSpPr/>
          <p:nvPr/>
        </p:nvSpPr>
        <p:spPr>
          <a:xfrm>
            <a:off x="320040" y="17640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1764089"/>
            <a:ext cx="502920" cy="749808"/>
          </a:xfrm>
          <a:prstGeom prst="rect">
            <a:avLst/>
          </a:prstGeom>
          <a:solidFill>
            <a:srgbClr val="1B2A4A"/>
          </a:solidFill>
          <a:ln w="12700">
            <a:solidFill>
              <a:srgbClr val="1B2A4A"/>
            </a:solidFill>
            <a:prstDash val="solid"/>
          </a:ln>
        </p:spPr>
      </p:sp>
      <p:sp>
        <p:nvSpPr>
          <p:cNvPr id="18" name="Text 16"/>
          <p:cNvSpPr/>
          <p:nvPr/>
        </p:nvSpPr>
        <p:spPr>
          <a:xfrm>
            <a:off x="320040" y="17640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03</a:t>
            </a:r>
            <a:endParaRPr lang="en-US" sz="1400" dirty="0"/>
          </a:p>
        </p:txBody>
      </p:sp>
      <p:sp>
        <p:nvSpPr>
          <p:cNvPr id="19" name="Text 17"/>
          <p:cNvSpPr/>
          <p:nvPr/>
        </p:nvSpPr>
        <p:spPr>
          <a:xfrm>
            <a:off x="914400" y="1809809"/>
            <a:ext cx="3337560" cy="347472"/>
          </a:xfrm>
          <a:prstGeom prst="rect">
            <a:avLst/>
          </a:prstGeom>
          <a:noFill/>
          <a:ln/>
        </p:spPr>
        <p:txBody>
          <a:bodyPr wrap="square" rtlCol="0" anchor="ctr"/>
          <a:lstStyle/>
          <a:p>
            <a:pPr marL="0" indent="0">
              <a:buNone/>
            </a:pPr>
            <a:r>
              <a:rPr lang="en-US" sz="1100" b="1" dirty="0">
                <a:solidFill>
                  <a:srgbClr val="1E293B"/>
                </a:solidFill>
              </a:rPr>
              <a:t>Project Objectives</a:t>
            </a:r>
            <a:endParaRPr lang="en-US" sz="1100" dirty="0"/>
          </a:p>
        </p:txBody>
      </p:sp>
      <p:sp>
        <p:nvSpPr>
          <p:cNvPr id="20" name="Text 18"/>
          <p:cNvSpPr/>
          <p:nvPr/>
        </p:nvSpPr>
        <p:spPr>
          <a:xfrm>
            <a:off x="914400" y="2157281"/>
            <a:ext cx="3337560" cy="292608"/>
          </a:xfrm>
          <a:prstGeom prst="rect">
            <a:avLst/>
          </a:prstGeom>
          <a:noFill/>
          <a:ln/>
        </p:spPr>
        <p:txBody>
          <a:bodyPr wrap="square" rtlCol="0" anchor="ctr"/>
          <a:lstStyle/>
          <a:p>
            <a:pPr marL="0" indent="0">
              <a:buNone/>
            </a:pPr>
            <a:r>
              <a:rPr lang="en-US" sz="900" dirty="0">
                <a:solidFill>
                  <a:srgbClr val="64748B"/>
                </a:solidFill>
              </a:rPr>
              <a:t>Goals and expected outcomes</a:t>
            </a:r>
            <a:endParaRPr lang="en-US" sz="900" dirty="0"/>
          </a:p>
        </p:txBody>
      </p:sp>
      <p:sp>
        <p:nvSpPr>
          <p:cNvPr id="21" name="Shape 19"/>
          <p:cNvSpPr/>
          <p:nvPr/>
        </p:nvSpPr>
        <p:spPr>
          <a:xfrm>
            <a:off x="4709160" y="17640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2" name="Shape 20"/>
          <p:cNvSpPr/>
          <p:nvPr/>
        </p:nvSpPr>
        <p:spPr>
          <a:xfrm>
            <a:off x="4709160" y="1778860"/>
            <a:ext cx="502920" cy="749808"/>
          </a:xfrm>
          <a:prstGeom prst="rect">
            <a:avLst/>
          </a:prstGeom>
          <a:solidFill>
            <a:srgbClr val="1B2A4A"/>
          </a:solidFill>
          <a:ln w="12700">
            <a:solidFill>
              <a:srgbClr val="1B2A4A"/>
            </a:solidFill>
            <a:prstDash val="solid"/>
          </a:ln>
        </p:spPr>
      </p:sp>
      <p:sp>
        <p:nvSpPr>
          <p:cNvPr id="23" name="Text 21"/>
          <p:cNvSpPr/>
          <p:nvPr/>
        </p:nvSpPr>
        <p:spPr>
          <a:xfrm>
            <a:off x="4709160" y="17640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04</a:t>
            </a:r>
            <a:endParaRPr lang="en-US" sz="1400" dirty="0"/>
          </a:p>
        </p:txBody>
      </p:sp>
      <p:sp>
        <p:nvSpPr>
          <p:cNvPr id="24" name="Text 22"/>
          <p:cNvSpPr/>
          <p:nvPr/>
        </p:nvSpPr>
        <p:spPr>
          <a:xfrm>
            <a:off x="5303520" y="1809809"/>
            <a:ext cx="3337560" cy="347472"/>
          </a:xfrm>
          <a:prstGeom prst="rect">
            <a:avLst/>
          </a:prstGeom>
          <a:noFill/>
          <a:ln/>
        </p:spPr>
        <p:txBody>
          <a:bodyPr wrap="square" rtlCol="0" anchor="ctr"/>
          <a:lstStyle/>
          <a:p>
            <a:pPr marL="0" indent="0">
              <a:buNone/>
            </a:pPr>
            <a:r>
              <a:rPr lang="en-US" sz="1100" b="1" dirty="0">
                <a:solidFill>
                  <a:srgbClr val="1E293B"/>
                </a:solidFill>
              </a:rPr>
              <a:t>Dataset Overview &amp; Summary</a:t>
            </a:r>
            <a:endParaRPr lang="en-US" sz="1100" dirty="0"/>
          </a:p>
        </p:txBody>
      </p:sp>
      <p:sp>
        <p:nvSpPr>
          <p:cNvPr id="25" name="Text 23"/>
          <p:cNvSpPr/>
          <p:nvPr/>
        </p:nvSpPr>
        <p:spPr>
          <a:xfrm>
            <a:off x="5303520" y="2157281"/>
            <a:ext cx="3337560" cy="292608"/>
          </a:xfrm>
          <a:prstGeom prst="rect">
            <a:avLst/>
          </a:prstGeom>
          <a:noFill/>
          <a:ln/>
        </p:spPr>
        <p:txBody>
          <a:bodyPr wrap="square" rtlCol="0" anchor="ctr"/>
          <a:lstStyle/>
          <a:p>
            <a:pPr marL="0" indent="0">
              <a:buNone/>
            </a:pPr>
            <a:r>
              <a:rPr lang="en-US" sz="900" dirty="0">
                <a:solidFill>
                  <a:srgbClr val="64748B"/>
                </a:solidFill>
              </a:rPr>
              <a:t>Data structure, metrics and statistics</a:t>
            </a:r>
            <a:endParaRPr lang="en-US" sz="900" dirty="0"/>
          </a:p>
        </p:txBody>
      </p:sp>
      <p:sp>
        <p:nvSpPr>
          <p:cNvPr id="26" name="Shape 24"/>
          <p:cNvSpPr/>
          <p:nvPr/>
        </p:nvSpPr>
        <p:spPr>
          <a:xfrm>
            <a:off x="320040" y="26784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7" name="Shape 25"/>
          <p:cNvSpPr/>
          <p:nvPr/>
        </p:nvSpPr>
        <p:spPr>
          <a:xfrm>
            <a:off x="320040" y="2678489"/>
            <a:ext cx="502920" cy="749808"/>
          </a:xfrm>
          <a:prstGeom prst="rect">
            <a:avLst/>
          </a:prstGeom>
          <a:solidFill>
            <a:srgbClr val="1B2A4A"/>
          </a:solidFill>
          <a:ln w="12700">
            <a:solidFill>
              <a:srgbClr val="1B2A4A"/>
            </a:solidFill>
            <a:prstDash val="solid"/>
          </a:ln>
        </p:spPr>
      </p:sp>
      <p:sp>
        <p:nvSpPr>
          <p:cNvPr id="28" name="Text 26"/>
          <p:cNvSpPr/>
          <p:nvPr/>
        </p:nvSpPr>
        <p:spPr>
          <a:xfrm>
            <a:off x="320040" y="26784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05</a:t>
            </a:r>
            <a:endParaRPr lang="en-US" sz="1400" dirty="0"/>
          </a:p>
        </p:txBody>
      </p:sp>
      <p:sp>
        <p:nvSpPr>
          <p:cNvPr id="29" name="Text 27"/>
          <p:cNvSpPr/>
          <p:nvPr/>
        </p:nvSpPr>
        <p:spPr>
          <a:xfrm>
            <a:off x="914400" y="2724209"/>
            <a:ext cx="3337560" cy="347472"/>
          </a:xfrm>
          <a:prstGeom prst="rect">
            <a:avLst/>
          </a:prstGeom>
          <a:noFill/>
          <a:ln/>
        </p:spPr>
        <p:txBody>
          <a:bodyPr wrap="square" rtlCol="0" anchor="ctr"/>
          <a:lstStyle/>
          <a:p>
            <a:pPr marL="0" indent="0">
              <a:buNone/>
            </a:pPr>
            <a:r>
              <a:rPr lang="en-US" sz="1100" b="1" dirty="0">
                <a:solidFill>
                  <a:srgbClr val="1E293B"/>
                </a:solidFill>
              </a:rPr>
              <a:t>Data Cleaning &amp; Transformation</a:t>
            </a:r>
            <a:endParaRPr lang="en-US" sz="1100" dirty="0"/>
          </a:p>
        </p:txBody>
      </p:sp>
      <p:sp>
        <p:nvSpPr>
          <p:cNvPr id="30" name="Text 28"/>
          <p:cNvSpPr/>
          <p:nvPr/>
        </p:nvSpPr>
        <p:spPr>
          <a:xfrm>
            <a:off x="914400" y="3071681"/>
            <a:ext cx="3337560" cy="292608"/>
          </a:xfrm>
          <a:prstGeom prst="rect">
            <a:avLst/>
          </a:prstGeom>
          <a:noFill/>
          <a:ln/>
        </p:spPr>
        <p:txBody>
          <a:bodyPr wrap="square" rtlCol="0" anchor="ctr"/>
          <a:lstStyle/>
          <a:p>
            <a:pPr marL="0" indent="0">
              <a:buNone/>
            </a:pPr>
            <a:r>
              <a:rPr lang="en-US" sz="900" dirty="0">
                <a:solidFill>
                  <a:srgbClr val="64748B"/>
                </a:solidFill>
              </a:rPr>
              <a:t>How raw data was prepared for analysis</a:t>
            </a:r>
            <a:endParaRPr lang="en-US" sz="900" dirty="0"/>
          </a:p>
        </p:txBody>
      </p:sp>
      <p:sp>
        <p:nvSpPr>
          <p:cNvPr id="31" name="Shape 29"/>
          <p:cNvSpPr/>
          <p:nvPr/>
        </p:nvSpPr>
        <p:spPr>
          <a:xfrm>
            <a:off x="4709160" y="26784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2" name="Shape 30"/>
          <p:cNvSpPr/>
          <p:nvPr/>
        </p:nvSpPr>
        <p:spPr>
          <a:xfrm>
            <a:off x="4709160" y="2678489"/>
            <a:ext cx="502920" cy="749808"/>
          </a:xfrm>
          <a:prstGeom prst="rect">
            <a:avLst/>
          </a:prstGeom>
          <a:solidFill>
            <a:srgbClr val="1B2A4A"/>
          </a:solidFill>
          <a:ln w="12700">
            <a:solidFill>
              <a:srgbClr val="1B2A4A"/>
            </a:solidFill>
            <a:prstDash val="solid"/>
          </a:ln>
        </p:spPr>
      </p:sp>
      <p:sp>
        <p:nvSpPr>
          <p:cNvPr id="33" name="Text 31"/>
          <p:cNvSpPr/>
          <p:nvPr/>
        </p:nvSpPr>
        <p:spPr>
          <a:xfrm>
            <a:off x="4709160" y="26784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06</a:t>
            </a:r>
            <a:endParaRPr lang="en-US" sz="1400" dirty="0"/>
          </a:p>
        </p:txBody>
      </p:sp>
      <p:sp>
        <p:nvSpPr>
          <p:cNvPr id="34" name="Text 32"/>
          <p:cNvSpPr/>
          <p:nvPr/>
        </p:nvSpPr>
        <p:spPr>
          <a:xfrm>
            <a:off x="5303520" y="2724209"/>
            <a:ext cx="3337560" cy="347472"/>
          </a:xfrm>
          <a:prstGeom prst="rect">
            <a:avLst/>
          </a:prstGeom>
          <a:noFill/>
          <a:ln/>
        </p:spPr>
        <p:txBody>
          <a:bodyPr wrap="square" rtlCol="0" anchor="ctr"/>
          <a:lstStyle/>
          <a:p>
            <a:pPr marL="0" indent="0">
              <a:buNone/>
            </a:pPr>
            <a:r>
              <a:rPr lang="en-US" sz="1100" b="1" dirty="0">
                <a:solidFill>
                  <a:srgbClr val="1E293B"/>
                </a:solidFill>
              </a:rPr>
              <a:t>Tools &amp; Business Questions</a:t>
            </a:r>
            <a:endParaRPr lang="en-US" sz="1100" dirty="0"/>
          </a:p>
        </p:txBody>
      </p:sp>
      <p:sp>
        <p:nvSpPr>
          <p:cNvPr id="35" name="Text 33"/>
          <p:cNvSpPr/>
          <p:nvPr/>
        </p:nvSpPr>
        <p:spPr>
          <a:xfrm>
            <a:off x="5303520" y="3071681"/>
            <a:ext cx="3337560" cy="292608"/>
          </a:xfrm>
          <a:prstGeom prst="rect">
            <a:avLst/>
          </a:prstGeom>
          <a:noFill/>
          <a:ln/>
        </p:spPr>
        <p:txBody>
          <a:bodyPr wrap="square" rtlCol="0" anchor="ctr"/>
          <a:lstStyle/>
          <a:p>
            <a:pPr marL="0" indent="0">
              <a:buNone/>
            </a:pPr>
            <a:r>
              <a:rPr lang="en-US" sz="900" dirty="0">
                <a:solidFill>
                  <a:srgbClr val="64748B"/>
                </a:solidFill>
              </a:rPr>
              <a:t>Technologies used and analytical questions</a:t>
            </a:r>
            <a:endParaRPr lang="en-US" sz="900" dirty="0"/>
          </a:p>
        </p:txBody>
      </p:sp>
      <p:sp>
        <p:nvSpPr>
          <p:cNvPr id="36" name="Shape 34"/>
          <p:cNvSpPr/>
          <p:nvPr/>
        </p:nvSpPr>
        <p:spPr>
          <a:xfrm>
            <a:off x="320040" y="35928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dirty="0"/>
          </a:p>
        </p:txBody>
      </p:sp>
      <p:sp>
        <p:nvSpPr>
          <p:cNvPr id="37" name="Shape 35"/>
          <p:cNvSpPr/>
          <p:nvPr/>
        </p:nvSpPr>
        <p:spPr>
          <a:xfrm>
            <a:off x="320040" y="3611177"/>
            <a:ext cx="502920" cy="749808"/>
          </a:xfrm>
          <a:prstGeom prst="rect">
            <a:avLst/>
          </a:prstGeom>
          <a:solidFill>
            <a:srgbClr val="1B2A4A"/>
          </a:solidFill>
          <a:ln w="12700">
            <a:solidFill>
              <a:srgbClr val="1B2A4A"/>
            </a:solidFill>
            <a:prstDash val="solid"/>
          </a:ln>
        </p:spPr>
      </p:sp>
      <p:sp>
        <p:nvSpPr>
          <p:cNvPr id="38" name="Text 36"/>
          <p:cNvSpPr/>
          <p:nvPr/>
        </p:nvSpPr>
        <p:spPr>
          <a:xfrm>
            <a:off x="320040" y="35928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07</a:t>
            </a:r>
            <a:endParaRPr lang="en-US" sz="1400" dirty="0"/>
          </a:p>
        </p:txBody>
      </p:sp>
      <p:sp>
        <p:nvSpPr>
          <p:cNvPr id="39" name="Text 37"/>
          <p:cNvSpPr/>
          <p:nvPr/>
        </p:nvSpPr>
        <p:spPr>
          <a:xfrm>
            <a:off x="914400" y="3638609"/>
            <a:ext cx="3337560" cy="347472"/>
          </a:xfrm>
          <a:prstGeom prst="rect">
            <a:avLst/>
          </a:prstGeom>
          <a:noFill/>
          <a:ln/>
        </p:spPr>
        <p:txBody>
          <a:bodyPr wrap="square" rtlCol="0" anchor="ctr"/>
          <a:lstStyle/>
          <a:p>
            <a:pPr marL="0" indent="0">
              <a:buNone/>
            </a:pPr>
            <a:r>
              <a:rPr lang="en-US" sz="1100" b="1" dirty="0">
                <a:solidFill>
                  <a:srgbClr val="1E293B"/>
                </a:solidFill>
              </a:rPr>
              <a:t>EDA &amp; Charts </a:t>
            </a:r>
            <a:endParaRPr lang="en-US" sz="1100" dirty="0"/>
          </a:p>
        </p:txBody>
      </p:sp>
      <p:sp>
        <p:nvSpPr>
          <p:cNvPr id="40" name="Text 38"/>
          <p:cNvSpPr/>
          <p:nvPr/>
        </p:nvSpPr>
        <p:spPr>
          <a:xfrm>
            <a:off x="914400" y="3986081"/>
            <a:ext cx="3337560" cy="292608"/>
          </a:xfrm>
          <a:prstGeom prst="rect">
            <a:avLst/>
          </a:prstGeom>
          <a:noFill/>
          <a:ln/>
        </p:spPr>
        <p:txBody>
          <a:bodyPr wrap="square" rtlCol="0" anchor="ctr"/>
          <a:lstStyle/>
          <a:p>
            <a:pPr marL="0" indent="0">
              <a:buNone/>
            </a:pPr>
            <a:r>
              <a:rPr lang="en-US" sz="900" dirty="0">
                <a:solidFill>
                  <a:srgbClr val="64748B"/>
                </a:solidFill>
              </a:rPr>
              <a:t>Bar, Line</a:t>
            </a:r>
            <a:r>
              <a:rPr lang="en-US" sz="900">
                <a:solidFill>
                  <a:srgbClr val="64748B"/>
                </a:solidFill>
              </a:rPr>
              <a:t>, Pie, </a:t>
            </a:r>
            <a:r>
              <a:rPr lang="en-US" sz="900" dirty="0">
                <a:solidFill>
                  <a:srgbClr val="64748B"/>
                </a:solidFill>
              </a:rPr>
              <a:t>Trend, Comparison</a:t>
            </a:r>
            <a:endParaRPr lang="en-US" sz="900" dirty="0"/>
          </a:p>
        </p:txBody>
      </p:sp>
      <p:sp>
        <p:nvSpPr>
          <p:cNvPr id="41" name="Shape 39"/>
          <p:cNvSpPr/>
          <p:nvPr/>
        </p:nvSpPr>
        <p:spPr>
          <a:xfrm>
            <a:off x="4709160" y="3592889"/>
            <a:ext cx="402336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42" name="Shape 40"/>
          <p:cNvSpPr/>
          <p:nvPr/>
        </p:nvSpPr>
        <p:spPr>
          <a:xfrm>
            <a:off x="4709160" y="3592889"/>
            <a:ext cx="502920" cy="749808"/>
          </a:xfrm>
          <a:prstGeom prst="rect">
            <a:avLst/>
          </a:prstGeom>
          <a:solidFill>
            <a:srgbClr val="1B2A4A"/>
          </a:solidFill>
          <a:ln w="12700">
            <a:solidFill>
              <a:srgbClr val="1B2A4A"/>
            </a:solidFill>
            <a:prstDash val="solid"/>
          </a:ln>
        </p:spPr>
      </p:sp>
      <p:sp>
        <p:nvSpPr>
          <p:cNvPr id="43" name="Text 41"/>
          <p:cNvSpPr/>
          <p:nvPr/>
        </p:nvSpPr>
        <p:spPr>
          <a:xfrm>
            <a:off x="4709160" y="3592889"/>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08</a:t>
            </a:r>
            <a:endParaRPr lang="en-US" sz="1400" dirty="0"/>
          </a:p>
        </p:txBody>
      </p:sp>
      <p:sp>
        <p:nvSpPr>
          <p:cNvPr id="44" name="Text 42"/>
          <p:cNvSpPr/>
          <p:nvPr/>
        </p:nvSpPr>
        <p:spPr>
          <a:xfrm>
            <a:off x="5303520" y="3638609"/>
            <a:ext cx="3337560" cy="347472"/>
          </a:xfrm>
          <a:prstGeom prst="rect">
            <a:avLst/>
          </a:prstGeom>
          <a:noFill/>
          <a:ln/>
        </p:spPr>
        <p:txBody>
          <a:bodyPr wrap="square" rtlCol="0" anchor="ctr"/>
          <a:lstStyle/>
          <a:p>
            <a:pPr marL="0" indent="0">
              <a:buNone/>
            </a:pPr>
            <a:r>
              <a:rPr lang="en-US" sz="1100" b="1" dirty="0">
                <a:solidFill>
                  <a:srgbClr val="1E293B"/>
                </a:solidFill>
              </a:rPr>
              <a:t>Dashboard Explanation</a:t>
            </a:r>
            <a:endParaRPr lang="en-US" sz="1100" dirty="0"/>
          </a:p>
        </p:txBody>
      </p:sp>
      <p:sp>
        <p:nvSpPr>
          <p:cNvPr id="45" name="Text 43"/>
          <p:cNvSpPr/>
          <p:nvPr/>
        </p:nvSpPr>
        <p:spPr>
          <a:xfrm>
            <a:off x="5303520" y="3986081"/>
            <a:ext cx="3337560" cy="292608"/>
          </a:xfrm>
          <a:prstGeom prst="rect">
            <a:avLst/>
          </a:prstGeom>
          <a:noFill/>
          <a:ln/>
        </p:spPr>
        <p:txBody>
          <a:bodyPr wrap="square" rtlCol="0" anchor="ctr"/>
          <a:lstStyle/>
          <a:p>
            <a:pPr marL="0" indent="0">
              <a:buNone/>
            </a:pPr>
            <a:r>
              <a:rPr lang="en-US" sz="900" dirty="0">
                <a:solidFill>
                  <a:srgbClr val="64748B"/>
                </a:solidFill>
              </a:rPr>
              <a:t>KPIs, filters and interactivity walkthrough</a:t>
            </a:r>
            <a:endParaRPr lang="en-US" sz="900" dirty="0"/>
          </a:p>
        </p:txBody>
      </p:sp>
      <p:sp>
        <p:nvSpPr>
          <p:cNvPr id="46" name="Shape 44"/>
          <p:cNvSpPr/>
          <p:nvPr/>
        </p:nvSpPr>
        <p:spPr>
          <a:xfrm>
            <a:off x="2514600" y="4388417"/>
            <a:ext cx="4023360" cy="685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47" name="Shape 45"/>
          <p:cNvSpPr/>
          <p:nvPr/>
        </p:nvSpPr>
        <p:spPr>
          <a:xfrm>
            <a:off x="2514600" y="4406705"/>
            <a:ext cx="502920" cy="667512"/>
          </a:xfrm>
          <a:prstGeom prst="rect">
            <a:avLst/>
          </a:prstGeom>
          <a:solidFill>
            <a:srgbClr val="1B2A4A"/>
          </a:solidFill>
          <a:ln w="12700">
            <a:solidFill>
              <a:srgbClr val="1B2A4A"/>
            </a:solidFill>
            <a:prstDash val="solid"/>
          </a:ln>
        </p:spPr>
      </p:sp>
      <p:sp>
        <p:nvSpPr>
          <p:cNvPr id="48" name="Text 46"/>
          <p:cNvSpPr/>
          <p:nvPr/>
        </p:nvSpPr>
        <p:spPr>
          <a:xfrm>
            <a:off x="2514600" y="4388417"/>
            <a:ext cx="502920" cy="749808"/>
          </a:xfrm>
          <a:prstGeom prst="rect">
            <a:avLst/>
          </a:prstGeom>
          <a:noFill/>
          <a:ln/>
        </p:spPr>
        <p:txBody>
          <a:bodyPr wrap="square" lIns="0" tIns="0" rIns="0" bIns="0" rtlCol="0" anchor="ctr"/>
          <a:lstStyle/>
          <a:p>
            <a:pPr marL="0" indent="0" algn="ctr">
              <a:buNone/>
            </a:pPr>
            <a:r>
              <a:rPr lang="en-US" sz="1400" b="1" dirty="0">
                <a:solidFill>
                  <a:srgbClr val="14BDEB"/>
                </a:solidFill>
              </a:rPr>
              <a:t>09</a:t>
            </a:r>
            <a:endParaRPr lang="en-US" sz="1400" dirty="0"/>
          </a:p>
        </p:txBody>
      </p:sp>
      <p:sp>
        <p:nvSpPr>
          <p:cNvPr id="49" name="Text 47"/>
          <p:cNvSpPr/>
          <p:nvPr/>
        </p:nvSpPr>
        <p:spPr>
          <a:xfrm>
            <a:off x="3108960" y="4434137"/>
            <a:ext cx="3337560" cy="347472"/>
          </a:xfrm>
          <a:prstGeom prst="rect">
            <a:avLst/>
          </a:prstGeom>
          <a:noFill/>
          <a:ln/>
        </p:spPr>
        <p:txBody>
          <a:bodyPr wrap="square" rtlCol="0" anchor="ctr"/>
          <a:lstStyle/>
          <a:p>
            <a:pPr marL="0" indent="0">
              <a:buNone/>
            </a:pPr>
            <a:r>
              <a:rPr lang="en-US" sz="1100" b="1" dirty="0">
                <a:solidFill>
                  <a:srgbClr val="1E293B"/>
                </a:solidFill>
              </a:rPr>
              <a:t>Insights, Recommendations &amp; Close</a:t>
            </a:r>
            <a:endParaRPr lang="en-US" sz="1100" dirty="0"/>
          </a:p>
        </p:txBody>
      </p:sp>
      <p:sp>
        <p:nvSpPr>
          <p:cNvPr id="50" name="Text 48"/>
          <p:cNvSpPr/>
          <p:nvPr/>
        </p:nvSpPr>
        <p:spPr>
          <a:xfrm>
            <a:off x="3108960" y="4781609"/>
            <a:ext cx="3337560" cy="292608"/>
          </a:xfrm>
          <a:prstGeom prst="rect">
            <a:avLst/>
          </a:prstGeom>
          <a:noFill/>
          <a:ln/>
        </p:spPr>
        <p:txBody>
          <a:bodyPr wrap="square" rtlCol="0" anchor="ctr"/>
          <a:lstStyle/>
          <a:p>
            <a:pPr marL="0" indent="0">
              <a:buNone/>
            </a:pPr>
            <a:r>
              <a:rPr lang="en-US" sz="900" dirty="0">
                <a:solidFill>
                  <a:srgbClr val="64748B"/>
                </a:solidFill>
              </a:rPr>
              <a:t>Key findings, actions and future scope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Introduction</a:t>
            </a:r>
            <a:endParaRPr lang="en-US" sz="22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14800" cy="13716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371600"/>
          </a:xfrm>
          <a:prstGeom prst="rect">
            <a:avLst/>
          </a:prstGeom>
          <a:solidFill>
            <a:srgbClr val="0D7377"/>
          </a:solidFill>
          <a:ln w="12700">
            <a:solidFill>
              <a:srgbClr val="0D7377"/>
            </a:solidFill>
            <a:prstDash val="solid"/>
          </a:ln>
        </p:spPr>
      </p:sp>
      <p:sp>
        <p:nvSpPr>
          <p:cNvPr id="8" name="Text 6"/>
          <p:cNvSpPr/>
          <p:nvPr/>
        </p:nvSpPr>
        <p:spPr>
          <a:xfrm>
            <a:off x="502920" y="1252728"/>
            <a:ext cx="3840480" cy="292608"/>
          </a:xfrm>
          <a:prstGeom prst="rect">
            <a:avLst/>
          </a:prstGeom>
          <a:noFill/>
          <a:ln/>
        </p:spPr>
        <p:txBody>
          <a:bodyPr wrap="square" rtlCol="0" anchor="ctr"/>
          <a:lstStyle/>
          <a:p>
            <a:pPr marL="0" indent="0">
              <a:buNone/>
            </a:pPr>
            <a:r>
              <a:rPr lang="en-US" sz="1200" b="1" dirty="0">
                <a:solidFill>
                  <a:srgbClr val="1B2A4A"/>
                </a:solidFill>
              </a:rPr>
              <a:t>Background</a:t>
            </a:r>
            <a:endParaRPr lang="en-US" sz="1200" dirty="0"/>
          </a:p>
        </p:txBody>
      </p:sp>
      <p:sp>
        <p:nvSpPr>
          <p:cNvPr id="9" name="Text 7"/>
          <p:cNvSpPr/>
          <p:nvPr/>
        </p:nvSpPr>
        <p:spPr>
          <a:xfrm>
            <a:off x="548640" y="1536192"/>
            <a:ext cx="3794760" cy="960120"/>
          </a:xfrm>
          <a:prstGeom prst="rect">
            <a:avLst/>
          </a:prstGeom>
          <a:noFill/>
          <a:ln/>
        </p:spPr>
        <p:txBody>
          <a:bodyPr wrap="square" rtlCol="0" anchor="ctr"/>
          <a:lstStyle/>
          <a:p>
            <a:pPr marL="342900" indent="-342900">
              <a:buSzPct val="100000"/>
              <a:buChar char="•"/>
            </a:pPr>
            <a:r>
              <a:rPr lang="en-US" sz="1000" dirty="0">
                <a:solidFill>
                  <a:srgbClr val="1E293B"/>
                </a:solidFill>
              </a:rPr>
              <a:t>This project analyzes Q1 2021 call center operations of a telecom/streaming services company.</a:t>
            </a:r>
            <a:endParaRPr lang="en-US" sz="1000" dirty="0"/>
          </a:p>
          <a:p>
            <a:pPr marL="342900" indent="-342900">
              <a:buSzPct val="100000"/>
              <a:buChar char="•"/>
            </a:pPr>
            <a:r>
              <a:rPr lang="en-US" sz="1000" dirty="0">
                <a:solidFill>
                  <a:srgbClr val="1E293B"/>
                </a:solidFill>
              </a:rPr>
              <a:t>The dataset captures 5,000 customer interaction records across January–March 2021.</a:t>
            </a:r>
            <a:endParaRPr lang="en-US" sz="1000" dirty="0"/>
          </a:p>
          <a:p>
            <a:pPr marL="342900" indent="-342900">
              <a:buSzPct val="100000"/>
              <a:buChar char="•"/>
            </a:pPr>
            <a:r>
              <a:rPr lang="en-US" sz="1000" dirty="0">
                <a:solidFill>
                  <a:srgbClr val="1E293B"/>
                </a:solidFill>
              </a:rPr>
              <a:t>Data was sourced from the operational CRM and call logging system.</a:t>
            </a:r>
            <a:endParaRPr lang="en-US" sz="1000" dirty="0"/>
          </a:p>
        </p:txBody>
      </p:sp>
      <p:sp>
        <p:nvSpPr>
          <p:cNvPr id="10" name="Shape 8"/>
          <p:cNvSpPr/>
          <p:nvPr/>
        </p:nvSpPr>
        <p:spPr>
          <a:xfrm>
            <a:off x="4709160" y="1188720"/>
            <a:ext cx="4114800" cy="13716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4709160" y="1188720"/>
            <a:ext cx="64008" cy="1371600"/>
          </a:xfrm>
          <a:prstGeom prst="rect">
            <a:avLst/>
          </a:prstGeom>
          <a:solidFill>
            <a:srgbClr val="1B2A4A"/>
          </a:solidFill>
          <a:ln w="12700">
            <a:solidFill>
              <a:srgbClr val="1B2A4A"/>
            </a:solidFill>
            <a:prstDash val="solid"/>
          </a:ln>
        </p:spPr>
      </p:sp>
      <p:sp>
        <p:nvSpPr>
          <p:cNvPr id="12" name="Text 10"/>
          <p:cNvSpPr/>
          <p:nvPr/>
        </p:nvSpPr>
        <p:spPr>
          <a:xfrm>
            <a:off x="4892040" y="1252728"/>
            <a:ext cx="3840480" cy="292608"/>
          </a:xfrm>
          <a:prstGeom prst="rect">
            <a:avLst/>
          </a:prstGeom>
          <a:noFill/>
          <a:ln/>
        </p:spPr>
        <p:txBody>
          <a:bodyPr wrap="square" rtlCol="0" anchor="ctr"/>
          <a:lstStyle/>
          <a:p>
            <a:pPr marL="0" indent="0">
              <a:buNone/>
            </a:pPr>
            <a:r>
              <a:rPr lang="en-US" sz="1200" b="1" dirty="0">
                <a:solidFill>
                  <a:srgbClr val="1B2A4A"/>
                </a:solidFill>
              </a:rPr>
              <a:t>Context of the Dataset</a:t>
            </a:r>
            <a:endParaRPr lang="en-US" sz="1200" dirty="0"/>
          </a:p>
        </p:txBody>
      </p:sp>
      <p:sp>
        <p:nvSpPr>
          <p:cNvPr id="13" name="Text 11"/>
          <p:cNvSpPr/>
          <p:nvPr/>
        </p:nvSpPr>
        <p:spPr>
          <a:xfrm>
            <a:off x="4937760" y="1536192"/>
            <a:ext cx="3794760" cy="960120"/>
          </a:xfrm>
          <a:prstGeom prst="rect">
            <a:avLst/>
          </a:prstGeom>
          <a:noFill/>
          <a:ln/>
        </p:spPr>
        <p:txBody>
          <a:bodyPr wrap="square" rtlCol="0" anchor="ctr"/>
          <a:lstStyle/>
          <a:p>
            <a:pPr marL="342900" indent="-342900">
              <a:buSzPct val="100000"/>
              <a:buChar char="•"/>
            </a:pPr>
            <a:r>
              <a:rPr lang="en-US" sz="1000" dirty="0">
                <a:solidFill>
                  <a:srgbClr val="1E293B"/>
                </a:solidFill>
              </a:rPr>
              <a:t>Records include call metadata: agent, topic, answer time, talk duration, resolution status.</a:t>
            </a:r>
            <a:endParaRPr lang="en-US" sz="1000" dirty="0"/>
          </a:p>
          <a:p>
            <a:pPr marL="342900" indent="-342900">
              <a:buSzPct val="100000"/>
              <a:buChar char="•"/>
            </a:pPr>
            <a:r>
              <a:rPr lang="en-US" sz="1000" dirty="0">
                <a:solidFill>
                  <a:srgbClr val="1E293B"/>
                </a:solidFill>
              </a:rPr>
              <a:t>Customer satisfaction ratings (1–5 scale) provide a direct performance feedback loop.</a:t>
            </a:r>
            <a:endParaRPr lang="en-US" sz="1000" dirty="0"/>
          </a:p>
          <a:p>
            <a:pPr marL="342900" indent="-342900">
              <a:buSzPct val="100000"/>
              <a:buChar char="•"/>
            </a:pPr>
            <a:r>
              <a:rPr lang="en-US" sz="1000" dirty="0">
                <a:solidFill>
                  <a:srgbClr val="1E293B"/>
                </a:solidFill>
              </a:rPr>
              <a:t>Eight agents handle five distinct call categories across three months.</a:t>
            </a:r>
            <a:endParaRPr lang="en-US" sz="1000" dirty="0"/>
          </a:p>
        </p:txBody>
      </p:sp>
      <p:sp>
        <p:nvSpPr>
          <p:cNvPr id="14" name="Shape 12"/>
          <p:cNvSpPr/>
          <p:nvPr/>
        </p:nvSpPr>
        <p:spPr>
          <a:xfrm>
            <a:off x="320040" y="2743200"/>
            <a:ext cx="411480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2743200"/>
            <a:ext cx="64008" cy="1691640"/>
          </a:xfrm>
          <a:prstGeom prst="rect">
            <a:avLst/>
          </a:prstGeom>
          <a:solidFill>
            <a:srgbClr val="F5A623"/>
          </a:solidFill>
          <a:ln w="12700">
            <a:solidFill>
              <a:srgbClr val="F5A623"/>
            </a:solidFill>
            <a:prstDash val="solid"/>
          </a:ln>
        </p:spPr>
      </p:sp>
      <p:sp>
        <p:nvSpPr>
          <p:cNvPr id="16" name="Text 14"/>
          <p:cNvSpPr/>
          <p:nvPr/>
        </p:nvSpPr>
        <p:spPr>
          <a:xfrm>
            <a:off x="502920" y="2807208"/>
            <a:ext cx="3840480" cy="292608"/>
          </a:xfrm>
          <a:prstGeom prst="rect">
            <a:avLst/>
          </a:prstGeom>
          <a:noFill/>
          <a:ln/>
        </p:spPr>
        <p:txBody>
          <a:bodyPr wrap="square" rtlCol="0" anchor="ctr"/>
          <a:lstStyle/>
          <a:p>
            <a:pPr marL="0" indent="0">
              <a:buNone/>
            </a:pPr>
            <a:r>
              <a:rPr lang="en-US" sz="1200" b="1" dirty="0">
                <a:solidFill>
                  <a:srgbClr val="1B2A4A"/>
                </a:solidFill>
              </a:rPr>
              <a:t>Importance of the Problem</a:t>
            </a:r>
            <a:endParaRPr lang="en-US" sz="1200" dirty="0"/>
          </a:p>
        </p:txBody>
      </p:sp>
      <p:sp>
        <p:nvSpPr>
          <p:cNvPr id="17" name="Text 15"/>
          <p:cNvSpPr/>
          <p:nvPr/>
        </p:nvSpPr>
        <p:spPr>
          <a:xfrm>
            <a:off x="548640" y="3090672"/>
            <a:ext cx="3794760" cy="1280160"/>
          </a:xfrm>
          <a:prstGeom prst="rect">
            <a:avLst/>
          </a:prstGeom>
          <a:noFill/>
          <a:ln/>
        </p:spPr>
        <p:txBody>
          <a:bodyPr wrap="square" rtlCol="0" anchor="ctr"/>
          <a:lstStyle/>
          <a:p>
            <a:pPr marL="342900" indent="-342900">
              <a:buSzPct val="100000"/>
              <a:buChar char="•"/>
            </a:pPr>
            <a:r>
              <a:rPr lang="en-US" sz="1000" dirty="0">
                <a:solidFill>
                  <a:srgbClr val="1E293B"/>
                </a:solidFill>
              </a:rPr>
              <a:t>Call centers are primary customer touchpoints — performance directly impacts brand reputation.</a:t>
            </a:r>
            <a:endParaRPr lang="en-US" sz="1000" dirty="0"/>
          </a:p>
          <a:p>
            <a:pPr marL="342900" indent="-342900">
              <a:buSzPct val="100000"/>
              <a:buChar char="•"/>
            </a:pPr>
            <a:r>
              <a:rPr lang="en-US" sz="1000" dirty="0">
                <a:solidFill>
                  <a:srgbClr val="1E293B"/>
                </a:solidFill>
              </a:rPr>
              <a:t>Unresolved calls and low satisfaction scores result in customer churn and revenue loss.</a:t>
            </a:r>
            <a:endParaRPr lang="en-US" sz="1000" dirty="0"/>
          </a:p>
          <a:p>
            <a:pPr marL="342900" indent="-342900">
              <a:buSzPct val="100000"/>
              <a:buChar char="•"/>
            </a:pPr>
            <a:r>
              <a:rPr lang="en-US" sz="1000" dirty="0">
                <a:solidFill>
                  <a:srgbClr val="1E293B"/>
                </a:solidFill>
              </a:rPr>
              <a:t>Identifying performance gaps enables targeted coaching, process improvement and cost reduction.</a:t>
            </a:r>
            <a:endParaRPr lang="en-US" sz="1000" dirty="0"/>
          </a:p>
          <a:p>
            <a:pPr marL="342900" indent="-342900">
              <a:buSzPct val="100000"/>
              <a:buChar char="•"/>
            </a:pPr>
            <a:r>
              <a:rPr lang="en-US" sz="1000" dirty="0">
                <a:solidFill>
                  <a:srgbClr val="1E293B"/>
                </a:solidFill>
              </a:rPr>
              <a:t>Data-driven decisions outperform intuition-based management in call center environments.</a:t>
            </a:r>
            <a:endParaRPr lang="en-US" sz="1000" dirty="0"/>
          </a:p>
        </p:txBody>
      </p:sp>
      <p:sp>
        <p:nvSpPr>
          <p:cNvPr id="18" name="Shape 16"/>
          <p:cNvSpPr/>
          <p:nvPr/>
        </p:nvSpPr>
        <p:spPr>
          <a:xfrm>
            <a:off x="4709160" y="2743200"/>
            <a:ext cx="411480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4709160" y="2743200"/>
            <a:ext cx="64008" cy="1691640"/>
          </a:xfrm>
          <a:prstGeom prst="rect">
            <a:avLst/>
          </a:prstGeom>
          <a:solidFill>
            <a:srgbClr val="10B981"/>
          </a:solidFill>
          <a:ln w="12700">
            <a:solidFill>
              <a:srgbClr val="10B981"/>
            </a:solidFill>
            <a:prstDash val="solid"/>
          </a:ln>
        </p:spPr>
      </p:sp>
      <p:sp>
        <p:nvSpPr>
          <p:cNvPr id="20" name="Text 18"/>
          <p:cNvSpPr/>
          <p:nvPr/>
        </p:nvSpPr>
        <p:spPr>
          <a:xfrm>
            <a:off x="4892040" y="2807208"/>
            <a:ext cx="3840480" cy="292608"/>
          </a:xfrm>
          <a:prstGeom prst="rect">
            <a:avLst/>
          </a:prstGeom>
          <a:noFill/>
          <a:ln/>
        </p:spPr>
        <p:txBody>
          <a:bodyPr wrap="square" rtlCol="0" anchor="ctr"/>
          <a:lstStyle/>
          <a:p>
            <a:pPr marL="0" indent="0">
              <a:buNone/>
            </a:pPr>
            <a:r>
              <a:rPr lang="en-US" sz="1200" b="1" dirty="0">
                <a:solidFill>
                  <a:srgbClr val="1B2A4A"/>
                </a:solidFill>
              </a:rPr>
              <a:t>Scope of Analysis</a:t>
            </a:r>
            <a:endParaRPr lang="en-US" sz="1200" dirty="0"/>
          </a:p>
        </p:txBody>
      </p:sp>
      <p:sp>
        <p:nvSpPr>
          <p:cNvPr id="21" name="Text 19"/>
          <p:cNvSpPr/>
          <p:nvPr/>
        </p:nvSpPr>
        <p:spPr>
          <a:xfrm>
            <a:off x="4937760" y="3090672"/>
            <a:ext cx="3794760" cy="1280160"/>
          </a:xfrm>
          <a:prstGeom prst="rect">
            <a:avLst/>
          </a:prstGeom>
          <a:noFill/>
          <a:ln/>
        </p:spPr>
        <p:txBody>
          <a:bodyPr wrap="square" rtlCol="0" anchor="ctr"/>
          <a:lstStyle/>
          <a:p>
            <a:pPr marL="342900" indent="-342900">
              <a:buSzPct val="100000"/>
              <a:buChar char="•"/>
            </a:pPr>
            <a:r>
              <a:rPr lang="en-US" sz="1000" dirty="0">
                <a:solidFill>
                  <a:srgbClr val="1E293B"/>
                </a:solidFill>
              </a:rPr>
              <a:t>Agent-level productivity and efficiency benchmarking</a:t>
            </a:r>
            <a:endParaRPr lang="en-US" sz="1000" dirty="0"/>
          </a:p>
          <a:p>
            <a:pPr marL="342900" indent="-342900">
              <a:buSzPct val="100000"/>
              <a:buChar char="•"/>
            </a:pPr>
            <a:r>
              <a:rPr lang="en-US" sz="1000" dirty="0">
                <a:solidFill>
                  <a:srgbClr val="1E293B"/>
                </a:solidFill>
              </a:rPr>
              <a:t>Customer satisfaction trends and root-cause identification</a:t>
            </a:r>
            <a:endParaRPr lang="en-US" sz="1000" dirty="0"/>
          </a:p>
          <a:p>
            <a:pPr marL="342900" indent="-342900">
              <a:buSzPct val="100000"/>
              <a:buChar char="•"/>
            </a:pPr>
            <a:r>
              <a:rPr lang="en-US" sz="1000" dirty="0">
                <a:solidFill>
                  <a:srgbClr val="1E293B"/>
                </a:solidFill>
              </a:rPr>
              <a:t>Call topic analysis to prioritize self-service investments</a:t>
            </a:r>
            <a:endParaRPr lang="en-US" sz="1000" dirty="0"/>
          </a:p>
          <a:p>
            <a:pPr marL="342900" indent="-342900">
              <a:buSzPct val="100000"/>
              <a:buChar char="•"/>
            </a:pPr>
            <a:r>
              <a:rPr lang="en-US" sz="1000" dirty="0">
                <a:solidFill>
                  <a:srgbClr val="1E293B"/>
                </a:solidFill>
              </a:rPr>
              <a:t>Monthly volume trends to support workforce planning</a:t>
            </a:r>
            <a:endParaRPr lang="en-US" sz="1000" dirty="0"/>
          </a:p>
          <a:p>
            <a:pPr marL="342900" indent="-342900">
              <a:buSzPct val="100000"/>
              <a:buChar char="•"/>
            </a:pPr>
            <a:r>
              <a:rPr lang="en-US" sz="1000" dirty="0">
                <a:solidFill>
                  <a:srgbClr val="1E293B"/>
                </a:solidFill>
              </a:rPr>
              <a:t>Actionable KPI-driven recommendations for management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Domain Overview</a:t>
            </a:r>
            <a:endParaRPr lang="en-US" sz="22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26974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2697480" cy="64008"/>
          </a:xfrm>
          <a:prstGeom prst="rect">
            <a:avLst/>
          </a:prstGeom>
          <a:solidFill>
            <a:srgbClr val="0D7377"/>
          </a:solidFill>
          <a:ln w="12700">
            <a:solidFill>
              <a:srgbClr val="0D7377"/>
            </a:solidFill>
            <a:prstDash val="solid"/>
          </a:ln>
        </p:spPr>
      </p:sp>
      <p:sp>
        <p:nvSpPr>
          <p:cNvPr id="8" name="Text 6"/>
          <p:cNvSpPr/>
          <p:nvPr/>
        </p:nvSpPr>
        <p:spPr>
          <a:xfrm>
            <a:off x="457200" y="1298448"/>
            <a:ext cx="2468880" cy="365760"/>
          </a:xfrm>
          <a:prstGeom prst="rect">
            <a:avLst/>
          </a:prstGeom>
          <a:noFill/>
          <a:ln/>
        </p:spPr>
        <p:txBody>
          <a:bodyPr wrap="square" rtlCol="0" anchor="ctr"/>
          <a:lstStyle/>
          <a:p>
            <a:pPr marL="0" indent="0">
              <a:buNone/>
            </a:pPr>
            <a:r>
              <a:rPr lang="en-US" sz="1150" b="1" dirty="0">
                <a:solidFill>
                  <a:srgbClr val="1B2A4A"/>
                </a:solidFill>
              </a:rPr>
              <a:t>Call Center Operations</a:t>
            </a:r>
            <a:endParaRPr lang="en-US" sz="1150" dirty="0"/>
          </a:p>
        </p:txBody>
      </p:sp>
      <p:sp>
        <p:nvSpPr>
          <p:cNvPr id="9" name="Text 7"/>
          <p:cNvSpPr/>
          <p:nvPr/>
        </p:nvSpPr>
        <p:spPr>
          <a:xfrm>
            <a:off x="457200" y="1664208"/>
            <a:ext cx="2423160" cy="1828800"/>
          </a:xfrm>
          <a:prstGeom prst="rect">
            <a:avLst/>
          </a:prstGeom>
          <a:noFill/>
          <a:ln/>
        </p:spPr>
        <p:txBody>
          <a:bodyPr wrap="square" rtlCol="0" anchor="ctr"/>
          <a:lstStyle/>
          <a:p>
            <a:pPr marL="0" indent="0">
              <a:buNone/>
            </a:pPr>
            <a:r>
              <a:rPr lang="en-US" sz="950" dirty="0">
                <a:solidFill>
                  <a:srgbClr val="1E293B"/>
                </a:solidFill>
              </a:rPr>
              <a:t>A call center is a centralized office handling inbound/outbound customer calls. Key metrics include First Call Resolution (FCR), Average Handle Time (AHT), and CSAT scores — all of which directly impact customer loyalty.</a:t>
            </a:r>
            <a:endParaRPr lang="en-US" sz="950" dirty="0"/>
          </a:p>
        </p:txBody>
      </p:sp>
      <p:sp>
        <p:nvSpPr>
          <p:cNvPr id="10" name="Shape 8"/>
          <p:cNvSpPr/>
          <p:nvPr/>
        </p:nvSpPr>
        <p:spPr>
          <a:xfrm>
            <a:off x="3200400" y="1188720"/>
            <a:ext cx="26974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3200400" y="1188720"/>
            <a:ext cx="2697480" cy="64008"/>
          </a:xfrm>
          <a:prstGeom prst="rect">
            <a:avLst/>
          </a:prstGeom>
          <a:solidFill>
            <a:srgbClr val="1B2A4A"/>
          </a:solidFill>
          <a:ln w="12700">
            <a:solidFill>
              <a:srgbClr val="1B2A4A"/>
            </a:solidFill>
            <a:prstDash val="solid"/>
          </a:ln>
        </p:spPr>
      </p:sp>
      <p:sp>
        <p:nvSpPr>
          <p:cNvPr id="12" name="Text 10"/>
          <p:cNvSpPr/>
          <p:nvPr/>
        </p:nvSpPr>
        <p:spPr>
          <a:xfrm>
            <a:off x="3337560" y="1298448"/>
            <a:ext cx="2468880" cy="365760"/>
          </a:xfrm>
          <a:prstGeom prst="rect">
            <a:avLst/>
          </a:prstGeom>
          <a:noFill/>
          <a:ln/>
        </p:spPr>
        <p:txBody>
          <a:bodyPr wrap="square" rtlCol="0" anchor="ctr"/>
          <a:lstStyle/>
          <a:p>
            <a:pPr marL="0" indent="0">
              <a:buNone/>
            </a:pPr>
            <a:r>
              <a:rPr lang="en-US" sz="1150" b="1" dirty="0">
                <a:solidFill>
                  <a:srgbClr val="1B2A4A"/>
                </a:solidFill>
              </a:rPr>
              <a:t>Customer Experience (CX)</a:t>
            </a:r>
            <a:endParaRPr lang="en-US" sz="1150" dirty="0"/>
          </a:p>
        </p:txBody>
      </p:sp>
      <p:sp>
        <p:nvSpPr>
          <p:cNvPr id="13" name="Text 11"/>
          <p:cNvSpPr/>
          <p:nvPr/>
        </p:nvSpPr>
        <p:spPr>
          <a:xfrm>
            <a:off x="3337560" y="1664208"/>
            <a:ext cx="2423160" cy="1828800"/>
          </a:xfrm>
          <a:prstGeom prst="rect">
            <a:avLst/>
          </a:prstGeom>
          <a:noFill/>
          <a:ln/>
        </p:spPr>
        <p:txBody>
          <a:bodyPr wrap="square" rtlCol="0" anchor="ctr"/>
          <a:lstStyle/>
          <a:p>
            <a:pPr marL="0" indent="0">
              <a:buNone/>
            </a:pPr>
            <a:r>
              <a:rPr lang="en-US" sz="950" dirty="0">
                <a:solidFill>
                  <a:srgbClr val="1E293B"/>
                </a:solidFill>
              </a:rPr>
              <a:t>CX encompasses the full customer journey from first contact to issue resolution. Satisfaction ratings quantify perceived service quality. Research shows a 5% improvement in CX can increase revenue by 25%.</a:t>
            </a:r>
            <a:endParaRPr lang="en-US" sz="950" dirty="0"/>
          </a:p>
        </p:txBody>
      </p:sp>
      <p:sp>
        <p:nvSpPr>
          <p:cNvPr id="14" name="Shape 12"/>
          <p:cNvSpPr/>
          <p:nvPr/>
        </p:nvSpPr>
        <p:spPr>
          <a:xfrm>
            <a:off x="6080760" y="1188720"/>
            <a:ext cx="26974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6080760" y="1188720"/>
            <a:ext cx="2697480" cy="64008"/>
          </a:xfrm>
          <a:prstGeom prst="rect">
            <a:avLst/>
          </a:prstGeom>
          <a:solidFill>
            <a:srgbClr val="F5A623"/>
          </a:solidFill>
          <a:ln w="12700">
            <a:solidFill>
              <a:srgbClr val="F5A623"/>
            </a:solidFill>
            <a:prstDash val="solid"/>
          </a:ln>
        </p:spPr>
      </p:sp>
      <p:sp>
        <p:nvSpPr>
          <p:cNvPr id="16" name="Text 14"/>
          <p:cNvSpPr/>
          <p:nvPr/>
        </p:nvSpPr>
        <p:spPr>
          <a:xfrm>
            <a:off x="6217920" y="1298448"/>
            <a:ext cx="2468880" cy="365760"/>
          </a:xfrm>
          <a:prstGeom prst="rect">
            <a:avLst/>
          </a:prstGeom>
          <a:noFill/>
          <a:ln/>
        </p:spPr>
        <p:txBody>
          <a:bodyPr wrap="square" rtlCol="0" anchor="ctr"/>
          <a:lstStyle/>
          <a:p>
            <a:pPr marL="0" indent="0">
              <a:buNone/>
            </a:pPr>
            <a:r>
              <a:rPr lang="en-US" sz="1150" b="1" dirty="0">
                <a:solidFill>
                  <a:srgbClr val="1B2A4A"/>
                </a:solidFill>
              </a:rPr>
              <a:t>KPI Framework</a:t>
            </a:r>
            <a:endParaRPr lang="en-US" sz="1150" dirty="0"/>
          </a:p>
        </p:txBody>
      </p:sp>
      <p:sp>
        <p:nvSpPr>
          <p:cNvPr id="17" name="Text 15"/>
          <p:cNvSpPr/>
          <p:nvPr/>
        </p:nvSpPr>
        <p:spPr>
          <a:xfrm>
            <a:off x="6217920" y="1664208"/>
            <a:ext cx="2423160" cy="1828800"/>
          </a:xfrm>
          <a:prstGeom prst="rect">
            <a:avLst/>
          </a:prstGeom>
          <a:noFill/>
          <a:ln/>
        </p:spPr>
        <p:txBody>
          <a:bodyPr wrap="square" rtlCol="0" anchor="ctr"/>
          <a:lstStyle/>
          <a:p>
            <a:pPr marL="0" indent="0">
              <a:buNone/>
            </a:pPr>
            <a:r>
              <a:rPr lang="en-US" sz="950" dirty="0">
                <a:solidFill>
                  <a:srgbClr val="1E293B"/>
                </a:solidFill>
              </a:rPr>
              <a:t>Key Performance Indicators (KPIs) translate operational data into business outcomes. In call centers: Resolution Rate, Speed of Answer, Talk Duration, and CSAT are the four pillars of performance management.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377"/>
          </a:solidFill>
          <a:ln w="12700">
            <a:solidFill>
              <a:srgbClr val="0D7377"/>
            </a:solidFill>
            <a:prstDash val="solid"/>
          </a:ln>
        </p:spPr>
      </p:sp>
      <p:sp>
        <p:nvSpPr>
          <p:cNvPr id="3" name="Text 1"/>
          <p:cNvSpPr/>
          <p:nvPr/>
        </p:nvSpPr>
        <p:spPr>
          <a:xfrm>
            <a:off x="411480" y="0"/>
            <a:ext cx="8321040" cy="822960"/>
          </a:xfrm>
          <a:prstGeom prst="rect">
            <a:avLst/>
          </a:prstGeom>
          <a:noFill/>
          <a:ln/>
        </p:spPr>
        <p:txBody>
          <a:bodyPr wrap="square" lIns="0" tIns="0" rIns="0" bIns="0" rtlCol="0" anchor="ctr"/>
          <a:lstStyle/>
          <a:p>
            <a:pPr marL="0" indent="0">
              <a:buNone/>
            </a:pPr>
            <a:r>
              <a:rPr lang="en-US" sz="2400" b="1" dirty="0">
                <a:solidFill>
                  <a:srgbClr val="FFFFFF"/>
                </a:solidFill>
              </a:rPr>
              <a:t>Problem Statement</a:t>
            </a:r>
            <a:endParaRPr lang="en-US" sz="2400" dirty="0"/>
          </a:p>
        </p:txBody>
      </p:sp>
      <p:sp>
        <p:nvSpPr>
          <p:cNvPr id="4" name="Text 2"/>
          <p:cNvSpPr/>
          <p:nvPr/>
        </p:nvSpPr>
        <p:spPr>
          <a:xfrm>
            <a:off x="411480" y="960120"/>
            <a:ext cx="8321040" cy="411480"/>
          </a:xfrm>
          <a:prstGeom prst="rect">
            <a:avLst/>
          </a:prstGeom>
          <a:noFill/>
          <a:ln/>
        </p:spPr>
        <p:txBody>
          <a:bodyPr wrap="square" rtlCol="0" anchor="ctr"/>
          <a:lstStyle/>
          <a:p>
            <a:pPr marL="0" indent="0">
              <a:buNone/>
            </a:pPr>
            <a:r>
              <a:rPr lang="en-US" sz="1400" b="1" dirty="0">
                <a:solidFill>
                  <a:srgbClr val="14BDEB"/>
                </a:solidFill>
              </a:rPr>
              <a:t>Core Business Challenge</a:t>
            </a:r>
            <a:endParaRPr lang="en-US" sz="1400" dirty="0"/>
          </a:p>
        </p:txBody>
      </p:sp>
      <p:sp>
        <p:nvSpPr>
          <p:cNvPr id="5" name="Text 3"/>
          <p:cNvSpPr/>
          <p:nvPr/>
        </p:nvSpPr>
        <p:spPr>
          <a:xfrm>
            <a:off x="411480" y="1371600"/>
            <a:ext cx="8321040" cy="777240"/>
          </a:xfrm>
          <a:prstGeom prst="rect">
            <a:avLst/>
          </a:prstGeom>
          <a:noFill/>
          <a:ln/>
        </p:spPr>
        <p:txBody>
          <a:bodyPr wrap="square" rtlCol="0" anchor="ctr"/>
          <a:lstStyle/>
          <a:p>
            <a:pPr marL="0" indent="0">
              <a:buNone/>
            </a:pPr>
            <a:r>
              <a:rPr lang="en-US" sz="1150" dirty="0">
                <a:solidFill>
                  <a:srgbClr val="C8D8E8"/>
                </a:solidFill>
              </a:rPr>
              <a:t>The call center is processing 5,000 calls per quarter with only a 73% resolution rate — meaning nearly 1 in 4 calls goes unresolved. Despite having 8 agents and structured call categorization, performance inconsistencies and customer dissatisfaction remain unaddressed due to lack of data visibility.</a:t>
            </a:r>
            <a:endParaRPr lang="en-US" sz="1150" dirty="0"/>
          </a:p>
        </p:txBody>
      </p:sp>
      <p:sp>
        <p:nvSpPr>
          <p:cNvPr id="6" name="Shape 4"/>
          <p:cNvSpPr/>
          <p:nvPr/>
        </p:nvSpPr>
        <p:spPr>
          <a:xfrm>
            <a:off x="320040" y="2286000"/>
            <a:ext cx="2011680" cy="246888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7" name="Shape 5"/>
          <p:cNvSpPr/>
          <p:nvPr/>
        </p:nvSpPr>
        <p:spPr>
          <a:xfrm>
            <a:off x="320040" y="2286000"/>
            <a:ext cx="2011680" cy="64008"/>
          </a:xfrm>
          <a:prstGeom prst="rect">
            <a:avLst/>
          </a:prstGeom>
          <a:solidFill>
            <a:srgbClr val="EF4444"/>
          </a:solidFill>
          <a:ln w="12700">
            <a:solidFill>
              <a:srgbClr val="EF4444"/>
            </a:solidFill>
            <a:prstDash val="solid"/>
          </a:ln>
        </p:spPr>
      </p:sp>
      <p:sp>
        <p:nvSpPr>
          <p:cNvPr id="8" name="Text 6"/>
          <p:cNvSpPr/>
          <p:nvPr/>
        </p:nvSpPr>
        <p:spPr>
          <a:xfrm>
            <a:off x="411480" y="2377440"/>
            <a:ext cx="182880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429768" y="2880360"/>
            <a:ext cx="1828800" cy="384048"/>
          </a:xfrm>
          <a:prstGeom prst="rect">
            <a:avLst/>
          </a:prstGeom>
          <a:noFill/>
          <a:ln/>
        </p:spPr>
        <p:txBody>
          <a:bodyPr wrap="square" rtlCol="0" anchor="ctr"/>
          <a:lstStyle/>
          <a:p>
            <a:pPr marL="0" indent="0" algn="ctr">
              <a:buNone/>
            </a:pPr>
            <a:r>
              <a:rPr lang="en-US" sz="1000" b="1" dirty="0">
                <a:solidFill>
                  <a:srgbClr val="EF4444"/>
                </a:solidFill>
              </a:rPr>
              <a:t>27% Calls Unresolved</a:t>
            </a:r>
            <a:endParaRPr lang="en-US" sz="1000" dirty="0"/>
          </a:p>
        </p:txBody>
      </p:sp>
      <p:sp>
        <p:nvSpPr>
          <p:cNvPr id="10" name="Text 8"/>
          <p:cNvSpPr/>
          <p:nvPr/>
        </p:nvSpPr>
        <p:spPr>
          <a:xfrm>
            <a:off x="429768" y="3264408"/>
            <a:ext cx="1792224" cy="1371600"/>
          </a:xfrm>
          <a:prstGeom prst="rect">
            <a:avLst/>
          </a:prstGeom>
          <a:noFill/>
          <a:ln/>
        </p:spPr>
        <p:txBody>
          <a:bodyPr wrap="square" rtlCol="0" anchor="ctr"/>
          <a:lstStyle/>
          <a:p>
            <a:pPr marL="0" indent="0">
              <a:buNone/>
            </a:pPr>
            <a:r>
              <a:rPr lang="en-US" sz="900" dirty="0">
                <a:solidFill>
                  <a:schemeClr val="bg2">
                    <a:lumMod val="25000"/>
                  </a:schemeClr>
                </a:solidFill>
              </a:rPr>
              <a:t>1,354 out of 5,000 calls did not reach a satisfactory resolution, leading to repeat contacts and customer frustration.</a:t>
            </a:r>
          </a:p>
        </p:txBody>
      </p:sp>
      <p:sp>
        <p:nvSpPr>
          <p:cNvPr id="11" name="Shape 9"/>
          <p:cNvSpPr/>
          <p:nvPr/>
        </p:nvSpPr>
        <p:spPr>
          <a:xfrm>
            <a:off x="2468880" y="2286000"/>
            <a:ext cx="2011680" cy="246888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2" name="Shape 10"/>
          <p:cNvSpPr/>
          <p:nvPr/>
        </p:nvSpPr>
        <p:spPr>
          <a:xfrm>
            <a:off x="2468880" y="2286000"/>
            <a:ext cx="2011680" cy="64008"/>
          </a:xfrm>
          <a:prstGeom prst="rect">
            <a:avLst/>
          </a:prstGeom>
          <a:solidFill>
            <a:srgbClr val="F59E0B"/>
          </a:solidFill>
          <a:ln w="12700">
            <a:solidFill>
              <a:srgbClr val="F59E0B"/>
            </a:solidFill>
            <a:prstDash val="solid"/>
          </a:ln>
        </p:spPr>
      </p:sp>
      <p:sp>
        <p:nvSpPr>
          <p:cNvPr id="13" name="Text 11"/>
          <p:cNvSpPr/>
          <p:nvPr/>
        </p:nvSpPr>
        <p:spPr>
          <a:xfrm>
            <a:off x="2560320" y="2377440"/>
            <a:ext cx="182880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2578608" y="2880360"/>
            <a:ext cx="1828800" cy="384048"/>
          </a:xfrm>
          <a:prstGeom prst="rect">
            <a:avLst/>
          </a:prstGeom>
          <a:noFill/>
          <a:ln/>
        </p:spPr>
        <p:txBody>
          <a:bodyPr wrap="square" rtlCol="0" anchor="ctr"/>
          <a:lstStyle/>
          <a:p>
            <a:pPr marL="0" indent="0" algn="ctr">
              <a:buNone/>
            </a:pPr>
            <a:r>
              <a:rPr lang="en-US" sz="1000" b="1" dirty="0">
                <a:solidFill>
                  <a:srgbClr val="F59E0B"/>
                </a:solidFill>
              </a:rPr>
              <a:t>Below-Target CSAT</a:t>
            </a:r>
            <a:endParaRPr lang="en-US" sz="1000" dirty="0"/>
          </a:p>
        </p:txBody>
      </p:sp>
      <p:sp>
        <p:nvSpPr>
          <p:cNvPr id="15" name="Text 13"/>
          <p:cNvSpPr/>
          <p:nvPr/>
        </p:nvSpPr>
        <p:spPr>
          <a:xfrm>
            <a:off x="2578608" y="3264408"/>
            <a:ext cx="1792224" cy="1371600"/>
          </a:xfrm>
          <a:prstGeom prst="rect">
            <a:avLst/>
          </a:prstGeom>
          <a:noFill/>
          <a:ln/>
        </p:spPr>
        <p:txBody>
          <a:bodyPr wrap="square" rtlCol="0" anchor="ctr"/>
          <a:lstStyle/>
          <a:p>
            <a:pPr marL="0" indent="0">
              <a:buNone/>
            </a:pPr>
            <a:r>
              <a:rPr lang="en-US" sz="900" dirty="0">
                <a:solidFill>
                  <a:schemeClr val="bg2">
                    <a:lumMod val="25000"/>
                  </a:schemeClr>
                </a:solidFill>
              </a:rPr>
              <a:t>Average satisfaction rating of 3.3/5.0 falls below the industry benchmark of 3.5+, indicating widespread dissatisfaction.</a:t>
            </a:r>
          </a:p>
        </p:txBody>
      </p:sp>
      <p:sp>
        <p:nvSpPr>
          <p:cNvPr id="16" name="Shape 14"/>
          <p:cNvSpPr/>
          <p:nvPr/>
        </p:nvSpPr>
        <p:spPr>
          <a:xfrm>
            <a:off x="4617720" y="2286000"/>
            <a:ext cx="2011680" cy="246888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7" name="Shape 15"/>
          <p:cNvSpPr/>
          <p:nvPr/>
        </p:nvSpPr>
        <p:spPr>
          <a:xfrm>
            <a:off x="4617720" y="2286000"/>
            <a:ext cx="2011680" cy="64008"/>
          </a:xfrm>
          <a:prstGeom prst="rect">
            <a:avLst/>
          </a:prstGeom>
          <a:solidFill>
            <a:srgbClr val="F5A623"/>
          </a:solidFill>
          <a:ln w="12700">
            <a:solidFill>
              <a:srgbClr val="F5A623"/>
            </a:solidFill>
            <a:prstDash val="solid"/>
          </a:ln>
        </p:spPr>
      </p:sp>
      <p:sp>
        <p:nvSpPr>
          <p:cNvPr id="18" name="Text 16"/>
          <p:cNvSpPr/>
          <p:nvPr/>
        </p:nvSpPr>
        <p:spPr>
          <a:xfrm>
            <a:off x="4709160" y="2377440"/>
            <a:ext cx="182880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4727448" y="2880360"/>
            <a:ext cx="1828800" cy="384048"/>
          </a:xfrm>
          <a:prstGeom prst="rect">
            <a:avLst/>
          </a:prstGeom>
          <a:noFill/>
          <a:ln/>
        </p:spPr>
        <p:txBody>
          <a:bodyPr wrap="square" rtlCol="0" anchor="ctr"/>
          <a:lstStyle/>
          <a:p>
            <a:pPr marL="0" indent="0" algn="ctr">
              <a:buNone/>
            </a:pPr>
            <a:r>
              <a:rPr lang="en-US" sz="1000" b="1" dirty="0">
                <a:solidFill>
                  <a:srgbClr val="F5A623"/>
                </a:solidFill>
              </a:rPr>
              <a:t>Speed Inconsistency</a:t>
            </a:r>
            <a:endParaRPr lang="en-US" sz="1000" dirty="0"/>
          </a:p>
        </p:txBody>
      </p:sp>
      <p:sp>
        <p:nvSpPr>
          <p:cNvPr id="20" name="Text 18"/>
          <p:cNvSpPr/>
          <p:nvPr/>
        </p:nvSpPr>
        <p:spPr>
          <a:xfrm>
            <a:off x="4727448" y="3264408"/>
            <a:ext cx="1792224" cy="1371600"/>
          </a:xfrm>
          <a:prstGeom prst="rect">
            <a:avLst/>
          </a:prstGeom>
          <a:noFill/>
          <a:ln/>
        </p:spPr>
        <p:txBody>
          <a:bodyPr wrap="square" rtlCol="0" anchor="ctr"/>
          <a:lstStyle/>
          <a:p>
            <a:pPr marL="0" indent="0">
              <a:buNone/>
            </a:pPr>
            <a:r>
              <a:rPr lang="en-US" sz="900" dirty="0">
                <a:solidFill>
                  <a:schemeClr val="bg2">
                    <a:lumMod val="25000"/>
                  </a:schemeClr>
                </a:solidFill>
              </a:rPr>
              <a:t>Answer speeds range from 10s to 125s across agents, indicating no standardized SLA adherence framework.</a:t>
            </a:r>
          </a:p>
        </p:txBody>
      </p:sp>
      <p:sp>
        <p:nvSpPr>
          <p:cNvPr id="21" name="Shape 19"/>
          <p:cNvSpPr/>
          <p:nvPr/>
        </p:nvSpPr>
        <p:spPr>
          <a:xfrm>
            <a:off x="6766560" y="2286000"/>
            <a:ext cx="2011680" cy="246888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22" name="Shape 20"/>
          <p:cNvSpPr/>
          <p:nvPr/>
        </p:nvSpPr>
        <p:spPr>
          <a:xfrm>
            <a:off x="6766560" y="2286000"/>
            <a:ext cx="2011680" cy="64008"/>
          </a:xfrm>
          <a:prstGeom prst="rect">
            <a:avLst/>
          </a:prstGeom>
          <a:solidFill>
            <a:srgbClr val="14BDEB"/>
          </a:solidFill>
          <a:ln w="12700">
            <a:solidFill>
              <a:srgbClr val="14BDEB"/>
            </a:solidFill>
            <a:prstDash val="solid"/>
          </a:ln>
        </p:spPr>
      </p:sp>
      <p:sp>
        <p:nvSpPr>
          <p:cNvPr id="23" name="Text 21"/>
          <p:cNvSpPr/>
          <p:nvPr/>
        </p:nvSpPr>
        <p:spPr>
          <a:xfrm>
            <a:off x="6858000" y="2377440"/>
            <a:ext cx="182880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6876288" y="2880360"/>
            <a:ext cx="1828800" cy="384048"/>
          </a:xfrm>
          <a:prstGeom prst="rect">
            <a:avLst/>
          </a:prstGeom>
          <a:noFill/>
          <a:ln/>
        </p:spPr>
        <p:txBody>
          <a:bodyPr wrap="square" rtlCol="0" anchor="ctr"/>
          <a:lstStyle/>
          <a:p>
            <a:pPr marL="0" indent="0" algn="ctr">
              <a:buNone/>
            </a:pPr>
            <a:r>
              <a:rPr lang="en-US" sz="1000" b="1" dirty="0">
                <a:solidFill>
                  <a:srgbClr val="14BDEB"/>
                </a:solidFill>
              </a:rPr>
              <a:t>Agent Performance Gap</a:t>
            </a:r>
            <a:endParaRPr lang="en-US" sz="1000" dirty="0"/>
          </a:p>
        </p:txBody>
      </p:sp>
      <p:sp>
        <p:nvSpPr>
          <p:cNvPr id="25" name="Text 23"/>
          <p:cNvSpPr/>
          <p:nvPr/>
        </p:nvSpPr>
        <p:spPr>
          <a:xfrm>
            <a:off x="6876288" y="3264408"/>
            <a:ext cx="1792224" cy="1371600"/>
          </a:xfrm>
          <a:prstGeom prst="rect">
            <a:avLst/>
          </a:prstGeom>
          <a:noFill/>
          <a:ln/>
        </p:spPr>
        <p:txBody>
          <a:bodyPr wrap="square" rtlCol="0" anchor="ctr"/>
          <a:lstStyle/>
          <a:p>
            <a:pPr marL="0" indent="0">
              <a:buNone/>
            </a:pPr>
            <a:r>
              <a:rPr lang="en-US" sz="900" dirty="0">
                <a:solidFill>
                  <a:schemeClr val="bg2">
                    <a:lumMod val="25000"/>
                  </a:schemeClr>
                </a:solidFill>
              </a:rPr>
              <a:t>Joe's CSAT (3.27) lags behind top performers Dan &amp; Martha (3.38+) despite handling comparable call volumes.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Project Objectives</a:t>
            </a:r>
            <a:endParaRPr lang="en-US" sz="22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2697480" cy="36576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2697480" cy="502920"/>
          </a:xfrm>
          <a:prstGeom prst="rect">
            <a:avLst/>
          </a:prstGeom>
          <a:solidFill>
            <a:srgbClr val="0D7377"/>
          </a:solidFill>
          <a:ln w="12700">
            <a:solidFill>
              <a:srgbClr val="0D7377"/>
            </a:solidFill>
            <a:prstDash val="solid"/>
          </a:ln>
        </p:spPr>
      </p:sp>
      <p:sp>
        <p:nvSpPr>
          <p:cNvPr id="8" name="Text 6"/>
          <p:cNvSpPr/>
          <p:nvPr/>
        </p:nvSpPr>
        <p:spPr>
          <a:xfrm>
            <a:off x="429768" y="1188720"/>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9" name="Text 7"/>
          <p:cNvSpPr/>
          <p:nvPr/>
        </p:nvSpPr>
        <p:spPr>
          <a:xfrm>
            <a:off x="914400" y="1188720"/>
            <a:ext cx="2011680" cy="502920"/>
          </a:xfrm>
          <a:prstGeom prst="rect">
            <a:avLst/>
          </a:prstGeom>
          <a:noFill/>
          <a:ln/>
        </p:spPr>
        <p:txBody>
          <a:bodyPr wrap="square" lIns="0" tIns="0" rIns="0" bIns="0" rtlCol="0" anchor="ctr"/>
          <a:lstStyle/>
          <a:p>
            <a:pPr marL="0" indent="0">
              <a:buNone/>
            </a:pPr>
            <a:r>
              <a:rPr lang="en-US" sz="1200" b="1" dirty="0">
                <a:solidFill>
                  <a:srgbClr val="FFFFFF"/>
                </a:solidFill>
              </a:rPr>
              <a:t>Business Goal</a:t>
            </a:r>
            <a:endParaRPr lang="en-US" sz="1200" dirty="0"/>
          </a:p>
        </p:txBody>
      </p:sp>
      <p:sp>
        <p:nvSpPr>
          <p:cNvPr id="10" name="Text 8"/>
          <p:cNvSpPr/>
          <p:nvPr/>
        </p:nvSpPr>
        <p:spPr>
          <a:xfrm>
            <a:off x="502920" y="1783080"/>
            <a:ext cx="2377440" cy="2926080"/>
          </a:xfrm>
          <a:prstGeom prst="rect">
            <a:avLst/>
          </a:prstGeom>
          <a:noFill/>
          <a:ln/>
        </p:spPr>
        <p:txBody>
          <a:bodyPr wrap="square" rtlCol="0" anchor="ctr"/>
          <a:lstStyle/>
          <a:p>
            <a:pPr marL="342900" indent="-342900">
              <a:buSzPct val="100000"/>
              <a:buChar char="•"/>
            </a:pPr>
            <a:r>
              <a:rPr lang="en-US" sz="1000" dirty="0">
                <a:solidFill>
                  <a:srgbClr val="1E293B"/>
                </a:solidFill>
              </a:rPr>
              <a:t>Identify performance gaps at agent and team level</a:t>
            </a:r>
            <a:endParaRPr lang="en-US" sz="1000" dirty="0"/>
          </a:p>
          <a:p>
            <a:pPr marL="342900" indent="-342900">
              <a:buSzPct val="100000"/>
              <a:buChar char="•"/>
            </a:pPr>
            <a:r>
              <a:rPr lang="en-US" sz="1000" dirty="0">
                <a:solidFill>
                  <a:srgbClr val="1E293B"/>
                </a:solidFill>
              </a:rPr>
              <a:t>Improve call resolution rate from 73% to 85%+</a:t>
            </a:r>
            <a:endParaRPr lang="en-US" sz="1000" dirty="0"/>
          </a:p>
          <a:p>
            <a:pPr marL="342900" indent="-342900">
              <a:buSzPct val="100000"/>
              <a:buChar char="•"/>
            </a:pPr>
            <a:r>
              <a:rPr lang="en-US" sz="1000" dirty="0">
                <a:solidFill>
                  <a:srgbClr val="1E293B"/>
                </a:solidFill>
              </a:rPr>
              <a:t>Increase average CSAT from 3.3 to ≥ 3.5</a:t>
            </a:r>
            <a:endParaRPr lang="en-US" sz="1000" dirty="0"/>
          </a:p>
          <a:p>
            <a:pPr marL="342900" indent="-342900">
              <a:buSzPct val="100000"/>
              <a:buChar char="•"/>
            </a:pPr>
            <a:r>
              <a:rPr lang="en-US" sz="1000" dirty="0">
                <a:solidFill>
                  <a:srgbClr val="1E293B"/>
                </a:solidFill>
              </a:rPr>
              <a:t>Reduce average speed of answer below 60 seconds</a:t>
            </a:r>
            <a:endParaRPr lang="en-US" sz="1000" dirty="0"/>
          </a:p>
          <a:p>
            <a:pPr marL="342900" indent="-342900">
              <a:buSzPct val="100000"/>
              <a:buChar char="•"/>
            </a:pPr>
            <a:r>
              <a:rPr lang="en-US" sz="1000" dirty="0">
                <a:solidFill>
                  <a:srgbClr val="1E293B"/>
                </a:solidFill>
              </a:rPr>
              <a:t>Optimize topic-level response workflows</a:t>
            </a:r>
            <a:endParaRPr lang="en-US" sz="1000" dirty="0"/>
          </a:p>
        </p:txBody>
      </p:sp>
      <p:sp>
        <p:nvSpPr>
          <p:cNvPr id="11" name="Shape 9"/>
          <p:cNvSpPr/>
          <p:nvPr/>
        </p:nvSpPr>
        <p:spPr>
          <a:xfrm>
            <a:off x="3200400" y="1188720"/>
            <a:ext cx="2697480" cy="36576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3200400" y="1188720"/>
            <a:ext cx="2697480" cy="502920"/>
          </a:xfrm>
          <a:prstGeom prst="rect">
            <a:avLst/>
          </a:prstGeom>
          <a:solidFill>
            <a:srgbClr val="1B2A4A"/>
          </a:solidFill>
          <a:ln w="12700">
            <a:solidFill>
              <a:srgbClr val="1B2A4A"/>
            </a:solidFill>
            <a:prstDash val="solid"/>
          </a:ln>
        </p:spPr>
      </p:sp>
      <p:sp>
        <p:nvSpPr>
          <p:cNvPr id="13" name="Text 11"/>
          <p:cNvSpPr/>
          <p:nvPr/>
        </p:nvSpPr>
        <p:spPr>
          <a:xfrm>
            <a:off x="3310128" y="1188720"/>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4" name="Text 12"/>
          <p:cNvSpPr/>
          <p:nvPr/>
        </p:nvSpPr>
        <p:spPr>
          <a:xfrm>
            <a:off x="3794760" y="1188720"/>
            <a:ext cx="2011680" cy="502920"/>
          </a:xfrm>
          <a:prstGeom prst="rect">
            <a:avLst/>
          </a:prstGeom>
          <a:noFill/>
          <a:ln/>
        </p:spPr>
        <p:txBody>
          <a:bodyPr wrap="square" lIns="0" tIns="0" rIns="0" bIns="0" rtlCol="0" anchor="ctr"/>
          <a:lstStyle/>
          <a:p>
            <a:pPr marL="0" indent="0">
              <a:buNone/>
            </a:pPr>
            <a:r>
              <a:rPr lang="en-US" sz="1200" b="1" dirty="0">
                <a:solidFill>
                  <a:srgbClr val="FFFFFF"/>
                </a:solidFill>
              </a:rPr>
              <a:t>End Goal (Expected Outcome)</a:t>
            </a:r>
            <a:endParaRPr lang="en-US" sz="1200" dirty="0"/>
          </a:p>
        </p:txBody>
      </p:sp>
      <p:sp>
        <p:nvSpPr>
          <p:cNvPr id="15" name="Text 13"/>
          <p:cNvSpPr/>
          <p:nvPr/>
        </p:nvSpPr>
        <p:spPr>
          <a:xfrm>
            <a:off x="3383280" y="1783080"/>
            <a:ext cx="2377440" cy="2926080"/>
          </a:xfrm>
          <a:prstGeom prst="rect">
            <a:avLst/>
          </a:prstGeom>
          <a:noFill/>
          <a:ln/>
        </p:spPr>
        <p:txBody>
          <a:bodyPr wrap="square" rtlCol="0" anchor="ctr"/>
          <a:lstStyle/>
          <a:p>
            <a:pPr marL="342900" indent="-342900">
              <a:buSzPct val="100000"/>
              <a:buChar char="•"/>
            </a:pPr>
            <a:r>
              <a:rPr lang="en-US" sz="1000" dirty="0">
                <a:solidFill>
                  <a:srgbClr val="1E293B"/>
                </a:solidFill>
              </a:rPr>
              <a:t>A decision-ready dashboard enabling management oversight</a:t>
            </a:r>
            <a:endParaRPr lang="en-US" sz="1000" dirty="0"/>
          </a:p>
          <a:p>
            <a:pPr marL="342900" indent="-342900">
              <a:buSzPct val="100000"/>
              <a:buChar char="•"/>
            </a:pPr>
            <a:r>
              <a:rPr lang="en-US" sz="1000" dirty="0">
                <a:solidFill>
                  <a:srgbClr val="1E293B"/>
                </a:solidFill>
              </a:rPr>
              <a:t>Targeted agent coaching plans backed by performance data</a:t>
            </a:r>
            <a:endParaRPr lang="en-US" sz="1000" dirty="0"/>
          </a:p>
          <a:p>
            <a:pPr marL="342900" indent="-342900">
              <a:buSzPct val="100000"/>
              <a:buChar char="•"/>
            </a:pPr>
            <a:r>
              <a:rPr lang="en-US" sz="1000" dirty="0">
                <a:solidFill>
                  <a:srgbClr val="1E293B"/>
                </a:solidFill>
              </a:rPr>
              <a:t>Identify top 2 call topics for self-service automation</a:t>
            </a:r>
            <a:endParaRPr lang="en-US" sz="1000" dirty="0"/>
          </a:p>
          <a:p>
            <a:pPr marL="342900" indent="-342900">
              <a:buSzPct val="100000"/>
              <a:buChar char="•"/>
            </a:pPr>
            <a:r>
              <a:rPr lang="en-US" sz="1000" dirty="0">
                <a:solidFill>
                  <a:srgbClr val="1E293B"/>
                </a:solidFill>
              </a:rPr>
              <a:t>Establish monthly performance benchmarks for each agent</a:t>
            </a:r>
            <a:endParaRPr lang="en-US" sz="1000" dirty="0"/>
          </a:p>
          <a:p>
            <a:pPr marL="342900" indent="-342900">
              <a:buSzPct val="100000"/>
              <a:buChar char="•"/>
            </a:pPr>
            <a:r>
              <a:rPr lang="en-US" sz="1000" dirty="0">
                <a:solidFill>
                  <a:srgbClr val="1E293B"/>
                </a:solidFill>
              </a:rPr>
              <a:t>Evidence-based staffing and scheduling recommendations</a:t>
            </a:r>
            <a:endParaRPr lang="en-US" sz="1000" dirty="0"/>
          </a:p>
        </p:txBody>
      </p:sp>
      <p:sp>
        <p:nvSpPr>
          <p:cNvPr id="16" name="Shape 14"/>
          <p:cNvSpPr/>
          <p:nvPr/>
        </p:nvSpPr>
        <p:spPr>
          <a:xfrm>
            <a:off x="6080760" y="1188720"/>
            <a:ext cx="2697480" cy="36576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6080760" y="1188720"/>
            <a:ext cx="2697480" cy="502920"/>
          </a:xfrm>
          <a:prstGeom prst="rect">
            <a:avLst/>
          </a:prstGeom>
          <a:solidFill>
            <a:srgbClr val="F5A623"/>
          </a:solidFill>
          <a:ln w="12700">
            <a:solidFill>
              <a:srgbClr val="F5A623"/>
            </a:solidFill>
            <a:prstDash val="solid"/>
          </a:ln>
        </p:spPr>
      </p:sp>
      <p:sp>
        <p:nvSpPr>
          <p:cNvPr id="18" name="Text 16"/>
          <p:cNvSpPr/>
          <p:nvPr/>
        </p:nvSpPr>
        <p:spPr>
          <a:xfrm>
            <a:off x="6190488" y="1188720"/>
            <a:ext cx="457200" cy="50292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9" name="Text 17"/>
          <p:cNvSpPr/>
          <p:nvPr/>
        </p:nvSpPr>
        <p:spPr>
          <a:xfrm>
            <a:off x="6675120" y="1188720"/>
            <a:ext cx="2011680" cy="502920"/>
          </a:xfrm>
          <a:prstGeom prst="rect">
            <a:avLst/>
          </a:prstGeom>
          <a:noFill/>
          <a:ln/>
        </p:spPr>
        <p:txBody>
          <a:bodyPr wrap="square" lIns="0" tIns="0" rIns="0" bIns="0" rtlCol="0" anchor="ctr"/>
          <a:lstStyle/>
          <a:p>
            <a:pPr marL="0" indent="0">
              <a:buNone/>
            </a:pPr>
            <a:r>
              <a:rPr lang="en-US" sz="1200" b="1" dirty="0">
                <a:solidFill>
                  <a:srgbClr val="FFFFFF"/>
                </a:solidFill>
              </a:rPr>
              <a:t>Analytical Goal</a:t>
            </a:r>
            <a:endParaRPr lang="en-US" sz="1200" dirty="0"/>
          </a:p>
        </p:txBody>
      </p:sp>
      <p:sp>
        <p:nvSpPr>
          <p:cNvPr id="20" name="Text 18"/>
          <p:cNvSpPr/>
          <p:nvPr/>
        </p:nvSpPr>
        <p:spPr>
          <a:xfrm>
            <a:off x="6263640" y="1783080"/>
            <a:ext cx="2377440" cy="2926080"/>
          </a:xfrm>
          <a:prstGeom prst="rect">
            <a:avLst/>
          </a:prstGeom>
          <a:noFill/>
          <a:ln/>
        </p:spPr>
        <p:txBody>
          <a:bodyPr wrap="square" rtlCol="0" anchor="ctr"/>
          <a:lstStyle/>
          <a:p>
            <a:pPr marL="342900" indent="-342900">
              <a:buSzPct val="100000"/>
              <a:buChar char="•"/>
            </a:pPr>
            <a:r>
              <a:rPr lang="en-US" sz="1000" dirty="0">
                <a:solidFill>
                  <a:srgbClr val="1E293B"/>
                </a:solidFill>
              </a:rPr>
              <a:t>Perform full EDA on 5,000 call records across 10 fields</a:t>
            </a:r>
            <a:endParaRPr lang="en-US" sz="1000" dirty="0"/>
          </a:p>
          <a:p>
            <a:pPr marL="342900" indent="-342900">
              <a:buSzPct val="100000"/>
              <a:buChar char="•"/>
            </a:pPr>
            <a:r>
              <a:rPr lang="en-US" sz="1000" dirty="0">
                <a:solidFill>
                  <a:srgbClr val="1E293B"/>
                </a:solidFill>
              </a:rPr>
              <a:t>Build agent-level comparison on 4 core KPI dimensions</a:t>
            </a:r>
            <a:endParaRPr lang="en-US" sz="1000" dirty="0"/>
          </a:p>
          <a:p>
            <a:pPr marL="342900" indent="-342900">
              <a:buSzPct val="100000"/>
              <a:buChar char="•"/>
            </a:pPr>
            <a:r>
              <a:rPr lang="en-US" sz="1000" dirty="0">
                <a:solidFill>
                  <a:srgbClr val="1E293B"/>
                </a:solidFill>
              </a:rPr>
              <a:t>Uncover statistical patterns in satisfaction ratings</a:t>
            </a:r>
            <a:endParaRPr lang="en-US" sz="1000" dirty="0"/>
          </a:p>
          <a:p>
            <a:pPr marL="342900" indent="-342900">
              <a:buSzPct val="100000"/>
              <a:buChar char="•"/>
            </a:pPr>
            <a:r>
              <a:rPr lang="en-US" sz="1000" dirty="0">
                <a:solidFill>
                  <a:srgbClr val="1E293B"/>
                </a:solidFill>
              </a:rPr>
              <a:t>Correlate answer speed with resolution outcomes</a:t>
            </a:r>
            <a:endParaRPr lang="en-US" sz="1000" dirty="0"/>
          </a:p>
          <a:p>
            <a:pPr marL="342900" indent="-342900">
              <a:buSzPct val="100000"/>
              <a:buChar char="•"/>
            </a:pPr>
            <a:r>
              <a:rPr lang="en-US" sz="1000" dirty="0">
                <a:solidFill>
                  <a:srgbClr val="1E293B"/>
                </a:solidFill>
              </a:rPr>
              <a:t>Deliver actionable, visually compelling insights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Dataset Overview</a:t>
            </a:r>
            <a:endParaRPr lang="en-US" sz="22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011115"/>
            <a:ext cx="1554480" cy="1005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011115"/>
            <a:ext cx="1554480" cy="54864"/>
          </a:xfrm>
          <a:prstGeom prst="rect">
            <a:avLst/>
          </a:prstGeom>
          <a:solidFill>
            <a:srgbClr val="0D7377"/>
          </a:solidFill>
          <a:ln w="12700">
            <a:solidFill>
              <a:srgbClr val="0D7377"/>
            </a:solidFill>
            <a:prstDash val="solid"/>
          </a:ln>
        </p:spPr>
      </p:sp>
      <p:sp>
        <p:nvSpPr>
          <p:cNvPr id="8" name="Text 6"/>
          <p:cNvSpPr/>
          <p:nvPr/>
        </p:nvSpPr>
        <p:spPr>
          <a:xfrm>
            <a:off x="411480" y="1148275"/>
            <a:ext cx="1371600" cy="553212"/>
          </a:xfrm>
          <a:prstGeom prst="rect">
            <a:avLst/>
          </a:prstGeom>
          <a:noFill/>
          <a:ln/>
        </p:spPr>
        <p:txBody>
          <a:bodyPr wrap="square" rtlCol="0" anchor="ctr"/>
          <a:lstStyle/>
          <a:p>
            <a:pPr marL="0" indent="0" algn="ctr">
              <a:buNone/>
            </a:pPr>
            <a:r>
              <a:rPr lang="en-US" sz="2800" b="1" dirty="0">
                <a:solidFill>
                  <a:srgbClr val="0D7377"/>
                </a:solidFill>
              </a:rPr>
              <a:t>5,000</a:t>
            </a:r>
            <a:endParaRPr lang="en-US" sz="2800" dirty="0"/>
          </a:p>
        </p:txBody>
      </p:sp>
      <p:sp>
        <p:nvSpPr>
          <p:cNvPr id="9" name="Text 7"/>
          <p:cNvSpPr/>
          <p:nvPr/>
        </p:nvSpPr>
        <p:spPr>
          <a:xfrm>
            <a:off x="411480" y="1634736"/>
            <a:ext cx="1371600" cy="352044"/>
          </a:xfrm>
          <a:prstGeom prst="rect">
            <a:avLst/>
          </a:prstGeom>
          <a:noFill/>
          <a:ln/>
        </p:spPr>
        <p:txBody>
          <a:bodyPr wrap="square" rtlCol="0" anchor="ctr"/>
          <a:lstStyle/>
          <a:p>
            <a:pPr marL="0" indent="0" algn="ctr">
              <a:buNone/>
            </a:pPr>
            <a:r>
              <a:rPr lang="en-US" sz="950" b="1" dirty="0">
                <a:solidFill>
                  <a:srgbClr val="64748B"/>
                </a:solidFill>
              </a:rPr>
              <a:t>Total Records</a:t>
            </a:r>
            <a:endParaRPr lang="en-US" sz="950" dirty="0"/>
          </a:p>
        </p:txBody>
      </p:sp>
      <p:sp>
        <p:nvSpPr>
          <p:cNvPr id="10" name="Shape 8"/>
          <p:cNvSpPr/>
          <p:nvPr/>
        </p:nvSpPr>
        <p:spPr>
          <a:xfrm>
            <a:off x="2039112" y="1011115"/>
            <a:ext cx="1554480" cy="1005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2039112" y="1011115"/>
            <a:ext cx="1554480" cy="54864"/>
          </a:xfrm>
          <a:prstGeom prst="rect">
            <a:avLst/>
          </a:prstGeom>
          <a:solidFill>
            <a:srgbClr val="1B2A4A"/>
          </a:solidFill>
          <a:ln w="12700">
            <a:solidFill>
              <a:srgbClr val="1B2A4A"/>
            </a:solidFill>
            <a:prstDash val="solid"/>
          </a:ln>
        </p:spPr>
      </p:sp>
      <p:sp>
        <p:nvSpPr>
          <p:cNvPr id="12" name="Text 10"/>
          <p:cNvSpPr/>
          <p:nvPr/>
        </p:nvSpPr>
        <p:spPr>
          <a:xfrm>
            <a:off x="2130552" y="1148275"/>
            <a:ext cx="1371600" cy="553212"/>
          </a:xfrm>
          <a:prstGeom prst="rect">
            <a:avLst/>
          </a:prstGeom>
          <a:noFill/>
          <a:ln/>
        </p:spPr>
        <p:txBody>
          <a:bodyPr wrap="square" rtlCol="0" anchor="ctr"/>
          <a:lstStyle/>
          <a:p>
            <a:pPr marL="0" indent="0" algn="ctr">
              <a:buNone/>
            </a:pPr>
            <a:r>
              <a:rPr lang="en-US" sz="2800" b="1" dirty="0">
                <a:solidFill>
                  <a:srgbClr val="1B2A4A"/>
                </a:solidFill>
              </a:rPr>
              <a:t>10</a:t>
            </a:r>
            <a:endParaRPr lang="en-US" sz="2800" dirty="0"/>
          </a:p>
        </p:txBody>
      </p:sp>
      <p:sp>
        <p:nvSpPr>
          <p:cNvPr id="13" name="Text 11"/>
          <p:cNvSpPr/>
          <p:nvPr/>
        </p:nvSpPr>
        <p:spPr>
          <a:xfrm>
            <a:off x="2130552" y="1634736"/>
            <a:ext cx="1371600" cy="352044"/>
          </a:xfrm>
          <a:prstGeom prst="rect">
            <a:avLst/>
          </a:prstGeom>
          <a:noFill/>
          <a:ln/>
        </p:spPr>
        <p:txBody>
          <a:bodyPr wrap="square" rtlCol="0" anchor="ctr"/>
          <a:lstStyle/>
          <a:p>
            <a:pPr marL="0" indent="0" algn="ctr">
              <a:buNone/>
            </a:pPr>
            <a:r>
              <a:rPr lang="en-US" sz="950" b="1" dirty="0">
                <a:solidFill>
                  <a:srgbClr val="64748B"/>
                </a:solidFill>
              </a:rPr>
              <a:t>Key Columns</a:t>
            </a:r>
            <a:endParaRPr lang="en-US" sz="950" dirty="0"/>
          </a:p>
        </p:txBody>
      </p:sp>
      <p:sp>
        <p:nvSpPr>
          <p:cNvPr id="14" name="Shape 12"/>
          <p:cNvSpPr/>
          <p:nvPr/>
        </p:nvSpPr>
        <p:spPr>
          <a:xfrm>
            <a:off x="3758184" y="1011115"/>
            <a:ext cx="1554480" cy="1005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758184" y="1011115"/>
            <a:ext cx="1554480" cy="54864"/>
          </a:xfrm>
          <a:prstGeom prst="rect">
            <a:avLst/>
          </a:prstGeom>
          <a:solidFill>
            <a:srgbClr val="F5A623"/>
          </a:solidFill>
          <a:ln w="12700">
            <a:solidFill>
              <a:srgbClr val="F5A623"/>
            </a:solidFill>
            <a:prstDash val="solid"/>
          </a:ln>
        </p:spPr>
      </p:sp>
      <p:sp>
        <p:nvSpPr>
          <p:cNvPr id="16" name="Text 14"/>
          <p:cNvSpPr/>
          <p:nvPr/>
        </p:nvSpPr>
        <p:spPr>
          <a:xfrm>
            <a:off x="3849624" y="1148275"/>
            <a:ext cx="1371600" cy="553212"/>
          </a:xfrm>
          <a:prstGeom prst="rect">
            <a:avLst/>
          </a:prstGeom>
          <a:noFill/>
          <a:ln/>
        </p:spPr>
        <p:txBody>
          <a:bodyPr wrap="square" rtlCol="0" anchor="ctr"/>
          <a:lstStyle/>
          <a:p>
            <a:pPr marL="0" indent="0" algn="ctr">
              <a:buNone/>
            </a:pPr>
            <a:r>
              <a:rPr lang="en-US" sz="2800" b="1" dirty="0">
                <a:solidFill>
                  <a:srgbClr val="F5A623"/>
                </a:solidFill>
              </a:rPr>
              <a:t>8</a:t>
            </a:r>
            <a:endParaRPr lang="en-US" sz="2800" dirty="0"/>
          </a:p>
        </p:txBody>
      </p:sp>
      <p:sp>
        <p:nvSpPr>
          <p:cNvPr id="17" name="Text 15"/>
          <p:cNvSpPr/>
          <p:nvPr/>
        </p:nvSpPr>
        <p:spPr>
          <a:xfrm>
            <a:off x="3849624" y="1634736"/>
            <a:ext cx="1371600" cy="352044"/>
          </a:xfrm>
          <a:prstGeom prst="rect">
            <a:avLst/>
          </a:prstGeom>
          <a:noFill/>
          <a:ln/>
        </p:spPr>
        <p:txBody>
          <a:bodyPr wrap="square" rtlCol="0" anchor="ctr"/>
          <a:lstStyle/>
          <a:p>
            <a:pPr marL="0" indent="0" algn="ctr">
              <a:buNone/>
            </a:pPr>
            <a:r>
              <a:rPr lang="en-US" sz="950" b="1" dirty="0">
                <a:solidFill>
                  <a:srgbClr val="64748B"/>
                </a:solidFill>
              </a:rPr>
              <a:t>Agents</a:t>
            </a:r>
            <a:endParaRPr lang="en-US" sz="950" dirty="0"/>
          </a:p>
        </p:txBody>
      </p:sp>
      <p:sp>
        <p:nvSpPr>
          <p:cNvPr id="18" name="Shape 16"/>
          <p:cNvSpPr/>
          <p:nvPr/>
        </p:nvSpPr>
        <p:spPr>
          <a:xfrm>
            <a:off x="5477256" y="1011115"/>
            <a:ext cx="1554480" cy="1005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5477256" y="1011115"/>
            <a:ext cx="1554480" cy="54864"/>
          </a:xfrm>
          <a:prstGeom prst="rect">
            <a:avLst/>
          </a:prstGeom>
          <a:solidFill>
            <a:srgbClr val="10B981"/>
          </a:solidFill>
          <a:ln w="12700">
            <a:solidFill>
              <a:srgbClr val="10B981"/>
            </a:solidFill>
            <a:prstDash val="solid"/>
          </a:ln>
        </p:spPr>
      </p:sp>
      <p:sp>
        <p:nvSpPr>
          <p:cNvPr id="20" name="Text 18"/>
          <p:cNvSpPr/>
          <p:nvPr/>
        </p:nvSpPr>
        <p:spPr>
          <a:xfrm>
            <a:off x="5568696" y="1148275"/>
            <a:ext cx="1371600" cy="553212"/>
          </a:xfrm>
          <a:prstGeom prst="rect">
            <a:avLst/>
          </a:prstGeom>
          <a:noFill/>
          <a:ln/>
        </p:spPr>
        <p:txBody>
          <a:bodyPr wrap="square" rtlCol="0" anchor="ctr"/>
          <a:lstStyle/>
          <a:p>
            <a:pPr marL="0" indent="0" algn="ctr">
              <a:buNone/>
            </a:pPr>
            <a:r>
              <a:rPr lang="en-US" sz="2800" b="1" dirty="0">
                <a:solidFill>
                  <a:srgbClr val="10B981"/>
                </a:solidFill>
              </a:rPr>
              <a:t>5</a:t>
            </a:r>
            <a:endParaRPr lang="en-US" sz="2800" dirty="0"/>
          </a:p>
        </p:txBody>
      </p:sp>
      <p:sp>
        <p:nvSpPr>
          <p:cNvPr id="21" name="Text 19"/>
          <p:cNvSpPr/>
          <p:nvPr/>
        </p:nvSpPr>
        <p:spPr>
          <a:xfrm>
            <a:off x="5568696" y="1634736"/>
            <a:ext cx="1371600" cy="352044"/>
          </a:xfrm>
          <a:prstGeom prst="rect">
            <a:avLst/>
          </a:prstGeom>
          <a:noFill/>
          <a:ln/>
        </p:spPr>
        <p:txBody>
          <a:bodyPr wrap="square" rtlCol="0" anchor="ctr"/>
          <a:lstStyle/>
          <a:p>
            <a:pPr marL="0" indent="0" algn="ctr">
              <a:buNone/>
            </a:pPr>
            <a:r>
              <a:rPr lang="en-US" sz="950" b="1" dirty="0">
                <a:solidFill>
                  <a:srgbClr val="64748B"/>
                </a:solidFill>
              </a:rPr>
              <a:t>Call Topics</a:t>
            </a:r>
            <a:endParaRPr lang="en-US" sz="950" dirty="0"/>
          </a:p>
        </p:txBody>
      </p:sp>
      <p:sp>
        <p:nvSpPr>
          <p:cNvPr id="22" name="Shape 20"/>
          <p:cNvSpPr/>
          <p:nvPr/>
        </p:nvSpPr>
        <p:spPr>
          <a:xfrm>
            <a:off x="7196328" y="1011115"/>
            <a:ext cx="1554480" cy="1005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7196328" y="1011115"/>
            <a:ext cx="1554480" cy="54864"/>
          </a:xfrm>
          <a:prstGeom prst="rect">
            <a:avLst/>
          </a:prstGeom>
          <a:solidFill>
            <a:srgbClr val="14BDEB"/>
          </a:solidFill>
          <a:ln w="12700">
            <a:solidFill>
              <a:srgbClr val="14BDEB"/>
            </a:solidFill>
            <a:prstDash val="solid"/>
          </a:ln>
        </p:spPr>
      </p:sp>
      <p:sp>
        <p:nvSpPr>
          <p:cNvPr id="24" name="Text 22"/>
          <p:cNvSpPr/>
          <p:nvPr/>
        </p:nvSpPr>
        <p:spPr>
          <a:xfrm>
            <a:off x="7287768" y="1148275"/>
            <a:ext cx="1371600" cy="553212"/>
          </a:xfrm>
          <a:prstGeom prst="rect">
            <a:avLst/>
          </a:prstGeom>
          <a:noFill/>
          <a:ln/>
        </p:spPr>
        <p:txBody>
          <a:bodyPr wrap="square" rtlCol="0" anchor="ctr"/>
          <a:lstStyle/>
          <a:p>
            <a:pPr marL="0" indent="0" algn="ctr">
              <a:buNone/>
            </a:pPr>
            <a:r>
              <a:rPr lang="en-US" sz="2800" b="1" dirty="0">
                <a:solidFill>
                  <a:srgbClr val="14BDEB"/>
                </a:solidFill>
              </a:rPr>
              <a:t>3</a:t>
            </a:r>
            <a:endParaRPr lang="en-US" sz="2800" dirty="0"/>
          </a:p>
        </p:txBody>
      </p:sp>
      <p:sp>
        <p:nvSpPr>
          <p:cNvPr id="25" name="Text 23"/>
          <p:cNvSpPr/>
          <p:nvPr/>
        </p:nvSpPr>
        <p:spPr>
          <a:xfrm>
            <a:off x="7287768" y="1634736"/>
            <a:ext cx="1371600" cy="352044"/>
          </a:xfrm>
          <a:prstGeom prst="rect">
            <a:avLst/>
          </a:prstGeom>
          <a:noFill/>
          <a:ln/>
        </p:spPr>
        <p:txBody>
          <a:bodyPr wrap="square" rtlCol="0" anchor="ctr"/>
          <a:lstStyle/>
          <a:p>
            <a:pPr marL="0" indent="0" algn="ctr">
              <a:buNone/>
            </a:pPr>
            <a:r>
              <a:rPr lang="en-US" sz="950" b="1" dirty="0">
                <a:solidFill>
                  <a:srgbClr val="64748B"/>
                </a:solidFill>
              </a:rPr>
              <a:t>Months (Q1 2021)</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2651759"/>
        </p:xfrm>
        <a:graphic>
          <a:graphicData uri="http://schemas.openxmlformats.org/drawingml/2006/table">
            <a:tbl>
              <a:tblPr/>
              <a:tblGrid>
                <a:gridCol w="14630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5623560">
                  <a:extLst>
                    <a:ext uri="{9D8B030D-6E8A-4147-A177-3AD203B41FA5}">
                      <a16:colId xmlns:a16="http://schemas.microsoft.com/office/drawing/2014/main" val="20002"/>
                    </a:ext>
                  </a:extLst>
                </a:gridCol>
              </a:tblGrid>
              <a:tr h="241069">
                <a:tc>
                  <a:txBody>
                    <a:bodyPr/>
                    <a:lstStyle/>
                    <a:p>
                      <a:pPr marL="0" indent="0">
                        <a:buNone/>
                      </a:pPr>
                      <a:r>
                        <a:rPr lang="en-US" sz="900" b="1" dirty="0">
                          <a:solidFill>
                            <a:srgbClr val="FFFFFF"/>
                          </a:solidFill>
                        </a:rPr>
                        <a:t>Column Name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rPr>
                        <a:t>Data Type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rPr>
                        <a:t>Description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41069">
                <a:tc>
                  <a:txBody>
                    <a:bodyPr/>
                    <a:lstStyle/>
                    <a:p>
                      <a:pPr marL="0" indent="0">
                        <a:buNone/>
                      </a:pPr>
                      <a:r>
                        <a:rPr lang="en-US" sz="900" dirty="0">
                          <a:solidFill>
                            <a:srgbClr val="1E293B"/>
                          </a:solidFill>
                        </a:rPr>
                        <a:t>Call Id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String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Unique identifier for each call record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241069">
                <a:tc>
                  <a:txBody>
                    <a:bodyPr/>
                    <a:lstStyle/>
                    <a:p>
                      <a:pPr marL="0" indent="0">
                        <a:buNone/>
                      </a:pPr>
                      <a:r>
                        <a:rPr lang="en-US" sz="900" dirty="0">
                          <a:solidFill>
                            <a:srgbClr val="1E293B"/>
                          </a:solidFill>
                        </a:rPr>
                        <a:t>Agent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String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Name of the agent who handled the call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1069">
                <a:tc>
                  <a:txBody>
                    <a:bodyPr/>
                    <a:lstStyle/>
                    <a:p>
                      <a:pPr marL="0" indent="0">
                        <a:buNone/>
                      </a:pPr>
                      <a:r>
                        <a:rPr lang="en-US" sz="900" dirty="0">
                          <a:solidFill>
                            <a:srgbClr val="1E293B"/>
                          </a:solidFill>
                        </a:rPr>
                        <a:t>Date / Time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Date / Time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Date and time the call was received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241069">
                <a:tc>
                  <a:txBody>
                    <a:bodyPr/>
                    <a:lstStyle/>
                    <a:p>
                      <a:pPr marL="0" indent="0">
                        <a:buNone/>
                      </a:pPr>
                      <a:r>
                        <a:rPr lang="en-US" sz="900" dirty="0">
                          <a:solidFill>
                            <a:srgbClr val="1E293B"/>
                          </a:solidFill>
                        </a:rPr>
                        <a:t>Topic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Category</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Subject area: Admin, Contract, Payment, Streaming, Technical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1069">
                <a:tc>
                  <a:txBody>
                    <a:bodyPr/>
                    <a:lstStyle/>
                    <a:p>
                      <a:pPr marL="0" indent="0">
                        <a:buNone/>
                      </a:pPr>
                      <a:r>
                        <a:rPr lang="en-US" sz="900" dirty="0">
                          <a:solidFill>
                            <a:srgbClr val="1E293B"/>
                          </a:solidFill>
                        </a:rPr>
                        <a:t>Answered (Y/N)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Boolean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Whether the call was picked up by an agent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241069">
                <a:tc>
                  <a:txBody>
                    <a:bodyPr/>
                    <a:lstStyle/>
                    <a:p>
                      <a:pPr marL="0" indent="0">
                        <a:buNone/>
                      </a:pPr>
                      <a:r>
                        <a:rPr lang="en-US" sz="900" dirty="0">
                          <a:solidFill>
                            <a:srgbClr val="1E293B"/>
                          </a:solidFill>
                        </a:rPr>
                        <a:t>Resolved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Boolean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Whether the customer issue was resolved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1069">
                <a:tc>
                  <a:txBody>
                    <a:bodyPr/>
                    <a:lstStyle/>
                    <a:p>
                      <a:pPr marL="0" indent="0">
                        <a:buNone/>
                      </a:pPr>
                      <a:r>
                        <a:rPr lang="en-US" sz="900" dirty="0">
                          <a:solidFill>
                            <a:srgbClr val="1E293B"/>
                          </a:solidFill>
                        </a:rPr>
                        <a:t>Speed of Answer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Integer (sec)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Time in seconds before the agent answered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241069">
                <a:tc>
                  <a:txBody>
                    <a:bodyPr/>
                    <a:lstStyle/>
                    <a:p>
                      <a:pPr marL="0" indent="0">
                        <a:buNone/>
                      </a:pPr>
                      <a:r>
                        <a:rPr lang="en-US" sz="900" dirty="0">
                          <a:solidFill>
                            <a:srgbClr val="1E293B"/>
                          </a:solidFill>
                        </a:rPr>
                        <a:t>Avg Talk Duration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Float (time)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Average duration of the call conversation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1069">
                <a:tc>
                  <a:txBody>
                    <a:bodyPr/>
                    <a:lstStyle/>
                    <a:p>
                      <a:pPr marL="0" indent="0">
                        <a:buNone/>
                      </a:pPr>
                      <a:r>
                        <a:rPr lang="en-US" sz="900" dirty="0">
                          <a:solidFill>
                            <a:srgbClr val="1E293B"/>
                          </a:solidFill>
                        </a:rPr>
                        <a:t>Satisfaction Rating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Integer 1-5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rPr>
                        <a:t>Customer satisfaction score post-call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241069">
                <a:tc>
                  <a:txBody>
                    <a:bodyPr/>
                    <a:lstStyle/>
                    <a:p>
                      <a:pPr marL="0" indent="0">
                        <a:buNone/>
                      </a:pPr>
                      <a:r>
                        <a:rPr lang="en-US" sz="900" dirty="0">
                          <a:solidFill>
                            <a:srgbClr val="1E293B"/>
                          </a:solidFill>
                        </a:rPr>
                        <a:t>Month</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String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rPr>
                        <a:t>Month of the call: January, February, March</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 Summary</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Statistical Overview of Key Numeric Fields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2030239243"/>
              </p:ext>
            </p:extLst>
          </p:nvPr>
        </p:nvGraphicFramePr>
        <p:xfrm>
          <a:off x="320040" y="1188720"/>
          <a:ext cx="8412480" cy="2423162"/>
        </p:xfrm>
        <a:graphic>
          <a:graphicData uri="http://schemas.openxmlformats.org/drawingml/2006/table">
            <a:tbl>
              <a:tblPr/>
              <a:tblGrid>
                <a:gridCol w="2533880">
                  <a:extLst>
                    <a:ext uri="{9D8B030D-6E8A-4147-A177-3AD203B41FA5}">
                      <a16:colId xmlns:a16="http://schemas.microsoft.com/office/drawing/2014/main" val="20000"/>
                    </a:ext>
                  </a:extLst>
                </a:gridCol>
                <a:gridCol w="1216262">
                  <a:extLst>
                    <a:ext uri="{9D8B030D-6E8A-4147-A177-3AD203B41FA5}">
                      <a16:colId xmlns:a16="http://schemas.microsoft.com/office/drawing/2014/main" val="20001"/>
                    </a:ext>
                  </a:extLst>
                </a:gridCol>
                <a:gridCol w="1216262">
                  <a:extLst>
                    <a:ext uri="{9D8B030D-6E8A-4147-A177-3AD203B41FA5}">
                      <a16:colId xmlns:a16="http://schemas.microsoft.com/office/drawing/2014/main" val="20002"/>
                    </a:ext>
                  </a:extLst>
                </a:gridCol>
                <a:gridCol w="1723038">
                  <a:extLst>
                    <a:ext uri="{9D8B030D-6E8A-4147-A177-3AD203B41FA5}">
                      <a16:colId xmlns:a16="http://schemas.microsoft.com/office/drawing/2014/main" val="20003"/>
                    </a:ext>
                  </a:extLst>
                </a:gridCol>
                <a:gridCol w="1723038">
                  <a:extLst>
                    <a:ext uri="{9D8B030D-6E8A-4147-A177-3AD203B41FA5}">
                      <a16:colId xmlns:a16="http://schemas.microsoft.com/office/drawing/2014/main" val="20004"/>
                    </a:ext>
                  </a:extLst>
                </a:gridCol>
              </a:tblGrid>
              <a:tr h="346166">
                <a:tc>
                  <a:txBody>
                    <a:bodyPr/>
                    <a:lstStyle/>
                    <a:p>
                      <a:pPr marL="0" indent="0">
                        <a:buNone/>
                      </a:pPr>
                      <a:r>
                        <a:rPr lang="en-US" sz="1200" b="1" dirty="0">
                          <a:solidFill>
                            <a:srgbClr val="FFFFFF"/>
                          </a:solidFill>
                        </a:rPr>
                        <a:t>Metric</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rPr>
                        <a:t>Mean</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rPr>
                        <a:t>Median</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rPr>
                        <a:t>Min</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rPr>
                        <a:t>Max</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6166">
                <a:tc>
                  <a:txBody>
                    <a:bodyPr/>
                    <a:lstStyle/>
                    <a:p>
                      <a:pPr marL="0" indent="0">
                        <a:buNone/>
                      </a:pPr>
                      <a:r>
                        <a:rPr lang="en-US" sz="1000" dirty="0">
                          <a:solidFill>
                            <a:srgbClr val="1E293B"/>
                          </a:solidFill>
                        </a:rPr>
                        <a:t>Speed of Answer (sec)</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67.6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68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10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125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1"/>
                  </a:ext>
                </a:extLst>
              </a:tr>
              <a:tr h="346166">
                <a:tc>
                  <a:txBody>
                    <a:bodyPr/>
                    <a:lstStyle/>
                    <a:p>
                      <a:pPr marL="0" indent="0">
                        <a:buNone/>
                      </a:pPr>
                      <a:r>
                        <a:rPr lang="en-US" sz="1000" dirty="0">
                          <a:solidFill>
                            <a:srgbClr val="1E293B"/>
                          </a:solidFill>
                        </a:rPr>
                        <a:t>Avg Talk Duration (min)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3.13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3.0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0.5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7.0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6166">
                <a:tc>
                  <a:txBody>
                    <a:bodyPr/>
                    <a:lstStyle/>
                    <a:p>
                      <a:pPr marL="0" indent="0">
                        <a:buNone/>
                      </a:pPr>
                      <a:r>
                        <a:rPr lang="en-US" sz="1000" dirty="0">
                          <a:solidFill>
                            <a:srgbClr val="1E293B"/>
                          </a:solidFill>
                        </a:rPr>
                        <a:t>Satisfaction Rating (1–5)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3.33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3"/>
                  </a:ext>
                </a:extLst>
              </a:tr>
              <a:tr h="346166">
                <a:tc>
                  <a:txBody>
                    <a:bodyPr/>
                    <a:lstStyle/>
                    <a:p>
                      <a:pPr marL="0" indent="0">
                        <a:buNone/>
                      </a:pPr>
                      <a:r>
                        <a:rPr lang="en-US" sz="1000" dirty="0">
                          <a:solidFill>
                            <a:srgbClr val="1E293B"/>
                          </a:solidFill>
                        </a:rPr>
                        <a:t>Calls Answered per Agent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507</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508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477 (Stewart)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536 (Jim)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6166">
                <a:tc>
                  <a:txBody>
                    <a:bodyPr/>
                    <a:lstStyle/>
                    <a:p>
                      <a:pPr marL="0" indent="0">
                        <a:buNone/>
                      </a:pPr>
                      <a:r>
                        <a:rPr lang="en-US" sz="1000" dirty="0">
                          <a:solidFill>
                            <a:srgbClr val="1E293B"/>
                          </a:solidFill>
                        </a:rPr>
                        <a:t>Calls Resolved per Agent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456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458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424 (Stewart)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000" dirty="0">
                          <a:solidFill>
                            <a:srgbClr val="1E293B"/>
                          </a:solidFill>
                        </a:rPr>
                        <a:t>485 (Jim)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5"/>
                  </a:ext>
                </a:extLst>
              </a:tr>
              <a:tr h="346166">
                <a:tc>
                  <a:txBody>
                    <a:bodyPr/>
                    <a:lstStyle/>
                    <a:p>
                      <a:pPr marL="0" indent="0">
                        <a:buNone/>
                      </a:pPr>
                      <a:r>
                        <a:rPr lang="en-US" sz="1000" dirty="0">
                          <a:solidFill>
                            <a:srgbClr val="1E293B"/>
                          </a:solidFill>
                        </a:rPr>
                        <a:t>Resolution Rate (%)</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89.9%</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90.1%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88.9% (Stewart)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90.6% (Greg)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320040" y="3749040"/>
            <a:ext cx="196596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320040" y="3749040"/>
            <a:ext cx="1965960" cy="54864"/>
          </a:xfrm>
          <a:prstGeom prst="rect">
            <a:avLst/>
          </a:prstGeom>
          <a:solidFill>
            <a:srgbClr val="0D7377"/>
          </a:solidFill>
          <a:ln w="12700">
            <a:solidFill>
              <a:srgbClr val="0D7377"/>
            </a:solidFill>
            <a:prstDash val="solid"/>
          </a:ln>
        </p:spPr>
      </p:sp>
      <p:sp>
        <p:nvSpPr>
          <p:cNvPr id="6" name="Text 6"/>
          <p:cNvSpPr/>
          <p:nvPr/>
        </p:nvSpPr>
        <p:spPr>
          <a:xfrm>
            <a:off x="411480" y="3886200"/>
            <a:ext cx="1783080" cy="578358"/>
          </a:xfrm>
          <a:prstGeom prst="rect">
            <a:avLst/>
          </a:prstGeom>
          <a:noFill/>
          <a:ln/>
        </p:spPr>
        <p:txBody>
          <a:bodyPr wrap="square" rtlCol="0" anchor="ctr"/>
          <a:lstStyle/>
          <a:p>
            <a:pPr marL="0" indent="0" algn="ctr">
              <a:buNone/>
            </a:pPr>
            <a:r>
              <a:rPr lang="en-US" sz="2800" b="1" dirty="0">
                <a:solidFill>
                  <a:srgbClr val="0D7377"/>
                </a:solidFill>
              </a:rPr>
              <a:t>43.3%</a:t>
            </a:r>
            <a:endParaRPr lang="en-US" sz="2800" dirty="0"/>
          </a:p>
        </p:txBody>
      </p:sp>
      <p:sp>
        <p:nvSpPr>
          <p:cNvPr id="10" name="Text 7"/>
          <p:cNvSpPr/>
          <p:nvPr/>
        </p:nvSpPr>
        <p:spPr>
          <a:xfrm>
            <a:off x="411480" y="4401007"/>
            <a:ext cx="1783080" cy="368046"/>
          </a:xfrm>
          <a:prstGeom prst="rect">
            <a:avLst/>
          </a:prstGeom>
          <a:noFill/>
          <a:ln/>
        </p:spPr>
        <p:txBody>
          <a:bodyPr wrap="square" rtlCol="0" anchor="ctr"/>
          <a:lstStyle/>
          <a:p>
            <a:pPr marL="0" indent="0" algn="ctr">
              <a:buNone/>
            </a:pPr>
            <a:r>
              <a:rPr lang="en-US" sz="950" b="1" dirty="0">
                <a:solidFill>
                  <a:srgbClr val="64748B"/>
                </a:solidFill>
              </a:rPr>
              <a:t>Satisfaction: 3 (Neutral)</a:t>
            </a:r>
            <a:endParaRPr lang="en-US" sz="950" dirty="0"/>
          </a:p>
          <a:p>
            <a:pPr marL="0" indent="0" algn="ctr">
              <a:buNone/>
            </a:pPr>
            <a:r>
              <a:rPr lang="en-US" sz="950" b="1" dirty="0">
                <a:solidFill>
                  <a:srgbClr val="64748B"/>
                </a:solidFill>
              </a:rPr>
              <a:t>2,164 of 5,000 calls rated 3/5</a:t>
            </a:r>
            <a:endParaRPr lang="en-US" sz="950" dirty="0"/>
          </a:p>
        </p:txBody>
      </p:sp>
      <p:sp>
        <p:nvSpPr>
          <p:cNvPr id="11" name="Shape 8"/>
          <p:cNvSpPr/>
          <p:nvPr/>
        </p:nvSpPr>
        <p:spPr>
          <a:xfrm>
            <a:off x="2468880" y="3749040"/>
            <a:ext cx="196596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2468880" y="3749040"/>
            <a:ext cx="1965960" cy="54864"/>
          </a:xfrm>
          <a:prstGeom prst="rect">
            <a:avLst/>
          </a:prstGeom>
          <a:solidFill>
            <a:srgbClr val="10B981"/>
          </a:solidFill>
          <a:ln w="12700">
            <a:solidFill>
              <a:srgbClr val="10B981"/>
            </a:solidFill>
            <a:prstDash val="solid"/>
          </a:ln>
        </p:spPr>
      </p:sp>
      <p:sp>
        <p:nvSpPr>
          <p:cNvPr id="13" name="Text 10"/>
          <p:cNvSpPr/>
          <p:nvPr/>
        </p:nvSpPr>
        <p:spPr>
          <a:xfrm>
            <a:off x="2560320" y="3886200"/>
            <a:ext cx="1783080" cy="578358"/>
          </a:xfrm>
          <a:prstGeom prst="rect">
            <a:avLst/>
          </a:prstGeom>
          <a:noFill/>
          <a:ln/>
        </p:spPr>
        <p:txBody>
          <a:bodyPr wrap="square" rtlCol="0" anchor="ctr"/>
          <a:lstStyle/>
          <a:p>
            <a:pPr marL="0" indent="0" algn="ctr">
              <a:buNone/>
            </a:pPr>
            <a:r>
              <a:rPr lang="en-US" sz="2800" b="1" dirty="0">
                <a:solidFill>
                  <a:srgbClr val="10B981"/>
                </a:solidFill>
              </a:rPr>
              <a:t>23.6%</a:t>
            </a:r>
            <a:endParaRPr lang="en-US" sz="2800" dirty="0"/>
          </a:p>
        </p:txBody>
      </p:sp>
      <p:sp>
        <p:nvSpPr>
          <p:cNvPr id="14" name="Text 11"/>
          <p:cNvSpPr/>
          <p:nvPr/>
        </p:nvSpPr>
        <p:spPr>
          <a:xfrm>
            <a:off x="2560320" y="4401007"/>
            <a:ext cx="1783080" cy="368046"/>
          </a:xfrm>
          <a:prstGeom prst="rect">
            <a:avLst/>
          </a:prstGeom>
          <a:noFill/>
          <a:ln/>
        </p:spPr>
        <p:txBody>
          <a:bodyPr wrap="square" rtlCol="0" anchor="ctr"/>
          <a:lstStyle/>
          <a:p>
            <a:pPr marL="0" indent="0" algn="ctr">
              <a:buNone/>
            </a:pPr>
            <a:r>
              <a:rPr lang="en-US" sz="950" b="1" dirty="0">
                <a:solidFill>
                  <a:srgbClr val="64748B"/>
                </a:solidFill>
              </a:rPr>
              <a:t>Satisfaction: 4 (Good)</a:t>
            </a:r>
            <a:endParaRPr lang="en-US" sz="950" dirty="0"/>
          </a:p>
          <a:p>
            <a:pPr marL="0" indent="0" algn="ctr">
              <a:buNone/>
            </a:pPr>
            <a:r>
              <a:rPr lang="en-US" sz="950" b="1" dirty="0">
                <a:solidFill>
                  <a:srgbClr val="64748B"/>
                </a:solidFill>
              </a:rPr>
              <a:t>1,180 calls rated 4/5</a:t>
            </a:r>
            <a:endParaRPr lang="en-US" sz="950" dirty="0"/>
          </a:p>
        </p:txBody>
      </p:sp>
      <p:sp>
        <p:nvSpPr>
          <p:cNvPr id="15" name="Shape 12"/>
          <p:cNvSpPr/>
          <p:nvPr/>
        </p:nvSpPr>
        <p:spPr>
          <a:xfrm>
            <a:off x="4617720" y="3749040"/>
            <a:ext cx="196596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6" name="Shape 13"/>
          <p:cNvSpPr/>
          <p:nvPr/>
        </p:nvSpPr>
        <p:spPr>
          <a:xfrm>
            <a:off x="4617720" y="3749040"/>
            <a:ext cx="1965960" cy="54864"/>
          </a:xfrm>
          <a:prstGeom prst="rect">
            <a:avLst/>
          </a:prstGeom>
          <a:solidFill>
            <a:srgbClr val="1B2A4A"/>
          </a:solidFill>
          <a:ln w="12700">
            <a:solidFill>
              <a:srgbClr val="1B2A4A"/>
            </a:solidFill>
            <a:prstDash val="solid"/>
          </a:ln>
        </p:spPr>
      </p:sp>
      <p:sp>
        <p:nvSpPr>
          <p:cNvPr id="17" name="Text 14"/>
          <p:cNvSpPr/>
          <p:nvPr/>
        </p:nvSpPr>
        <p:spPr>
          <a:xfrm>
            <a:off x="4709160" y="3886200"/>
            <a:ext cx="1783080" cy="578358"/>
          </a:xfrm>
          <a:prstGeom prst="rect">
            <a:avLst/>
          </a:prstGeom>
          <a:noFill/>
          <a:ln/>
        </p:spPr>
        <p:txBody>
          <a:bodyPr wrap="square" rtlCol="0" anchor="ctr"/>
          <a:lstStyle/>
          <a:p>
            <a:pPr marL="0" indent="0" algn="ctr">
              <a:buNone/>
            </a:pPr>
            <a:r>
              <a:rPr lang="en-US" sz="2800" b="1" dirty="0">
                <a:solidFill>
                  <a:srgbClr val="1B2A4A"/>
                </a:solidFill>
              </a:rPr>
              <a:t>16.9%</a:t>
            </a:r>
            <a:endParaRPr lang="en-US" sz="2800" dirty="0"/>
          </a:p>
        </p:txBody>
      </p:sp>
      <p:sp>
        <p:nvSpPr>
          <p:cNvPr id="18" name="Text 15"/>
          <p:cNvSpPr/>
          <p:nvPr/>
        </p:nvSpPr>
        <p:spPr>
          <a:xfrm>
            <a:off x="4709160" y="4401007"/>
            <a:ext cx="1783080" cy="368046"/>
          </a:xfrm>
          <a:prstGeom prst="rect">
            <a:avLst/>
          </a:prstGeom>
          <a:noFill/>
          <a:ln/>
        </p:spPr>
        <p:txBody>
          <a:bodyPr wrap="square" rtlCol="0" anchor="ctr"/>
          <a:lstStyle/>
          <a:p>
            <a:pPr marL="0" indent="0" algn="ctr">
              <a:buNone/>
            </a:pPr>
            <a:r>
              <a:rPr lang="en-US" sz="950" b="1" dirty="0">
                <a:solidFill>
                  <a:srgbClr val="64748B"/>
                </a:solidFill>
              </a:rPr>
              <a:t>Satisfaction: 5 (Excellent)</a:t>
            </a:r>
            <a:endParaRPr lang="en-US" sz="950" dirty="0"/>
          </a:p>
          <a:p>
            <a:pPr marL="0" indent="0" algn="ctr">
              <a:buNone/>
            </a:pPr>
            <a:r>
              <a:rPr lang="en-US" sz="950" b="1" dirty="0">
                <a:solidFill>
                  <a:srgbClr val="64748B"/>
                </a:solidFill>
              </a:rPr>
              <a:t>843 calls — top performer segment</a:t>
            </a:r>
            <a:endParaRPr lang="en-US" sz="950" dirty="0"/>
          </a:p>
        </p:txBody>
      </p:sp>
      <p:sp>
        <p:nvSpPr>
          <p:cNvPr id="19" name="Shape 16"/>
          <p:cNvSpPr/>
          <p:nvPr/>
        </p:nvSpPr>
        <p:spPr>
          <a:xfrm>
            <a:off x="6766560" y="3749040"/>
            <a:ext cx="196596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0" name="Shape 17"/>
          <p:cNvSpPr/>
          <p:nvPr/>
        </p:nvSpPr>
        <p:spPr>
          <a:xfrm>
            <a:off x="6766560" y="3749040"/>
            <a:ext cx="1965960" cy="54864"/>
          </a:xfrm>
          <a:prstGeom prst="rect">
            <a:avLst/>
          </a:prstGeom>
          <a:solidFill>
            <a:srgbClr val="EF4444"/>
          </a:solidFill>
          <a:ln w="12700">
            <a:solidFill>
              <a:srgbClr val="EF4444"/>
            </a:solidFill>
            <a:prstDash val="solid"/>
          </a:ln>
        </p:spPr>
      </p:sp>
      <p:sp>
        <p:nvSpPr>
          <p:cNvPr id="21" name="Text 18"/>
          <p:cNvSpPr/>
          <p:nvPr/>
        </p:nvSpPr>
        <p:spPr>
          <a:xfrm>
            <a:off x="6858000" y="3886200"/>
            <a:ext cx="1783080" cy="578358"/>
          </a:xfrm>
          <a:prstGeom prst="rect">
            <a:avLst/>
          </a:prstGeom>
          <a:noFill/>
          <a:ln/>
        </p:spPr>
        <p:txBody>
          <a:bodyPr wrap="square" rtlCol="0" anchor="ctr"/>
          <a:lstStyle/>
          <a:p>
            <a:pPr marL="0" indent="0" algn="ctr">
              <a:buNone/>
            </a:pPr>
            <a:r>
              <a:rPr lang="en-US" sz="2800" b="1" dirty="0">
                <a:solidFill>
                  <a:srgbClr val="EF4444"/>
                </a:solidFill>
              </a:rPr>
              <a:t>16.3%</a:t>
            </a:r>
            <a:endParaRPr lang="en-US" sz="2800" dirty="0"/>
          </a:p>
        </p:txBody>
      </p:sp>
      <p:sp>
        <p:nvSpPr>
          <p:cNvPr id="22" name="Text 19"/>
          <p:cNvSpPr/>
          <p:nvPr/>
        </p:nvSpPr>
        <p:spPr>
          <a:xfrm>
            <a:off x="6858000" y="4401007"/>
            <a:ext cx="1783080" cy="368046"/>
          </a:xfrm>
          <a:prstGeom prst="rect">
            <a:avLst/>
          </a:prstGeom>
          <a:noFill/>
          <a:ln/>
        </p:spPr>
        <p:txBody>
          <a:bodyPr wrap="square" rtlCol="0" anchor="ctr"/>
          <a:lstStyle/>
          <a:p>
            <a:pPr marL="0" indent="0" algn="ctr">
              <a:buNone/>
            </a:pPr>
            <a:r>
              <a:rPr lang="en-US" sz="950" b="1" dirty="0">
                <a:solidFill>
                  <a:srgbClr val="64748B"/>
                </a:solidFill>
              </a:rPr>
              <a:t>Satisfaction: 1–2 (Poor)</a:t>
            </a:r>
            <a:endParaRPr lang="en-US" sz="950" dirty="0"/>
          </a:p>
          <a:p>
            <a:pPr marL="0" indent="0" algn="ctr">
              <a:buNone/>
            </a:pPr>
            <a:r>
              <a:rPr lang="en-US" sz="950" b="1" dirty="0">
                <a:solidFill>
                  <a:srgbClr val="64748B"/>
                </a:solidFill>
              </a:rPr>
              <a:t>813 calls require urgent attention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 Understanding</a:t>
            </a:r>
            <a:endParaRPr lang="en-US" sz="22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14800" cy="19202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920240"/>
          </a:xfrm>
          <a:prstGeom prst="rect">
            <a:avLst/>
          </a:prstGeom>
          <a:solidFill>
            <a:srgbClr val="0D7377"/>
          </a:solidFill>
          <a:ln w="12700">
            <a:solidFill>
              <a:srgbClr val="0D7377"/>
            </a:solidFill>
            <a:prstDash val="solid"/>
          </a:ln>
        </p:spPr>
      </p:sp>
      <p:sp>
        <p:nvSpPr>
          <p:cNvPr id="8" name="Text 6"/>
          <p:cNvSpPr/>
          <p:nvPr/>
        </p:nvSpPr>
        <p:spPr>
          <a:xfrm>
            <a:off x="502920" y="1252728"/>
            <a:ext cx="3840480" cy="292608"/>
          </a:xfrm>
          <a:prstGeom prst="rect">
            <a:avLst/>
          </a:prstGeom>
          <a:noFill/>
          <a:ln/>
        </p:spPr>
        <p:txBody>
          <a:bodyPr wrap="square" rtlCol="0" anchor="ctr"/>
          <a:lstStyle/>
          <a:p>
            <a:pPr marL="0" indent="0">
              <a:buNone/>
            </a:pPr>
            <a:r>
              <a:rPr lang="en-US" sz="1200" b="1" dirty="0">
                <a:solidFill>
                  <a:srgbClr val="1B2A4A"/>
                </a:solidFill>
              </a:rPr>
              <a:t>Key Variable Relationships</a:t>
            </a:r>
            <a:endParaRPr lang="en-US" sz="1200" dirty="0"/>
          </a:p>
        </p:txBody>
      </p:sp>
      <p:sp>
        <p:nvSpPr>
          <p:cNvPr id="9" name="Text 7"/>
          <p:cNvSpPr/>
          <p:nvPr/>
        </p:nvSpPr>
        <p:spPr>
          <a:xfrm>
            <a:off x="548640" y="1536192"/>
            <a:ext cx="3794760" cy="1508760"/>
          </a:xfrm>
          <a:prstGeom prst="rect">
            <a:avLst/>
          </a:prstGeom>
          <a:noFill/>
          <a:ln/>
        </p:spPr>
        <p:txBody>
          <a:bodyPr wrap="square" rtlCol="0" anchor="ctr"/>
          <a:lstStyle/>
          <a:p>
            <a:pPr marL="342900" indent="-342900">
              <a:buSzPct val="100000"/>
              <a:buChar char="•"/>
            </a:pPr>
            <a:r>
              <a:rPr lang="en-US" sz="1000" dirty="0">
                <a:solidFill>
                  <a:srgbClr val="1E293B"/>
                </a:solidFill>
              </a:rPr>
              <a:t>Agent ↔ Resolved: Agent performance directly impacts resolution outcomes</a:t>
            </a:r>
            <a:endParaRPr lang="en-US" sz="1000" dirty="0"/>
          </a:p>
          <a:p>
            <a:pPr marL="342900" indent="-342900">
              <a:buSzPct val="100000"/>
              <a:buChar char="•"/>
            </a:pPr>
            <a:r>
              <a:rPr lang="en-US" sz="1000" dirty="0">
                <a:solidFill>
                  <a:srgbClr val="1E293B"/>
                </a:solidFill>
              </a:rPr>
              <a:t>Topic ↔ Volume: Streaming &amp; Technical topics drive the highest call load</a:t>
            </a:r>
            <a:endParaRPr lang="en-US" sz="1000" dirty="0"/>
          </a:p>
          <a:p>
            <a:pPr marL="342900" indent="-342900">
              <a:buSzPct val="100000"/>
              <a:buChar char="•"/>
            </a:pPr>
            <a:r>
              <a:rPr lang="en-US" sz="1000" dirty="0">
                <a:solidFill>
                  <a:srgbClr val="1E293B"/>
                </a:solidFill>
              </a:rPr>
              <a:t>Speed of Answer ↔ Satisfaction: Faster pickup correlates with higher CSAT scores</a:t>
            </a:r>
            <a:endParaRPr lang="en-US" sz="1000" dirty="0"/>
          </a:p>
          <a:p>
            <a:pPr marL="342900" indent="-342900">
              <a:buSzPct val="100000"/>
              <a:buChar char="•"/>
            </a:pPr>
            <a:r>
              <a:rPr lang="en-US" sz="1000" dirty="0">
                <a:solidFill>
                  <a:srgbClr val="1E293B"/>
                </a:solidFill>
              </a:rPr>
              <a:t>Answered ↔ Resolved: All resolution-level analysis is scoped to answered calls only</a:t>
            </a:r>
            <a:endParaRPr lang="en-US" sz="1000" dirty="0"/>
          </a:p>
          <a:p>
            <a:pPr marL="342900" indent="-342900">
              <a:buSzPct val="100000"/>
              <a:buChar char="•"/>
            </a:pPr>
            <a:r>
              <a:rPr lang="en-US" sz="1000" dirty="0">
                <a:solidFill>
                  <a:srgbClr val="1E293B"/>
                </a:solidFill>
              </a:rPr>
              <a:t>Date ↔ Volume: January is the peak month with 1,772 calls</a:t>
            </a:r>
            <a:endParaRPr lang="en-US" sz="1000" dirty="0"/>
          </a:p>
        </p:txBody>
      </p:sp>
      <p:sp>
        <p:nvSpPr>
          <p:cNvPr id="10" name="Shape 8"/>
          <p:cNvSpPr/>
          <p:nvPr/>
        </p:nvSpPr>
        <p:spPr>
          <a:xfrm>
            <a:off x="4709160" y="1188720"/>
            <a:ext cx="4114800" cy="19202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4709160" y="1188720"/>
            <a:ext cx="64008" cy="1920240"/>
          </a:xfrm>
          <a:prstGeom prst="rect">
            <a:avLst/>
          </a:prstGeom>
          <a:solidFill>
            <a:srgbClr val="1B2A4A"/>
          </a:solidFill>
          <a:ln w="12700">
            <a:solidFill>
              <a:srgbClr val="1B2A4A"/>
            </a:solidFill>
            <a:prstDash val="solid"/>
          </a:ln>
        </p:spPr>
      </p:sp>
      <p:sp>
        <p:nvSpPr>
          <p:cNvPr id="12" name="Text 10"/>
          <p:cNvSpPr/>
          <p:nvPr/>
        </p:nvSpPr>
        <p:spPr>
          <a:xfrm>
            <a:off x="4892040" y="1252728"/>
            <a:ext cx="3840480" cy="292608"/>
          </a:xfrm>
          <a:prstGeom prst="rect">
            <a:avLst/>
          </a:prstGeom>
          <a:noFill/>
          <a:ln/>
        </p:spPr>
        <p:txBody>
          <a:bodyPr wrap="square" rtlCol="0" anchor="ctr"/>
          <a:lstStyle/>
          <a:p>
            <a:pPr marL="0" indent="0">
              <a:buNone/>
            </a:pPr>
            <a:r>
              <a:rPr lang="en-US" sz="1200" b="1" dirty="0">
                <a:solidFill>
                  <a:srgbClr val="1B2A4A"/>
                </a:solidFill>
              </a:rPr>
              <a:t>Variable Distribution Notes</a:t>
            </a:r>
            <a:endParaRPr lang="en-US" sz="1200" dirty="0"/>
          </a:p>
        </p:txBody>
      </p:sp>
      <p:sp>
        <p:nvSpPr>
          <p:cNvPr id="13" name="Text 11"/>
          <p:cNvSpPr/>
          <p:nvPr/>
        </p:nvSpPr>
        <p:spPr>
          <a:xfrm>
            <a:off x="4937760" y="1536192"/>
            <a:ext cx="3794760" cy="1508760"/>
          </a:xfrm>
          <a:prstGeom prst="rect">
            <a:avLst/>
          </a:prstGeom>
          <a:noFill/>
          <a:ln/>
        </p:spPr>
        <p:txBody>
          <a:bodyPr wrap="square" rtlCol="0" anchor="ctr"/>
          <a:lstStyle/>
          <a:p>
            <a:pPr marL="342900" indent="-342900">
              <a:buSzPct val="100000"/>
              <a:buChar char="•"/>
            </a:pPr>
            <a:r>
              <a:rPr lang="en-US" sz="1000" dirty="0">
                <a:solidFill>
                  <a:srgbClr val="1E293B"/>
                </a:solidFill>
              </a:rPr>
              <a:t>Satisfaction Rating is right-skewed (median=3, mode=3) — neutral ratings dominate</a:t>
            </a:r>
            <a:endParaRPr lang="en-US" sz="1000" dirty="0"/>
          </a:p>
          <a:p>
            <a:pPr marL="342900" indent="-342900">
              <a:buSzPct val="100000"/>
              <a:buChar char="•"/>
            </a:pPr>
            <a:r>
              <a:rPr lang="en-US" sz="1000" dirty="0">
                <a:solidFill>
                  <a:srgbClr val="1E293B"/>
                </a:solidFill>
              </a:rPr>
              <a:t>Speed of Answer roughly follows a normal distribution (mean≈68s, std≈30s)</a:t>
            </a:r>
            <a:endParaRPr lang="en-US" sz="1000" dirty="0"/>
          </a:p>
          <a:p>
            <a:pPr marL="342900" indent="-342900">
              <a:buSzPct val="100000"/>
              <a:buChar char="•"/>
            </a:pPr>
            <a:r>
              <a:rPr lang="en-US" sz="1000" dirty="0">
                <a:solidFill>
                  <a:srgbClr val="1E293B"/>
                </a:solidFill>
              </a:rPr>
              <a:t>Resolution rate is uniformly high (88.9%–90.6%) — narrow spread across agents</a:t>
            </a:r>
            <a:endParaRPr lang="en-US" sz="1000" dirty="0"/>
          </a:p>
          <a:p>
            <a:pPr marL="342900" indent="-342900">
              <a:buSzPct val="100000"/>
              <a:buChar char="•"/>
            </a:pPr>
            <a:r>
              <a:rPr lang="en-US" sz="1000" dirty="0">
                <a:solidFill>
                  <a:srgbClr val="1E293B"/>
                </a:solidFill>
              </a:rPr>
              <a:t>Call volume is evenly distributed across agents (477–536 answered calls)</a:t>
            </a:r>
            <a:endParaRPr lang="en-US" sz="1000" dirty="0"/>
          </a:p>
          <a:p>
            <a:pPr marL="342900" indent="-342900">
              <a:buSzPct val="100000"/>
              <a:buChar char="•"/>
            </a:pPr>
            <a:r>
              <a:rPr lang="en-US" sz="1000" dirty="0">
                <a:solidFill>
                  <a:srgbClr val="1E293B"/>
                </a:solidFill>
              </a:rPr>
              <a:t>Monthly volume is stable: Jan 1,772 / Feb 1,616 / Mar 1,612</a:t>
            </a:r>
            <a:endParaRPr lang="en-US" sz="1000" dirty="0"/>
          </a:p>
        </p:txBody>
      </p:sp>
      <p:sp>
        <p:nvSpPr>
          <p:cNvPr id="17" name="Text 15"/>
          <p:cNvSpPr/>
          <p:nvPr/>
        </p:nvSpPr>
        <p:spPr>
          <a:xfrm>
            <a:off x="45720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Incoming Call</a:t>
            </a:r>
            <a:endParaRPr lang="en-US" sz="850" dirty="0"/>
          </a:p>
        </p:txBody>
      </p:sp>
      <p:sp>
        <p:nvSpPr>
          <p:cNvPr id="20" name="Text 18"/>
          <p:cNvSpPr/>
          <p:nvPr/>
        </p:nvSpPr>
        <p:spPr>
          <a:xfrm>
            <a:off x="187452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Answered?</a:t>
            </a:r>
            <a:endParaRPr lang="en-US" sz="850" dirty="0"/>
          </a:p>
        </p:txBody>
      </p:sp>
      <p:sp>
        <p:nvSpPr>
          <p:cNvPr id="23" name="Text 21"/>
          <p:cNvSpPr/>
          <p:nvPr/>
        </p:nvSpPr>
        <p:spPr>
          <a:xfrm>
            <a:off x="329184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Agent Assigned</a:t>
            </a:r>
            <a:endParaRPr lang="en-US" sz="850" dirty="0"/>
          </a:p>
        </p:txBody>
      </p:sp>
      <p:sp>
        <p:nvSpPr>
          <p:cNvPr id="26" name="Text 24"/>
          <p:cNvSpPr/>
          <p:nvPr/>
        </p:nvSpPr>
        <p:spPr>
          <a:xfrm>
            <a:off x="470916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Topic Classified</a:t>
            </a:r>
            <a:endParaRPr lang="en-US" sz="850" dirty="0"/>
          </a:p>
        </p:txBody>
      </p:sp>
      <p:sp>
        <p:nvSpPr>
          <p:cNvPr id="29" name="Text 27"/>
          <p:cNvSpPr/>
          <p:nvPr/>
        </p:nvSpPr>
        <p:spPr>
          <a:xfrm>
            <a:off x="612648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Resolved?</a:t>
            </a:r>
            <a:endParaRPr lang="en-US" sz="850" dirty="0"/>
          </a:p>
        </p:txBody>
      </p:sp>
      <p:sp>
        <p:nvSpPr>
          <p:cNvPr id="32" name="Text 30"/>
          <p:cNvSpPr/>
          <p:nvPr/>
        </p:nvSpPr>
        <p:spPr>
          <a:xfrm>
            <a:off x="7543800" y="3657600"/>
            <a:ext cx="1188720" cy="640080"/>
          </a:xfrm>
          <a:prstGeom prst="rect">
            <a:avLst/>
          </a:prstGeom>
          <a:noFill/>
          <a:ln/>
        </p:spPr>
        <p:txBody>
          <a:bodyPr wrap="square" lIns="0" tIns="0" rIns="0" bIns="0" rtlCol="0" anchor="ctr"/>
          <a:lstStyle/>
          <a:p>
            <a:pPr marL="0" indent="0" algn="ctr">
              <a:buNone/>
            </a:pPr>
            <a:r>
              <a:rPr lang="en-US" sz="850" b="1" dirty="0">
                <a:solidFill>
                  <a:srgbClr val="FFFFFF"/>
                </a:solidFill>
              </a:rPr>
              <a:t>CSAT Collected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 Cleaning — Overview</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Why Cleaning is Required Before Analysis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Text 4"/>
          <p:cNvSpPr/>
          <p:nvPr/>
        </p:nvSpPr>
        <p:spPr>
          <a:xfrm>
            <a:off x="411480" y="960120"/>
            <a:ext cx="8321040" cy="548640"/>
          </a:xfrm>
          <a:prstGeom prst="rect">
            <a:avLst/>
          </a:prstGeom>
          <a:noFill/>
          <a:ln/>
        </p:spPr>
        <p:txBody>
          <a:bodyPr wrap="square" rtlCol="0" anchor="ctr"/>
          <a:lstStyle/>
          <a:p>
            <a:pPr marL="0" indent="0">
              <a:buNone/>
            </a:pPr>
            <a:r>
              <a:rPr lang="en-US" sz="1100" i="1" dirty="0">
                <a:solidFill>
                  <a:srgbClr val="1E293B"/>
                </a:solidFill>
              </a:rPr>
              <a:t>Raw call center data frequently contains inconsistencies, missing entries, and structural anomalies that can lead to misleading analytical conclusions. Proper data cleaning ensures the integrity and reliability of all downstream insights.</a:t>
            </a:r>
            <a:endParaRPr lang="en-US" sz="1100" dirty="0"/>
          </a:p>
        </p:txBody>
      </p:sp>
      <p:sp>
        <p:nvSpPr>
          <p:cNvPr id="7" name="Shape 5"/>
          <p:cNvSpPr/>
          <p:nvPr/>
        </p:nvSpPr>
        <p:spPr>
          <a:xfrm>
            <a:off x="320040" y="1691640"/>
            <a:ext cx="2743200" cy="138988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6"/>
          <p:cNvSpPr/>
          <p:nvPr/>
        </p:nvSpPr>
        <p:spPr>
          <a:xfrm>
            <a:off x="320040" y="1691640"/>
            <a:ext cx="2743200" cy="54864"/>
          </a:xfrm>
          <a:prstGeom prst="rect">
            <a:avLst/>
          </a:prstGeom>
          <a:solidFill>
            <a:srgbClr val="EF4444"/>
          </a:solidFill>
          <a:ln w="12700">
            <a:solidFill>
              <a:srgbClr val="EF4444"/>
            </a:solidFill>
            <a:prstDash val="solid"/>
          </a:ln>
        </p:spPr>
      </p:sp>
      <p:sp>
        <p:nvSpPr>
          <p:cNvPr id="9" name="Text 7"/>
          <p:cNvSpPr/>
          <p:nvPr/>
        </p:nvSpPr>
        <p:spPr>
          <a:xfrm>
            <a:off x="429768" y="1783080"/>
            <a:ext cx="2514600" cy="347472"/>
          </a:xfrm>
          <a:prstGeom prst="rect">
            <a:avLst/>
          </a:prstGeom>
          <a:noFill/>
          <a:ln/>
        </p:spPr>
        <p:txBody>
          <a:bodyPr wrap="square" rtlCol="0" anchor="ctr"/>
          <a:lstStyle/>
          <a:p>
            <a:pPr marL="0" indent="0">
              <a:buNone/>
            </a:pPr>
            <a:r>
              <a:rPr lang="en-US" sz="1100" b="1" dirty="0">
                <a:solidFill>
                  <a:srgbClr val="1B2A4A"/>
                </a:solidFill>
              </a:rPr>
              <a:t>❓  Missing Values</a:t>
            </a:r>
            <a:endParaRPr lang="en-US" sz="1100" dirty="0"/>
          </a:p>
        </p:txBody>
      </p:sp>
      <p:sp>
        <p:nvSpPr>
          <p:cNvPr id="10" name="Text 8"/>
          <p:cNvSpPr/>
          <p:nvPr/>
        </p:nvSpPr>
        <p:spPr>
          <a:xfrm>
            <a:off x="429768" y="2103120"/>
            <a:ext cx="2514600" cy="914400"/>
          </a:xfrm>
          <a:prstGeom prst="rect">
            <a:avLst/>
          </a:prstGeom>
          <a:noFill/>
          <a:ln/>
        </p:spPr>
        <p:txBody>
          <a:bodyPr wrap="square" rtlCol="0" anchor="ctr"/>
          <a:lstStyle/>
          <a:p>
            <a:pPr marL="0" indent="0">
              <a:buNone/>
            </a:pPr>
            <a:r>
              <a:rPr lang="en-US" sz="950" dirty="0">
                <a:solidFill>
                  <a:srgbClr val="1E293B"/>
                </a:solidFill>
              </a:rPr>
              <a:t>Empty satisfaction ratings, blank topic fields, or NULL resolution flags can skew agent performance metrics and satisfaction averages.</a:t>
            </a:r>
            <a:endParaRPr lang="en-US" sz="950" dirty="0"/>
          </a:p>
        </p:txBody>
      </p:sp>
      <p:sp>
        <p:nvSpPr>
          <p:cNvPr id="11" name="Shape 9"/>
          <p:cNvSpPr/>
          <p:nvPr/>
        </p:nvSpPr>
        <p:spPr>
          <a:xfrm>
            <a:off x="3227832" y="1691640"/>
            <a:ext cx="2743200" cy="138988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3227832" y="1691640"/>
            <a:ext cx="2743200" cy="54864"/>
          </a:xfrm>
          <a:prstGeom prst="rect">
            <a:avLst/>
          </a:prstGeom>
          <a:solidFill>
            <a:srgbClr val="F59E0B"/>
          </a:solidFill>
          <a:ln w="12700">
            <a:solidFill>
              <a:srgbClr val="F59E0B"/>
            </a:solidFill>
            <a:prstDash val="solid"/>
          </a:ln>
        </p:spPr>
      </p:sp>
      <p:sp>
        <p:nvSpPr>
          <p:cNvPr id="13" name="Text 11"/>
          <p:cNvSpPr/>
          <p:nvPr/>
        </p:nvSpPr>
        <p:spPr>
          <a:xfrm>
            <a:off x="3337560" y="1783080"/>
            <a:ext cx="2514600" cy="347472"/>
          </a:xfrm>
          <a:prstGeom prst="rect">
            <a:avLst/>
          </a:prstGeom>
          <a:noFill/>
          <a:ln/>
        </p:spPr>
        <p:txBody>
          <a:bodyPr wrap="square" rtlCol="0" anchor="ctr"/>
          <a:lstStyle/>
          <a:p>
            <a:pPr marL="0" indent="0">
              <a:buNone/>
            </a:pPr>
            <a:r>
              <a:rPr lang="en-US" sz="1100" b="1" dirty="0">
                <a:solidFill>
                  <a:srgbClr val="1B2A4A"/>
                </a:solidFill>
              </a:rPr>
              <a:t>🔁  Duplicate Records</a:t>
            </a:r>
            <a:endParaRPr lang="en-US" sz="1100" dirty="0"/>
          </a:p>
        </p:txBody>
      </p:sp>
      <p:sp>
        <p:nvSpPr>
          <p:cNvPr id="14" name="Text 12"/>
          <p:cNvSpPr/>
          <p:nvPr/>
        </p:nvSpPr>
        <p:spPr>
          <a:xfrm>
            <a:off x="3337560" y="2103120"/>
            <a:ext cx="2514600" cy="914400"/>
          </a:xfrm>
          <a:prstGeom prst="rect">
            <a:avLst/>
          </a:prstGeom>
          <a:noFill/>
          <a:ln/>
        </p:spPr>
        <p:txBody>
          <a:bodyPr wrap="square" rtlCol="0" anchor="ctr"/>
          <a:lstStyle/>
          <a:p>
            <a:pPr marL="0" indent="0">
              <a:buNone/>
            </a:pPr>
            <a:r>
              <a:rPr lang="en-US" sz="950" dirty="0">
                <a:solidFill>
                  <a:srgbClr val="1E293B"/>
                </a:solidFill>
              </a:rPr>
              <a:t>Duplicate Call IDs can artificially inflate volume counts and distort per-agent workload distribution statistics.</a:t>
            </a:r>
            <a:endParaRPr lang="en-US" sz="950" dirty="0"/>
          </a:p>
        </p:txBody>
      </p:sp>
      <p:sp>
        <p:nvSpPr>
          <p:cNvPr id="15" name="Shape 13"/>
          <p:cNvSpPr/>
          <p:nvPr/>
        </p:nvSpPr>
        <p:spPr>
          <a:xfrm>
            <a:off x="6135624" y="1691640"/>
            <a:ext cx="2743200" cy="138988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6" name="Shape 14"/>
          <p:cNvSpPr/>
          <p:nvPr/>
        </p:nvSpPr>
        <p:spPr>
          <a:xfrm>
            <a:off x="6135624" y="1691640"/>
            <a:ext cx="2743200" cy="54864"/>
          </a:xfrm>
          <a:prstGeom prst="rect">
            <a:avLst/>
          </a:prstGeom>
          <a:solidFill>
            <a:srgbClr val="F5A623"/>
          </a:solidFill>
          <a:ln w="12700">
            <a:solidFill>
              <a:srgbClr val="F5A623"/>
            </a:solidFill>
            <a:prstDash val="solid"/>
          </a:ln>
        </p:spPr>
      </p:sp>
      <p:sp>
        <p:nvSpPr>
          <p:cNvPr id="17" name="Text 15"/>
          <p:cNvSpPr/>
          <p:nvPr/>
        </p:nvSpPr>
        <p:spPr>
          <a:xfrm>
            <a:off x="6245352" y="1783080"/>
            <a:ext cx="2514600" cy="347472"/>
          </a:xfrm>
          <a:prstGeom prst="rect">
            <a:avLst/>
          </a:prstGeom>
          <a:noFill/>
          <a:ln/>
        </p:spPr>
        <p:txBody>
          <a:bodyPr wrap="square" rtlCol="0" anchor="ctr"/>
          <a:lstStyle/>
          <a:p>
            <a:pPr marL="0" indent="0">
              <a:buNone/>
            </a:pPr>
            <a:r>
              <a:rPr lang="en-US" sz="1100" b="1" dirty="0">
                <a:solidFill>
                  <a:srgbClr val="1B2A4A"/>
                </a:solidFill>
              </a:rPr>
              <a:t>🔢  Data Type Errors</a:t>
            </a:r>
            <a:endParaRPr lang="en-US" sz="1100" dirty="0"/>
          </a:p>
        </p:txBody>
      </p:sp>
      <p:sp>
        <p:nvSpPr>
          <p:cNvPr id="18" name="Text 16"/>
          <p:cNvSpPr/>
          <p:nvPr/>
        </p:nvSpPr>
        <p:spPr>
          <a:xfrm>
            <a:off x="6245352" y="2103120"/>
            <a:ext cx="2514600" cy="914400"/>
          </a:xfrm>
          <a:prstGeom prst="rect">
            <a:avLst/>
          </a:prstGeom>
          <a:noFill/>
          <a:ln/>
        </p:spPr>
        <p:txBody>
          <a:bodyPr wrap="square" rtlCol="0" anchor="ctr"/>
          <a:lstStyle/>
          <a:p>
            <a:pPr marL="0" indent="0">
              <a:buNone/>
            </a:pPr>
            <a:r>
              <a:rPr lang="en-US" sz="950" dirty="0">
                <a:solidFill>
                  <a:srgbClr val="1E293B"/>
                </a:solidFill>
              </a:rPr>
              <a:t>Date/time stored as text, talk duration stored as decimals rather than time objects, requiring conversion before aggregation.</a:t>
            </a:r>
            <a:endParaRPr lang="en-US" sz="950" dirty="0"/>
          </a:p>
        </p:txBody>
      </p:sp>
      <p:sp>
        <p:nvSpPr>
          <p:cNvPr id="23" name="Shape 21"/>
          <p:cNvSpPr/>
          <p:nvPr/>
        </p:nvSpPr>
        <p:spPr>
          <a:xfrm>
            <a:off x="320040" y="3274959"/>
            <a:ext cx="2743200" cy="138988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4" name="Shape 22"/>
          <p:cNvSpPr/>
          <p:nvPr/>
        </p:nvSpPr>
        <p:spPr>
          <a:xfrm>
            <a:off x="320040" y="3274959"/>
            <a:ext cx="2743200" cy="54864"/>
          </a:xfrm>
          <a:prstGeom prst="rect">
            <a:avLst/>
          </a:prstGeom>
          <a:solidFill>
            <a:srgbClr val="1B2A4A"/>
          </a:solidFill>
          <a:ln w="12700">
            <a:solidFill>
              <a:srgbClr val="1B2A4A"/>
            </a:solidFill>
            <a:prstDash val="solid"/>
          </a:ln>
        </p:spPr>
      </p:sp>
      <p:sp>
        <p:nvSpPr>
          <p:cNvPr id="25" name="Text 23"/>
          <p:cNvSpPr/>
          <p:nvPr/>
        </p:nvSpPr>
        <p:spPr>
          <a:xfrm>
            <a:off x="429768" y="3366399"/>
            <a:ext cx="2514600" cy="347472"/>
          </a:xfrm>
          <a:prstGeom prst="rect">
            <a:avLst/>
          </a:prstGeom>
          <a:noFill/>
          <a:ln/>
        </p:spPr>
        <p:txBody>
          <a:bodyPr wrap="square" rtlCol="0" anchor="ctr"/>
          <a:lstStyle/>
          <a:p>
            <a:pPr marL="0" indent="0">
              <a:buNone/>
            </a:pPr>
            <a:r>
              <a:rPr lang="en-US" sz="1100" b="1" dirty="0">
                <a:solidFill>
                  <a:srgbClr val="1B2A4A"/>
                </a:solidFill>
              </a:rPr>
              <a:t>📝  Inconsistent Labels</a:t>
            </a:r>
            <a:endParaRPr lang="en-US" sz="1100" dirty="0"/>
          </a:p>
        </p:txBody>
      </p:sp>
      <p:sp>
        <p:nvSpPr>
          <p:cNvPr id="26" name="Text 24"/>
          <p:cNvSpPr/>
          <p:nvPr/>
        </p:nvSpPr>
        <p:spPr>
          <a:xfrm>
            <a:off x="429768" y="3686439"/>
            <a:ext cx="2514600" cy="914400"/>
          </a:xfrm>
          <a:prstGeom prst="rect">
            <a:avLst/>
          </a:prstGeom>
          <a:noFill/>
          <a:ln/>
        </p:spPr>
        <p:txBody>
          <a:bodyPr wrap="square" rtlCol="0" anchor="ctr"/>
          <a:lstStyle/>
          <a:p>
            <a:pPr marL="0" indent="0">
              <a:buNone/>
            </a:pPr>
            <a:r>
              <a:rPr lang="en-US" sz="950" dirty="0">
                <a:solidFill>
                  <a:srgbClr val="1E293B"/>
                </a:solidFill>
              </a:rPr>
              <a:t>Variations in topic names (e.g., 'streaming' vs 'Streaming') and agent name capitalization can create false category splits.</a:t>
            </a:r>
            <a:endParaRPr lang="en-US" sz="950" dirty="0"/>
          </a:p>
        </p:txBody>
      </p:sp>
      <p:sp>
        <p:nvSpPr>
          <p:cNvPr id="27" name="Shape 25"/>
          <p:cNvSpPr/>
          <p:nvPr/>
        </p:nvSpPr>
        <p:spPr>
          <a:xfrm>
            <a:off x="3227832" y="3274959"/>
            <a:ext cx="2743200" cy="138988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8" name="Shape 26"/>
          <p:cNvSpPr/>
          <p:nvPr/>
        </p:nvSpPr>
        <p:spPr>
          <a:xfrm>
            <a:off x="3227832" y="3274959"/>
            <a:ext cx="2743200" cy="54864"/>
          </a:xfrm>
          <a:prstGeom prst="rect">
            <a:avLst/>
          </a:prstGeom>
          <a:solidFill>
            <a:srgbClr val="64748B"/>
          </a:solidFill>
          <a:ln w="12700">
            <a:solidFill>
              <a:srgbClr val="64748B"/>
            </a:solidFill>
            <a:prstDash val="solid"/>
          </a:ln>
        </p:spPr>
      </p:sp>
      <p:sp>
        <p:nvSpPr>
          <p:cNvPr id="29" name="Text 27"/>
          <p:cNvSpPr/>
          <p:nvPr/>
        </p:nvSpPr>
        <p:spPr>
          <a:xfrm>
            <a:off x="3337560" y="3366399"/>
            <a:ext cx="2514600" cy="347472"/>
          </a:xfrm>
          <a:prstGeom prst="rect">
            <a:avLst/>
          </a:prstGeom>
          <a:noFill/>
          <a:ln/>
        </p:spPr>
        <p:txBody>
          <a:bodyPr wrap="square" rtlCol="0" anchor="ctr"/>
          <a:lstStyle/>
          <a:p>
            <a:pPr marL="0" indent="0">
              <a:buNone/>
            </a:pPr>
            <a:r>
              <a:rPr lang="en-US" sz="1100" b="1" dirty="0">
                <a:solidFill>
                  <a:srgbClr val="1B2A4A"/>
                </a:solidFill>
              </a:rPr>
              <a:t>🗑  Irrelevant Columns</a:t>
            </a:r>
            <a:endParaRPr lang="en-US" sz="1100" dirty="0"/>
          </a:p>
        </p:txBody>
      </p:sp>
      <p:sp>
        <p:nvSpPr>
          <p:cNvPr id="30" name="Text 28"/>
          <p:cNvSpPr/>
          <p:nvPr/>
        </p:nvSpPr>
        <p:spPr>
          <a:xfrm>
            <a:off x="3337560" y="3686439"/>
            <a:ext cx="2514600" cy="914400"/>
          </a:xfrm>
          <a:prstGeom prst="rect">
            <a:avLst/>
          </a:prstGeom>
          <a:noFill/>
          <a:ln/>
        </p:spPr>
        <p:txBody>
          <a:bodyPr wrap="square" rtlCol="0" anchor="ctr"/>
          <a:lstStyle/>
          <a:p>
            <a:pPr marL="0" indent="0">
              <a:buNone/>
            </a:pPr>
            <a:r>
              <a:rPr lang="en-US" sz="950" dirty="0">
                <a:solidFill>
                  <a:srgbClr val="1E293B"/>
                </a:solidFill>
              </a:rPr>
              <a:t>Columns 'Unnamed: 11' through 'Unnamed: 17' were empty artifact columns from Excel export and were excluded from analysis.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 Cleaning — Steps Taken</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Detailed Cleaning Actions Applied to the Dataset</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170432"/>
          </a:xfrm>
          <a:prstGeom prst="rect">
            <a:avLst/>
          </a:prstGeom>
          <a:solidFill>
            <a:srgbClr val="EF4444"/>
          </a:solidFill>
          <a:ln w="12700">
            <a:solidFill>
              <a:srgbClr val="EF4444"/>
            </a:solidFill>
            <a:prstDash val="solid"/>
          </a:ln>
        </p:spPr>
      </p:sp>
      <p:sp>
        <p:nvSpPr>
          <p:cNvPr id="8" name="Shape 6"/>
          <p:cNvSpPr/>
          <p:nvPr/>
        </p:nvSpPr>
        <p:spPr>
          <a:xfrm>
            <a:off x="457200" y="1280160"/>
            <a:ext cx="640080" cy="256032"/>
          </a:xfrm>
          <a:prstGeom prst="rect">
            <a:avLst/>
          </a:prstGeom>
          <a:solidFill>
            <a:srgbClr val="EF4444"/>
          </a:solidFill>
          <a:ln w="12700">
            <a:solidFill>
              <a:srgbClr val="EF4444"/>
            </a:solidFill>
            <a:prstDash val="solid"/>
          </a:ln>
        </p:spPr>
      </p:sp>
      <p:sp>
        <p:nvSpPr>
          <p:cNvPr id="9" name="Text 7"/>
          <p:cNvSpPr/>
          <p:nvPr/>
        </p:nvSpPr>
        <p:spPr>
          <a:xfrm>
            <a:off x="457200" y="1280160"/>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1</a:t>
            </a:r>
            <a:endParaRPr lang="en-US" sz="850" dirty="0"/>
          </a:p>
        </p:txBody>
      </p:sp>
      <p:sp>
        <p:nvSpPr>
          <p:cNvPr id="10" name="Text 8"/>
          <p:cNvSpPr/>
          <p:nvPr/>
        </p:nvSpPr>
        <p:spPr>
          <a:xfrm>
            <a:off x="1188720" y="1261872"/>
            <a:ext cx="3200400" cy="292608"/>
          </a:xfrm>
          <a:prstGeom prst="rect">
            <a:avLst/>
          </a:prstGeom>
          <a:noFill/>
          <a:ln/>
        </p:spPr>
        <p:txBody>
          <a:bodyPr wrap="square" rtlCol="0" anchor="ctr"/>
          <a:lstStyle/>
          <a:p>
            <a:pPr marL="0" indent="0">
              <a:buNone/>
            </a:pPr>
            <a:r>
              <a:rPr lang="en-US" sz="1100" b="1" dirty="0">
                <a:solidFill>
                  <a:srgbClr val="1E293B"/>
                </a:solidFill>
              </a:rPr>
              <a:t>Removed Empty Columns</a:t>
            </a:r>
            <a:endParaRPr lang="en-US" sz="1100" dirty="0"/>
          </a:p>
        </p:txBody>
      </p:sp>
      <p:sp>
        <p:nvSpPr>
          <p:cNvPr id="11" name="Text 9"/>
          <p:cNvSpPr/>
          <p:nvPr/>
        </p:nvSpPr>
        <p:spPr>
          <a:xfrm>
            <a:off x="502920" y="1572768"/>
            <a:ext cx="3840480" cy="384048"/>
          </a:xfrm>
          <a:prstGeom prst="rect">
            <a:avLst/>
          </a:prstGeom>
          <a:noFill/>
          <a:ln/>
        </p:spPr>
        <p:txBody>
          <a:bodyPr wrap="square" rtlCol="0" anchor="ctr"/>
          <a:lstStyle/>
          <a:p>
            <a:pPr marL="0" indent="0">
              <a:buNone/>
            </a:pPr>
            <a:r>
              <a:rPr lang="en-US" sz="880" dirty="0">
                <a:solidFill>
                  <a:srgbClr val="1E293B"/>
                </a:solidFill>
              </a:rPr>
              <a:t>Action: Dropped Unnamed columns (11–17) that contained no data — artifacts of the Excel export process.</a:t>
            </a:r>
            <a:endParaRPr lang="en-US" sz="880" dirty="0"/>
          </a:p>
        </p:txBody>
      </p:sp>
      <p:sp>
        <p:nvSpPr>
          <p:cNvPr id="12" name="Text 10"/>
          <p:cNvSpPr/>
          <p:nvPr/>
        </p:nvSpPr>
        <p:spPr>
          <a:xfrm>
            <a:off x="502920" y="1956816"/>
            <a:ext cx="3840480" cy="320040"/>
          </a:xfrm>
          <a:prstGeom prst="rect">
            <a:avLst/>
          </a:prstGeom>
          <a:noFill/>
          <a:ln/>
        </p:spPr>
        <p:txBody>
          <a:bodyPr wrap="square" rtlCol="0" anchor="ctr"/>
          <a:lstStyle/>
          <a:p>
            <a:pPr marL="0" indent="0">
              <a:buNone/>
            </a:pPr>
            <a:r>
              <a:rPr lang="en-US" sz="880" b="1" dirty="0">
                <a:solidFill>
                  <a:srgbClr val="10B981"/>
                </a:solidFill>
              </a:rPr>
              <a:t>✔ Reduced column count from 18 to 10 usable fields.</a:t>
            </a:r>
            <a:endParaRPr lang="en-US" sz="880" dirty="0"/>
          </a:p>
        </p:txBody>
      </p:sp>
      <p:sp>
        <p:nvSpPr>
          <p:cNvPr id="13" name="Shape 11"/>
          <p:cNvSpPr/>
          <p:nvPr/>
        </p:nvSpPr>
        <p:spPr>
          <a:xfrm>
            <a:off x="4663440" y="118872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4" name="Shape 12"/>
          <p:cNvSpPr/>
          <p:nvPr/>
        </p:nvSpPr>
        <p:spPr>
          <a:xfrm>
            <a:off x="4663440" y="1188720"/>
            <a:ext cx="64008" cy="1170432"/>
          </a:xfrm>
          <a:prstGeom prst="rect">
            <a:avLst/>
          </a:prstGeom>
          <a:solidFill>
            <a:srgbClr val="F59E0B"/>
          </a:solidFill>
          <a:ln w="12700">
            <a:solidFill>
              <a:srgbClr val="F59E0B"/>
            </a:solidFill>
            <a:prstDash val="solid"/>
          </a:ln>
        </p:spPr>
      </p:sp>
      <p:sp>
        <p:nvSpPr>
          <p:cNvPr id="15" name="Shape 13"/>
          <p:cNvSpPr/>
          <p:nvPr/>
        </p:nvSpPr>
        <p:spPr>
          <a:xfrm>
            <a:off x="4800600" y="1280160"/>
            <a:ext cx="640080" cy="256032"/>
          </a:xfrm>
          <a:prstGeom prst="rect">
            <a:avLst/>
          </a:prstGeom>
          <a:solidFill>
            <a:srgbClr val="F59E0B"/>
          </a:solidFill>
          <a:ln w="12700">
            <a:solidFill>
              <a:srgbClr val="F59E0B"/>
            </a:solidFill>
            <a:prstDash val="solid"/>
          </a:ln>
        </p:spPr>
      </p:sp>
      <p:sp>
        <p:nvSpPr>
          <p:cNvPr id="16" name="Text 14"/>
          <p:cNvSpPr/>
          <p:nvPr/>
        </p:nvSpPr>
        <p:spPr>
          <a:xfrm>
            <a:off x="4800600" y="1280160"/>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2</a:t>
            </a:r>
            <a:endParaRPr lang="en-US" sz="850" dirty="0"/>
          </a:p>
        </p:txBody>
      </p:sp>
      <p:sp>
        <p:nvSpPr>
          <p:cNvPr id="17" name="Text 15"/>
          <p:cNvSpPr/>
          <p:nvPr/>
        </p:nvSpPr>
        <p:spPr>
          <a:xfrm>
            <a:off x="5532120" y="1261872"/>
            <a:ext cx="3200400" cy="292608"/>
          </a:xfrm>
          <a:prstGeom prst="rect">
            <a:avLst/>
          </a:prstGeom>
          <a:noFill/>
          <a:ln/>
        </p:spPr>
        <p:txBody>
          <a:bodyPr wrap="square" rtlCol="0" anchor="ctr"/>
          <a:lstStyle/>
          <a:p>
            <a:pPr marL="0" indent="0">
              <a:buNone/>
            </a:pPr>
            <a:r>
              <a:rPr lang="en-US" sz="1100" b="1" dirty="0">
                <a:solidFill>
                  <a:srgbClr val="1E293B"/>
                </a:solidFill>
              </a:rPr>
              <a:t>Handled Missing Values</a:t>
            </a:r>
            <a:endParaRPr lang="en-US" sz="1100" dirty="0"/>
          </a:p>
        </p:txBody>
      </p:sp>
      <p:sp>
        <p:nvSpPr>
          <p:cNvPr id="18" name="Text 16"/>
          <p:cNvSpPr/>
          <p:nvPr/>
        </p:nvSpPr>
        <p:spPr>
          <a:xfrm>
            <a:off x="4846320" y="1572768"/>
            <a:ext cx="3840480" cy="384048"/>
          </a:xfrm>
          <a:prstGeom prst="rect">
            <a:avLst/>
          </a:prstGeom>
          <a:noFill/>
          <a:ln/>
        </p:spPr>
        <p:txBody>
          <a:bodyPr wrap="square" rtlCol="0" anchor="ctr"/>
          <a:lstStyle/>
          <a:p>
            <a:pPr marL="0" indent="0">
              <a:buNone/>
            </a:pPr>
            <a:r>
              <a:rPr lang="en-US" sz="880" dirty="0">
                <a:solidFill>
                  <a:srgbClr val="1E293B"/>
                </a:solidFill>
              </a:rPr>
              <a:t>Action: Checked all 10 key columns for nulls. Satisfaction rating nulls were imputed using agent-level mean values. Missing topic values were flagged.</a:t>
            </a:r>
            <a:endParaRPr lang="en-US" sz="880" dirty="0"/>
          </a:p>
        </p:txBody>
      </p:sp>
      <p:sp>
        <p:nvSpPr>
          <p:cNvPr id="19" name="Text 17"/>
          <p:cNvSpPr/>
          <p:nvPr/>
        </p:nvSpPr>
        <p:spPr>
          <a:xfrm>
            <a:off x="4846320" y="1956816"/>
            <a:ext cx="3840480" cy="320040"/>
          </a:xfrm>
          <a:prstGeom prst="rect">
            <a:avLst/>
          </a:prstGeom>
          <a:noFill/>
          <a:ln/>
        </p:spPr>
        <p:txBody>
          <a:bodyPr wrap="square" rtlCol="0" anchor="ctr"/>
          <a:lstStyle/>
          <a:p>
            <a:pPr marL="0" indent="0">
              <a:buNone/>
            </a:pPr>
            <a:r>
              <a:rPr lang="en-US" sz="880" b="1" dirty="0">
                <a:solidFill>
                  <a:srgbClr val="10B981"/>
                </a:solidFill>
              </a:rPr>
              <a:t>✔ Dataset completeness improved to ~99.8% across core fields.</a:t>
            </a:r>
            <a:endParaRPr lang="en-US" sz="880" dirty="0"/>
          </a:p>
        </p:txBody>
      </p:sp>
      <p:sp>
        <p:nvSpPr>
          <p:cNvPr id="20" name="Shape 18"/>
          <p:cNvSpPr/>
          <p:nvPr/>
        </p:nvSpPr>
        <p:spPr>
          <a:xfrm>
            <a:off x="320040" y="2487168"/>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1" name="Shape 19"/>
          <p:cNvSpPr/>
          <p:nvPr/>
        </p:nvSpPr>
        <p:spPr>
          <a:xfrm>
            <a:off x="320040" y="2487168"/>
            <a:ext cx="64008" cy="1170432"/>
          </a:xfrm>
          <a:prstGeom prst="rect">
            <a:avLst/>
          </a:prstGeom>
          <a:solidFill>
            <a:srgbClr val="F5A623"/>
          </a:solidFill>
          <a:ln w="12700">
            <a:solidFill>
              <a:srgbClr val="F5A623"/>
            </a:solidFill>
            <a:prstDash val="solid"/>
          </a:ln>
        </p:spPr>
      </p:sp>
      <p:sp>
        <p:nvSpPr>
          <p:cNvPr id="22" name="Shape 20"/>
          <p:cNvSpPr/>
          <p:nvPr/>
        </p:nvSpPr>
        <p:spPr>
          <a:xfrm>
            <a:off x="457200" y="2578608"/>
            <a:ext cx="640080" cy="256032"/>
          </a:xfrm>
          <a:prstGeom prst="rect">
            <a:avLst/>
          </a:prstGeom>
          <a:solidFill>
            <a:srgbClr val="F5A623"/>
          </a:solidFill>
          <a:ln w="12700">
            <a:solidFill>
              <a:srgbClr val="F5A623"/>
            </a:solidFill>
            <a:prstDash val="solid"/>
          </a:ln>
        </p:spPr>
      </p:sp>
      <p:sp>
        <p:nvSpPr>
          <p:cNvPr id="23" name="Text 21"/>
          <p:cNvSpPr/>
          <p:nvPr/>
        </p:nvSpPr>
        <p:spPr>
          <a:xfrm>
            <a:off x="457200" y="2578608"/>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3</a:t>
            </a:r>
            <a:endParaRPr lang="en-US" sz="850" dirty="0"/>
          </a:p>
        </p:txBody>
      </p:sp>
      <p:sp>
        <p:nvSpPr>
          <p:cNvPr id="24" name="Text 22"/>
          <p:cNvSpPr/>
          <p:nvPr/>
        </p:nvSpPr>
        <p:spPr>
          <a:xfrm>
            <a:off x="1188720" y="2560320"/>
            <a:ext cx="3200400" cy="292608"/>
          </a:xfrm>
          <a:prstGeom prst="rect">
            <a:avLst/>
          </a:prstGeom>
          <a:noFill/>
          <a:ln/>
        </p:spPr>
        <p:txBody>
          <a:bodyPr wrap="square" rtlCol="0" anchor="ctr"/>
          <a:lstStyle/>
          <a:p>
            <a:pPr marL="0" indent="0">
              <a:buNone/>
            </a:pPr>
            <a:r>
              <a:rPr lang="en-US" sz="1100" b="1" dirty="0">
                <a:solidFill>
                  <a:srgbClr val="1E293B"/>
                </a:solidFill>
              </a:rPr>
              <a:t>Removed Duplicates</a:t>
            </a:r>
            <a:endParaRPr lang="en-US" sz="1100" dirty="0"/>
          </a:p>
        </p:txBody>
      </p:sp>
      <p:sp>
        <p:nvSpPr>
          <p:cNvPr id="25" name="Text 23"/>
          <p:cNvSpPr/>
          <p:nvPr/>
        </p:nvSpPr>
        <p:spPr>
          <a:xfrm>
            <a:off x="502920" y="2871216"/>
            <a:ext cx="3840480" cy="384048"/>
          </a:xfrm>
          <a:prstGeom prst="rect">
            <a:avLst/>
          </a:prstGeom>
          <a:noFill/>
          <a:ln/>
        </p:spPr>
        <p:txBody>
          <a:bodyPr wrap="square" rtlCol="0" anchor="ctr"/>
          <a:lstStyle/>
          <a:p>
            <a:pPr marL="0" indent="0">
              <a:buNone/>
            </a:pPr>
            <a:r>
              <a:rPr lang="en-US" sz="880" dirty="0">
                <a:solidFill>
                  <a:srgbClr val="1E293B"/>
                </a:solidFill>
              </a:rPr>
              <a:t>Action: Verified Call Id uniqueness across all 5,000 records. No duplicate Call IDs were found — dataset integrity confirmed.</a:t>
            </a:r>
            <a:endParaRPr lang="en-US" sz="880" dirty="0"/>
          </a:p>
        </p:txBody>
      </p:sp>
      <p:sp>
        <p:nvSpPr>
          <p:cNvPr id="26" name="Text 24"/>
          <p:cNvSpPr/>
          <p:nvPr/>
        </p:nvSpPr>
        <p:spPr>
          <a:xfrm>
            <a:off x="502920" y="3255264"/>
            <a:ext cx="3840480" cy="320040"/>
          </a:xfrm>
          <a:prstGeom prst="rect">
            <a:avLst/>
          </a:prstGeom>
          <a:noFill/>
          <a:ln/>
        </p:spPr>
        <p:txBody>
          <a:bodyPr wrap="square" rtlCol="0" anchor="ctr"/>
          <a:lstStyle/>
          <a:p>
            <a:pPr marL="0" indent="0">
              <a:buNone/>
            </a:pPr>
            <a:r>
              <a:rPr lang="en-US" sz="880" b="1" dirty="0">
                <a:solidFill>
                  <a:srgbClr val="10B981"/>
                </a:solidFill>
              </a:rPr>
              <a:t>✔ All 5,000 records are unique and valid.</a:t>
            </a:r>
            <a:endParaRPr lang="en-US" sz="880" dirty="0"/>
          </a:p>
        </p:txBody>
      </p:sp>
      <p:sp>
        <p:nvSpPr>
          <p:cNvPr id="27" name="Shape 25"/>
          <p:cNvSpPr/>
          <p:nvPr/>
        </p:nvSpPr>
        <p:spPr>
          <a:xfrm>
            <a:off x="4663440" y="2487168"/>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8" name="Shape 26"/>
          <p:cNvSpPr/>
          <p:nvPr/>
        </p:nvSpPr>
        <p:spPr>
          <a:xfrm>
            <a:off x="4663440" y="2487168"/>
            <a:ext cx="64008" cy="1170432"/>
          </a:xfrm>
          <a:prstGeom prst="rect">
            <a:avLst/>
          </a:prstGeom>
          <a:solidFill>
            <a:srgbClr val="0D7377"/>
          </a:solidFill>
          <a:ln w="12700">
            <a:solidFill>
              <a:srgbClr val="0D7377"/>
            </a:solidFill>
            <a:prstDash val="solid"/>
          </a:ln>
        </p:spPr>
      </p:sp>
      <p:sp>
        <p:nvSpPr>
          <p:cNvPr id="29" name="Shape 27"/>
          <p:cNvSpPr/>
          <p:nvPr/>
        </p:nvSpPr>
        <p:spPr>
          <a:xfrm>
            <a:off x="4800600" y="2578608"/>
            <a:ext cx="640080" cy="256032"/>
          </a:xfrm>
          <a:prstGeom prst="rect">
            <a:avLst/>
          </a:prstGeom>
          <a:solidFill>
            <a:srgbClr val="0D7377"/>
          </a:solidFill>
          <a:ln w="12700">
            <a:solidFill>
              <a:srgbClr val="0D7377"/>
            </a:solidFill>
            <a:prstDash val="solid"/>
          </a:ln>
        </p:spPr>
      </p:sp>
      <p:sp>
        <p:nvSpPr>
          <p:cNvPr id="30" name="Text 28"/>
          <p:cNvSpPr/>
          <p:nvPr/>
        </p:nvSpPr>
        <p:spPr>
          <a:xfrm>
            <a:off x="4800600" y="2578608"/>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4</a:t>
            </a:r>
            <a:endParaRPr lang="en-US" sz="850" dirty="0"/>
          </a:p>
        </p:txBody>
      </p:sp>
      <p:sp>
        <p:nvSpPr>
          <p:cNvPr id="31" name="Text 29"/>
          <p:cNvSpPr/>
          <p:nvPr/>
        </p:nvSpPr>
        <p:spPr>
          <a:xfrm>
            <a:off x="5532120" y="2560320"/>
            <a:ext cx="3200400" cy="292608"/>
          </a:xfrm>
          <a:prstGeom prst="rect">
            <a:avLst/>
          </a:prstGeom>
          <a:noFill/>
          <a:ln/>
        </p:spPr>
        <p:txBody>
          <a:bodyPr wrap="square" rtlCol="0" anchor="ctr"/>
          <a:lstStyle/>
          <a:p>
            <a:pPr marL="0" indent="0">
              <a:buNone/>
            </a:pPr>
            <a:r>
              <a:rPr lang="en-US" sz="1100" b="1" dirty="0">
                <a:solidFill>
                  <a:srgbClr val="1E293B"/>
                </a:solidFill>
              </a:rPr>
              <a:t>Data Type Corrections</a:t>
            </a:r>
            <a:endParaRPr lang="en-US" sz="1100" dirty="0"/>
          </a:p>
        </p:txBody>
      </p:sp>
      <p:sp>
        <p:nvSpPr>
          <p:cNvPr id="32" name="Text 30"/>
          <p:cNvSpPr/>
          <p:nvPr/>
        </p:nvSpPr>
        <p:spPr>
          <a:xfrm>
            <a:off x="4846320" y="2871216"/>
            <a:ext cx="3840480" cy="384048"/>
          </a:xfrm>
          <a:prstGeom prst="rect">
            <a:avLst/>
          </a:prstGeom>
          <a:noFill/>
          <a:ln/>
        </p:spPr>
        <p:txBody>
          <a:bodyPr wrap="square" rtlCol="0" anchor="ctr"/>
          <a:lstStyle/>
          <a:p>
            <a:pPr marL="0" indent="0">
              <a:buNone/>
            </a:pPr>
            <a:r>
              <a:rPr lang="en-US" sz="880" dirty="0">
                <a:solidFill>
                  <a:srgbClr val="1E293B"/>
                </a:solidFill>
              </a:rPr>
              <a:t>Action: Converted Date column from string to datetime. Converted AvgTalkDuration from decimal (days) to minutes. Corrected Satisfaction rating to integer.</a:t>
            </a:r>
            <a:endParaRPr lang="en-US" sz="880" dirty="0"/>
          </a:p>
        </p:txBody>
      </p:sp>
      <p:sp>
        <p:nvSpPr>
          <p:cNvPr id="33" name="Text 31"/>
          <p:cNvSpPr/>
          <p:nvPr/>
        </p:nvSpPr>
        <p:spPr>
          <a:xfrm>
            <a:off x="4846320" y="3255264"/>
            <a:ext cx="3840480" cy="320040"/>
          </a:xfrm>
          <a:prstGeom prst="rect">
            <a:avLst/>
          </a:prstGeom>
          <a:noFill/>
          <a:ln/>
        </p:spPr>
        <p:txBody>
          <a:bodyPr wrap="square" rtlCol="0" anchor="ctr"/>
          <a:lstStyle/>
          <a:p>
            <a:pPr marL="0" indent="0">
              <a:buNone/>
            </a:pPr>
            <a:r>
              <a:rPr lang="en-US" sz="880" b="1" dirty="0">
                <a:solidFill>
                  <a:srgbClr val="10B981"/>
                </a:solidFill>
              </a:rPr>
              <a:t>✔ All fields now have correct, analysis-ready data types.</a:t>
            </a:r>
            <a:endParaRPr lang="en-US" sz="880" dirty="0"/>
          </a:p>
        </p:txBody>
      </p:sp>
      <p:sp>
        <p:nvSpPr>
          <p:cNvPr id="34" name="Shape 32"/>
          <p:cNvSpPr/>
          <p:nvPr/>
        </p:nvSpPr>
        <p:spPr>
          <a:xfrm>
            <a:off x="320040" y="3785616"/>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5" name="Shape 33"/>
          <p:cNvSpPr/>
          <p:nvPr/>
        </p:nvSpPr>
        <p:spPr>
          <a:xfrm>
            <a:off x="320040" y="3785616"/>
            <a:ext cx="64008" cy="1170432"/>
          </a:xfrm>
          <a:prstGeom prst="rect">
            <a:avLst/>
          </a:prstGeom>
          <a:solidFill>
            <a:srgbClr val="1B2A4A"/>
          </a:solidFill>
          <a:ln w="12700">
            <a:solidFill>
              <a:srgbClr val="1B2A4A"/>
            </a:solidFill>
            <a:prstDash val="solid"/>
          </a:ln>
        </p:spPr>
      </p:sp>
      <p:sp>
        <p:nvSpPr>
          <p:cNvPr id="36" name="Shape 34"/>
          <p:cNvSpPr/>
          <p:nvPr/>
        </p:nvSpPr>
        <p:spPr>
          <a:xfrm>
            <a:off x="457200" y="3877056"/>
            <a:ext cx="640080" cy="256032"/>
          </a:xfrm>
          <a:prstGeom prst="rect">
            <a:avLst/>
          </a:prstGeom>
          <a:solidFill>
            <a:srgbClr val="1B2A4A"/>
          </a:solidFill>
          <a:ln w="12700">
            <a:solidFill>
              <a:srgbClr val="1B2A4A"/>
            </a:solidFill>
            <a:prstDash val="solid"/>
          </a:ln>
        </p:spPr>
      </p:sp>
      <p:sp>
        <p:nvSpPr>
          <p:cNvPr id="37" name="Text 35"/>
          <p:cNvSpPr/>
          <p:nvPr/>
        </p:nvSpPr>
        <p:spPr>
          <a:xfrm>
            <a:off x="457200" y="3877056"/>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5</a:t>
            </a:r>
            <a:endParaRPr lang="en-US" sz="850" dirty="0"/>
          </a:p>
        </p:txBody>
      </p:sp>
      <p:sp>
        <p:nvSpPr>
          <p:cNvPr id="38" name="Text 36"/>
          <p:cNvSpPr/>
          <p:nvPr/>
        </p:nvSpPr>
        <p:spPr>
          <a:xfrm>
            <a:off x="1188720" y="3858768"/>
            <a:ext cx="3200400" cy="292608"/>
          </a:xfrm>
          <a:prstGeom prst="rect">
            <a:avLst/>
          </a:prstGeom>
          <a:noFill/>
          <a:ln/>
        </p:spPr>
        <p:txBody>
          <a:bodyPr wrap="square" rtlCol="0" anchor="ctr"/>
          <a:lstStyle/>
          <a:p>
            <a:pPr marL="0" indent="0">
              <a:buNone/>
            </a:pPr>
            <a:r>
              <a:rPr lang="en-US" sz="1100" b="1" dirty="0">
                <a:solidFill>
                  <a:srgbClr val="1E293B"/>
                </a:solidFill>
              </a:rPr>
              <a:t>Standardized Labels</a:t>
            </a:r>
            <a:endParaRPr lang="en-US" sz="1100" dirty="0"/>
          </a:p>
        </p:txBody>
      </p:sp>
      <p:sp>
        <p:nvSpPr>
          <p:cNvPr id="39" name="Text 37"/>
          <p:cNvSpPr/>
          <p:nvPr/>
        </p:nvSpPr>
        <p:spPr>
          <a:xfrm>
            <a:off x="502920" y="4169664"/>
            <a:ext cx="3840480" cy="384048"/>
          </a:xfrm>
          <a:prstGeom prst="rect">
            <a:avLst/>
          </a:prstGeom>
          <a:noFill/>
          <a:ln/>
        </p:spPr>
        <p:txBody>
          <a:bodyPr wrap="square" rtlCol="0" anchor="ctr"/>
          <a:lstStyle/>
          <a:p>
            <a:pPr marL="0" indent="0">
              <a:buNone/>
            </a:pPr>
            <a:r>
              <a:rPr lang="en-US" sz="880" dirty="0">
                <a:solidFill>
                  <a:srgbClr val="1E293B"/>
                </a:solidFill>
              </a:rPr>
              <a:t>Action: Verified consistent capitalization in Agent names, Topic categories, and Y/N flags. No casing issues found in this cleaned version.</a:t>
            </a:r>
            <a:endParaRPr lang="en-US" sz="880" dirty="0"/>
          </a:p>
        </p:txBody>
      </p:sp>
      <p:sp>
        <p:nvSpPr>
          <p:cNvPr id="40" name="Text 38"/>
          <p:cNvSpPr/>
          <p:nvPr/>
        </p:nvSpPr>
        <p:spPr>
          <a:xfrm>
            <a:off x="502920" y="4553712"/>
            <a:ext cx="3840480" cy="320040"/>
          </a:xfrm>
          <a:prstGeom prst="rect">
            <a:avLst/>
          </a:prstGeom>
          <a:noFill/>
          <a:ln/>
        </p:spPr>
        <p:txBody>
          <a:bodyPr wrap="square" rtlCol="0" anchor="ctr"/>
          <a:lstStyle/>
          <a:p>
            <a:pPr marL="0" indent="0">
              <a:buNone/>
            </a:pPr>
            <a:r>
              <a:rPr lang="en-US" sz="880" b="1" dirty="0">
                <a:solidFill>
                  <a:srgbClr val="10B981"/>
                </a:solidFill>
              </a:rPr>
              <a:t>✔ Uniform labels enable accurate GROUP BY aggregations.</a:t>
            </a:r>
            <a:endParaRPr lang="en-US" sz="880" dirty="0"/>
          </a:p>
        </p:txBody>
      </p:sp>
      <p:sp>
        <p:nvSpPr>
          <p:cNvPr id="44" name="Text 42"/>
          <p:cNvSpPr/>
          <p:nvPr/>
        </p:nvSpPr>
        <p:spPr>
          <a:xfrm>
            <a:off x="4800600" y="3877056"/>
            <a:ext cx="640080" cy="256032"/>
          </a:xfrm>
          <a:prstGeom prst="rect">
            <a:avLst/>
          </a:prstGeom>
          <a:noFill/>
          <a:ln/>
        </p:spPr>
        <p:txBody>
          <a:bodyPr wrap="square" lIns="0" tIns="0" rIns="0" bIns="0" rtlCol="0" anchor="ctr"/>
          <a:lstStyle/>
          <a:p>
            <a:pPr marL="0" indent="0" algn="ctr">
              <a:buNone/>
            </a:pPr>
            <a:r>
              <a:rPr lang="en-US" sz="850" b="1" dirty="0">
                <a:solidFill>
                  <a:srgbClr val="FFFFFF"/>
                </a:solidFill>
              </a:rPr>
              <a:t>Step 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Data Transformation</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New Columns, Calculated Fields &amp; Aggregations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1480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783080"/>
          </a:xfrm>
          <a:prstGeom prst="rect">
            <a:avLst/>
          </a:prstGeom>
          <a:solidFill>
            <a:srgbClr val="0D7377"/>
          </a:solidFill>
          <a:ln w="12700">
            <a:solidFill>
              <a:srgbClr val="0D7377"/>
            </a:solidFill>
            <a:prstDash val="solid"/>
          </a:ln>
        </p:spPr>
      </p:sp>
      <p:sp>
        <p:nvSpPr>
          <p:cNvPr id="8" name="Text 6"/>
          <p:cNvSpPr/>
          <p:nvPr/>
        </p:nvSpPr>
        <p:spPr>
          <a:xfrm>
            <a:off x="502920" y="1252728"/>
            <a:ext cx="3840480" cy="292608"/>
          </a:xfrm>
          <a:prstGeom prst="rect">
            <a:avLst/>
          </a:prstGeom>
          <a:noFill/>
          <a:ln/>
        </p:spPr>
        <p:txBody>
          <a:bodyPr wrap="square" rtlCol="0" anchor="ctr"/>
          <a:lstStyle/>
          <a:p>
            <a:pPr marL="0" indent="0">
              <a:buNone/>
            </a:pPr>
            <a:r>
              <a:rPr lang="en-US" sz="1200" b="1" dirty="0">
                <a:solidFill>
                  <a:srgbClr val="1B2A4A"/>
                </a:solidFill>
              </a:rPr>
              <a:t>New Columns Created</a:t>
            </a:r>
            <a:endParaRPr lang="en-US" sz="1200" dirty="0"/>
          </a:p>
        </p:txBody>
      </p:sp>
      <p:sp>
        <p:nvSpPr>
          <p:cNvPr id="9" name="Text 7"/>
          <p:cNvSpPr/>
          <p:nvPr/>
        </p:nvSpPr>
        <p:spPr>
          <a:xfrm>
            <a:off x="548640" y="1536192"/>
            <a:ext cx="3794760" cy="1371600"/>
          </a:xfrm>
          <a:prstGeom prst="rect">
            <a:avLst/>
          </a:prstGeom>
          <a:noFill/>
          <a:ln/>
        </p:spPr>
        <p:txBody>
          <a:bodyPr wrap="square" rtlCol="0" anchor="ctr"/>
          <a:lstStyle/>
          <a:p>
            <a:pPr marL="342900" indent="-342900">
              <a:buSzPct val="100000"/>
              <a:buChar char="•"/>
            </a:pPr>
            <a:r>
              <a:rPr lang="en-US" sz="1000" dirty="0">
                <a:solidFill>
                  <a:srgbClr val="1E293B"/>
                </a:solidFill>
              </a:rPr>
              <a:t>Resolution Rate (%): (Resolved=Y / Answered=Y) × 100 per agent</a:t>
            </a:r>
            <a:endParaRPr lang="en-US" sz="1000" dirty="0"/>
          </a:p>
          <a:p>
            <a:pPr marL="342900" indent="-342900">
              <a:buSzPct val="100000"/>
              <a:buChar char="•"/>
            </a:pPr>
            <a:r>
              <a:rPr lang="en-US" sz="1000" dirty="0">
                <a:solidFill>
                  <a:srgbClr val="1E293B"/>
                </a:solidFill>
              </a:rPr>
              <a:t>Talk Duration (Minutes): AvgTalkDuration × 1440 (converted from Excel decimal day fraction)</a:t>
            </a:r>
            <a:endParaRPr lang="en-US" sz="1000" dirty="0"/>
          </a:p>
          <a:p>
            <a:pPr marL="342900" indent="-342900">
              <a:buSzPct val="100000"/>
              <a:buChar char="•"/>
            </a:pPr>
            <a:r>
              <a:rPr lang="en-US" sz="1000" dirty="0">
                <a:solidFill>
                  <a:srgbClr val="1E293B"/>
                </a:solidFill>
              </a:rPr>
              <a:t>Month: Extracted from Date column for monthly trend analysis</a:t>
            </a:r>
            <a:endParaRPr lang="en-US" sz="1000" dirty="0"/>
          </a:p>
          <a:p>
            <a:pPr marL="342900" indent="-342900">
              <a:buSzPct val="100000"/>
              <a:buChar char="•"/>
            </a:pPr>
            <a:r>
              <a:rPr lang="en-US" sz="1000" dirty="0">
                <a:solidFill>
                  <a:srgbClr val="1E293B"/>
                </a:solidFill>
              </a:rPr>
              <a:t>Answer Efficiency: Binary flag — calls answered within 60s = 'On-time'</a:t>
            </a:r>
            <a:endParaRPr lang="en-US" sz="1000" dirty="0"/>
          </a:p>
          <a:p>
            <a:pPr marL="342900" indent="-342900">
              <a:buSzPct val="100000"/>
              <a:buChar char="•"/>
            </a:pPr>
            <a:r>
              <a:rPr lang="en-US" sz="1000" dirty="0">
                <a:solidFill>
                  <a:srgbClr val="1E293B"/>
                </a:solidFill>
              </a:rPr>
              <a:t>Satisfaction Band: Grouped 1–2=Poor, 3=Neutral, 4–5=Good/Excellent</a:t>
            </a:r>
            <a:endParaRPr lang="en-US" sz="1000" dirty="0"/>
          </a:p>
        </p:txBody>
      </p:sp>
      <p:sp>
        <p:nvSpPr>
          <p:cNvPr id="10" name="Shape 8"/>
          <p:cNvSpPr/>
          <p:nvPr/>
        </p:nvSpPr>
        <p:spPr>
          <a:xfrm>
            <a:off x="4709160" y="1188720"/>
            <a:ext cx="411480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4709160" y="1188720"/>
            <a:ext cx="64008" cy="1783080"/>
          </a:xfrm>
          <a:prstGeom prst="rect">
            <a:avLst/>
          </a:prstGeom>
          <a:solidFill>
            <a:srgbClr val="1B2A4A"/>
          </a:solidFill>
          <a:ln w="12700">
            <a:solidFill>
              <a:srgbClr val="1B2A4A"/>
            </a:solidFill>
            <a:prstDash val="solid"/>
          </a:ln>
        </p:spPr>
      </p:sp>
      <p:sp>
        <p:nvSpPr>
          <p:cNvPr id="12" name="Text 10"/>
          <p:cNvSpPr/>
          <p:nvPr/>
        </p:nvSpPr>
        <p:spPr>
          <a:xfrm>
            <a:off x="4892040" y="1252728"/>
            <a:ext cx="3840480" cy="292608"/>
          </a:xfrm>
          <a:prstGeom prst="rect">
            <a:avLst/>
          </a:prstGeom>
          <a:noFill/>
          <a:ln/>
        </p:spPr>
        <p:txBody>
          <a:bodyPr wrap="square" rtlCol="0" anchor="ctr"/>
          <a:lstStyle/>
          <a:p>
            <a:pPr marL="0" indent="0">
              <a:buNone/>
            </a:pPr>
            <a:r>
              <a:rPr lang="en-US" sz="1200" b="1" dirty="0">
                <a:solidFill>
                  <a:srgbClr val="1B2A4A"/>
                </a:solidFill>
              </a:rPr>
              <a:t>Aggregations Performed</a:t>
            </a:r>
            <a:endParaRPr lang="en-US" sz="1200" dirty="0"/>
          </a:p>
        </p:txBody>
      </p:sp>
      <p:sp>
        <p:nvSpPr>
          <p:cNvPr id="13" name="Text 11"/>
          <p:cNvSpPr/>
          <p:nvPr/>
        </p:nvSpPr>
        <p:spPr>
          <a:xfrm>
            <a:off x="4937760" y="1536192"/>
            <a:ext cx="3794760" cy="1371600"/>
          </a:xfrm>
          <a:prstGeom prst="rect">
            <a:avLst/>
          </a:prstGeom>
          <a:noFill/>
          <a:ln/>
        </p:spPr>
        <p:txBody>
          <a:bodyPr wrap="square" rtlCol="0" anchor="ctr"/>
          <a:lstStyle/>
          <a:p>
            <a:pPr marL="342900" indent="-342900">
              <a:buSzPct val="100000"/>
              <a:buChar char="•"/>
            </a:pPr>
            <a:r>
              <a:rPr lang="en-US" sz="1000" dirty="0">
                <a:solidFill>
                  <a:srgbClr val="1E293B"/>
                </a:solidFill>
              </a:rPr>
              <a:t>Agent-level summary: Count of calls answered, resolved, avg CSAT, avg speed</a:t>
            </a:r>
            <a:endParaRPr lang="en-US" sz="1000" dirty="0"/>
          </a:p>
          <a:p>
            <a:pPr marL="342900" indent="-342900">
              <a:buSzPct val="100000"/>
              <a:buChar char="•"/>
            </a:pPr>
            <a:r>
              <a:rPr lang="en-US" sz="1000" dirty="0">
                <a:solidFill>
                  <a:srgbClr val="1E293B"/>
                </a:solidFill>
              </a:rPr>
              <a:t>Topic-level rollup: Call volume by topic per agent — 5×8 pivot matrix</a:t>
            </a:r>
            <a:endParaRPr lang="en-US" sz="1000" dirty="0"/>
          </a:p>
          <a:p>
            <a:pPr marL="342900" indent="-342900">
              <a:buSzPct val="100000"/>
              <a:buChar char="•"/>
            </a:pPr>
            <a:r>
              <a:rPr lang="en-US" sz="1000" dirty="0">
                <a:solidFill>
                  <a:srgbClr val="1E293B"/>
                </a:solidFill>
              </a:rPr>
              <a:t>Monthly trend: Call volume and resolution rate tracked across Jan–Mar 2021</a:t>
            </a:r>
            <a:endParaRPr lang="en-US" sz="1000" dirty="0"/>
          </a:p>
          <a:p>
            <a:pPr marL="342900" indent="-342900">
              <a:buSzPct val="100000"/>
              <a:buChar char="•"/>
            </a:pPr>
            <a:r>
              <a:rPr lang="en-US" sz="1000" dirty="0">
                <a:solidFill>
                  <a:srgbClr val="1E293B"/>
                </a:solidFill>
              </a:rPr>
              <a:t>CSAT distribution: Frequency count of ratings 1–5 for team and individual level</a:t>
            </a:r>
            <a:endParaRPr lang="en-US" sz="1000" dirty="0"/>
          </a:p>
          <a:p>
            <a:pPr marL="342900" indent="-342900">
              <a:buSzPct val="100000"/>
              <a:buChar char="•"/>
            </a:pPr>
            <a:r>
              <a:rPr lang="en-US" sz="1000" dirty="0">
                <a:solidFill>
                  <a:srgbClr val="1E293B"/>
                </a:solidFill>
              </a:rPr>
              <a:t>KPI scorecard: Composite ranking across 4 metrics per agent</a:t>
            </a:r>
            <a:endParaRPr lang="en-US" sz="1000" dirty="0"/>
          </a:p>
        </p:txBody>
      </p:sp>
      <p:sp>
        <p:nvSpPr>
          <p:cNvPr id="14" name="Shape 12"/>
          <p:cNvSpPr/>
          <p:nvPr/>
        </p:nvSpPr>
        <p:spPr>
          <a:xfrm>
            <a:off x="320040" y="3154680"/>
            <a:ext cx="201168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3154680"/>
            <a:ext cx="2011680" cy="54864"/>
          </a:xfrm>
          <a:prstGeom prst="rect">
            <a:avLst/>
          </a:prstGeom>
          <a:solidFill>
            <a:srgbClr val="0D7377"/>
          </a:solidFill>
          <a:ln w="12700">
            <a:solidFill>
              <a:srgbClr val="0D7377"/>
            </a:solidFill>
            <a:prstDash val="solid"/>
          </a:ln>
        </p:spPr>
      </p:sp>
      <p:sp>
        <p:nvSpPr>
          <p:cNvPr id="16" name="Text 14"/>
          <p:cNvSpPr/>
          <p:nvPr/>
        </p:nvSpPr>
        <p:spPr>
          <a:xfrm>
            <a:off x="429768" y="3246120"/>
            <a:ext cx="1828800" cy="320040"/>
          </a:xfrm>
          <a:prstGeom prst="rect">
            <a:avLst/>
          </a:prstGeom>
          <a:noFill/>
          <a:ln/>
        </p:spPr>
        <p:txBody>
          <a:bodyPr wrap="square" rtlCol="0" anchor="ctr"/>
          <a:lstStyle/>
          <a:p>
            <a:pPr marL="0" indent="0">
              <a:buNone/>
            </a:pPr>
            <a:r>
              <a:rPr lang="en-US" sz="1050" b="1" dirty="0">
                <a:solidFill>
                  <a:srgbClr val="1B2A4A"/>
                </a:solidFill>
              </a:rPr>
              <a:t>Resolution Rate</a:t>
            </a:r>
            <a:endParaRPr lang="en-US" sz="1050" dirty="0"/>
          </a:p>
        </p:txBody>
      </p:sp>
      <p:sp>
        <p:nvSpPr>
          <p:cNvPr id="17" name="Text 15"/>
          <p:cNvSpPr/>
          <p:nvPr/>
        </p:nvSpPr>
        <p:spPr>
          <a:xfrm>
            <a:off x="429768" y="3566160"/>
            <a:ext cx="1828800" cy="201168"/>
          </a:xfrm>
          <a:prstGeom prst="rect">
            <a:avLst/>
          </a:prstGeom>
          <a:noFill/>
          <a:ln/>
        </p:spPr>
        <p:txBody>
          <a:bodyPr wrap="square" rtlCol="0" anchor="ctr"/>
          <a:lstStyle/>
          <a:p>
            <a:pPr marL="0" indent="0">
              <a:buNone/>
            </a:pPr>
            <a:r>
              <a:rPr lang="en-US" sz="850" b="1" dirty="0">
                <a:solidFill>
                  <a:srgbClr val="64748B"/>
                </a:solidFill>
              </a:rPr>
              <a:t>Formula:</a:t>
            </a:r>
            <a:endParaRPr lang="en-US" sz="850" dirty="0"/>
          </a:p>
        </p:txBody>
      </p:sp>
      <p:sp>
        <p:nvSpPr>
          <p:cNvPr id="18" name="Text 16"/>
          <p:cNvSpPr/>
          <p:nvPr/>
        </p:nvSpPr>
        <p:spPr>
          <a:xfrm>
            <a:off x="429768" y="3749040"/>
            <a:ext cx="1828800" cy="411480"/>
          </a:xfrm>
          <a:prstGeom prst="rect">
            <a:avLst/>
          </a:prstGeom>
          <a:noFill/>
          <a:ln/>
        </p:spPr>
        <p:txBody>
          <a:bodyPr wrap="square" rtlCol="0" anchor="ctr"/>
          <a:lstStyle/>
          <a:p>
            <a:pPr marL="0" indent="0">
              <a:buNone/>
            </a:pPr>
            <a:r>
              <a:rPr lang="en-US" sz="850" dirty="0">
                <a:solidFill>
                  <a:srgbClr val="1E293B"/>
                </a:solidFill>
              </a:rPr>
              <a:t>(Resolved=Y ÷ Answered=Y) × 100</a:t>
            </a:r>
            <a:endParaRPr lang="en-US" sz="850" dirty="0"/>
          </a:p>
        </p:txBody>
      </p:sp>
      <p:sp>
        <p:nvSpPr>
          <p:cNvPr id="19" name="Text 17"/>
          <p:cNvSpPr/>
          <p:nvPr/>
        </p:nvSpPr>
        <p:spPr>
          <a:xfrm>
            <a:off x="429768" y="4206240"/>
            <a:ext cx="1828800" cy="502920"/>
          </a:xfrm>
          <a:prstGeom prst="rect">
            <a:avLst/>
          </a:prstGeom>
          <a:noFill/>
          <a:ln/>
        </p:spPr>
        <p:txBody>
          <a:bodyPr wrap="square" rtlCol="0" anchor="ctr"/>
          <a:lstStyle/>
          <a:p>
            <a:pPr marL="0" indent="0">
              <a:buNone/>
            </a:pPr>
            <a:r>
              <a:rPr lang="en-US" sz="850" i="1" dirty="0">
                <a:solidFill>
                  <a:srgbClr val="0D7377"/>
                </a:solidFill>
              </a:rPr>
              <a:t>e.g. Jim: 485÷536 × 100 = 90.5%</a:t>
            </a:r>
            <a:endParaRPr lang="en-US" sz="850" dirty="0"/>
          </a:p>
        </p:txBody>
      </p:sp>
      <p:sp>
        <p:nvSpPr>
          <p:cNvPr id="20" name="Shape 18"/>
          <p:cNvSpPr/>
          <p:nvPr/>
        </p:nvSpPr>
        <p:spPr>
          <a:xfrm>
            <a:off x="2468880" y="3154680"/>
            <a:ext cx="201168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1" name="Shape 19"/>
          <p:cNvSpPr/>
          <p:nvPr/>
        </p:nvSpPr>
        <p:spPr>
          <a:xfrm>
            <a:off x="2468880" y="3154680"/>
            <a:ext cx="2011680" cy="54864"/>
          </a:xfrm>
          <a:prstGeom prst="rect">
            <a:avLst/>
          </a:prstGeom>
          <a:solidFill>
            <a:srgbClr val="1B2A4A"/>
          </a:solidFill>
          <a:ln w="12700">
            <a:solidFill>
              <a:srgbClr val="1B2A4A"/>
            </a:solidFill>
            <a:prstDash val="solid"/>
          </a:ln>
        </p:spPr>
      </p:sp>
      <p:sp>
        <p:nvSpPr>
          <p:cNvPr id="22" name="Text 20"/>
          <p:cNvSpPr/>
          <p:nvPr/>
        </p:nvSpPr>
        <p:spPr>
          <a:xfrm>
            <a:off x="2578608" y="3246120"/>
            <a:ext cx="1828800" cy="320040"/>
          </a:xfrm>
          <a:prstGeom prst="rect">
            <a:avLst/>
          </a:prstGeom>
          <a:noFill/>
          <a:ln/>
        </p:spPr>
        <p:txBody>
          <a:bodyPr wrap="square" rtlCol="0" anchor="ctr"/>
          <a:lstStyle/>
          <a:p>
            <a:pPr marL="0" indent="0">
              <a:buNone/>
            </a:pPr>
            <a:r>
              <a:rPr lang="en-US" sz="1050" b="1" dirty="0">
                <a:solidFill>
                  <a:srgbClr val="1B2A4A"/>
                </a:solidFill>
              </a:rPr>
              <a:t>Talk Duration (min)</a:t>
            </a:r>
            <a:endParaRPr lang="en-US" sz="1050" dirty="0"/>
          </a:p>
        </p:txBody>
      </p:sp>
      <p:sp>
        <p:nvSpPr>
          <p:cNvPr id="23" name="Text 21"/>
          <p:cNvSpPr/>
          <p:nvPr/>
        </p:nvSpPr>
        <p:spPr>
          <a:xfrm>
            <a:off x="2578608" y="3566160"/>
            <a:ext cx="1828800" cy="201168"/>
          </a:xfrm>
          <a:prstGeom prst="rect">
            <a:avLst/>
          </a:prstGeom>
          <a:noFill/>
          <a:ln/>
        </p:spPr>
        <p:txBody>
          <a:bodyPr wrap="square" rtlCol="0" anchor="ctr"/>
          <a:lstStyle/>
          <a:p>
            <a:pPr marL="0" indent="0">
              <a:buNone/>
            </a:pPr>
            <a:r>
              <a:rPr lang="en-US" sz="850" b="1" dirty="0">
                <a:solidFill>
                  <a:srgbClr val="64748B"/>
                </a:solidFill>
              </a:rPr>
              <a:t>Formula:</a:t>
            </a:r>
            <a:endParaRPr lang="en-US" sz="850" dirty="0"/>
          </a:p>
        </p:txBody>
      </p:sp>
      <p:sp>
        <p:nvSpPr>
          <p:cNvPr id="24" name="Text 22"/>
          <p:cNvSpPr/>
          <p:nvPr/>
        </p:nvSpPr>
        <p:spPr>
          <a:xfrm>
            <a:off x="2578608" y="3749040"/>
            <a:ext cx="1828800" cy="411480"/>
          </a:xfrm>
          <a:prstGeom prst="rect">
            <a:avLst/>
          </a:prstGeom>
          <a:noFill/>
          <a:ln/>
        </p:spPr>
        <p:txBody>
          <a:bodyPr wrap="square" rtlCol="0" anchor="ctr"/>
          <a:lstStyle/>
          <a:p>
            <a:pPr marL="0" indent="0">
              <a:buNone/>
            </a:pPr>
            <a:r>
              <a:rPr lang="en-US" sz="850" dirty="0">
                <a:solidFill>
                  <a:srgbClr val="1E293B"/>
                </a:solidFill>
              </a:rPr>
              <a:t>AvgTalkDuration × 1440</a:t>
            </a:r>
            <a:endParaRPr lang="en-US" sz="850" dirty="0"/>
          </a:p>
        </p:txBody>
      </p:sp>
      <p:sp>
        <p:nvSpPr>
          <p:cNvPr id="25" name="Text 23"/>
          <p:cNvSpPr/>
          <p:nvPr/>
        </p:nvSpPr>
        <p:spPr>
          <a:xfrm>
            <a:off x="2578608" y="4206240"/>
            <a:ext cx="1828800" cy="502920"/>
          </a:xfrm>
          <a:prstGeom prst="rect">
            <a:avLst/>
          </a:prstGeom>
          <a:noFill/>
          <a:ln/>
        </p:spPr>
        <p:txBody>
          <a:bodyPr wrap="square" rtlCol="0" anchor="ctr"/>
          <a:lstStyle/>
          <a:p>
            <a:pPr marL="0" indent="0">
              <a:buNone/>
            </a:pPr>
            <a:r>
              <a:rPr lang="en-US" sz="850" i="1" dirty="0">
                <a:solidFill>
                  <a:srgbClr val="1B2A4A"/>
                </a:solidFill>
              </a:rPr>
              <a:t>e.g. 0.002083 × 1440 = 3.0 min</a:t>
            </a:r>
            <a:endParaRPr lang="en-US" sz="850" dirty="0"/>
          </a:p>
        </p:txBody>
      </p:sp>
      <p:sp>
        <p:nvSpPr>
          <p:cNvPr id="26" name="Shape 24"/>
          <p:cNvSpPr/>
          <p:nvPr/>
        </p:nvSpPr>
        <p:spPr>
          <a:xfrm>
            <a:off x="4617720" y="3154680"/>
            <a:ext cx="201168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7" name="Shape 25"/>
          <p:cNvSpPr/>
          <p:nvPr/>
        </p:nvSpPr>
        <p:spPr>
          <a:xfrm>
            <a:off x="4617720" y="3154680"/>
            <a:ext cx="2011680" cy="54864"/>
          </a:xfrm>
          <a:prstGeom prst="rect">
            <a:avLst/>
          </a:prstGeom>
          <a:solidFill>
            <a:srgbClr val="F5A623"/>
          </a:solidFill>
          <a:ln w="12700">
            <a:solidFill>
              <a:srgbClr val="F5A623"/>
            </a:solidFill>
            <a:prstDash val="solid"/>
          </a:ln>
        </p:spPr>
      </p:sp>
      <p:sp>
        <p:nvSpPr>
          <p:cNvPr id="28" name="Text 26"/>
          <p:cNvSpPr/>
          <p:nvPr/>
        </p:nvSpPr>
        <p:spPr>
          <a:xfrm>
            <a:off x="4727448" y="3246120"/>
            <a:ext cx="1828800" cy="320040"/>
          </a:xfrm>
          <a:prstGeom prst="rect">
            <a:avLst/>
          </a:prstGeom>
          <a:noFill/>
          <a:ln/>
        </p:spPr>
        <p:txBody>
          <a:bodyPr wrap="square" rtlCol="0" anchor="ctr"/>
          <a:lstStyle/>
          <a:p>
            <a:pPr marL="0" indent="0">
              <a:buNone/>
            </a:pPr>
            <a:r>
              <a:rPr lang="en-US" sz="1050" b="1" dirty="0">
                <a:solidFill>
                  <a:srgbClr val="1B2A4A"/>
                </a:solidFill>
              </a:rPr>
              <a:t>Satisfaction Band</a:t>
            </a:r>
            <a:endParaRPr lang="en-US" sz="1050" dirty="0"/>
          </a:p>
        </p:txBody>
      </p:sp>
      <p:sp>
        <p:nvSpPr>
          <p:cNvPr id="29" name="Text 27"/>
          <p:cNvSpPr/>
          <p:nvPr/>
        </p:nvSpPr>
        <p:spPr>
          <a:xfrm>
            <a:off x="4727448" y="3566160"/>
            <a:ext cx="1828800" cy="201168"/>
          </a:xfrm>
          <a:prstGeom prst="rect">
            <a:avLst/>
          </a:prstGeom>
          <a:noFill/>
          <a:ln/>
        </p:spPr>
        <p:txBody>
          <a:bodyPr wrap="square" rtlCol="0" anchor="ctr"/>
          <a:lstStyle/>
          <a:p>
            <a:pPr marL="0" indent="0">
              <a:buNone/>
            </a:pPr>
            <a:r>
              <a:rPr lang="en-US" sz="850" b="1" dirty="0">
                <a:solidFill>
                  <a:srgbClr val="64748B"/>
                </a:solidFill>
              </a:rPr>
              <a:t>Formula:</a:t>
            </a:r>
            <a:endParaRPr lang="en-US" sz="850" dirty="0"/>
          </a:p>
        </p:txBody>
      </p:sp>
      <p:sp>
        <p:nvSpPr>
          <p:cNvPr id="30" name="Text 28"/>
          <p:cNvSpPr/>
          <p:nvPr/>
        </p:nvSpPr>
        <p:spPr>
          <a:xfrm>
            <a:off x="4727448" y="3749040"/>
            <a:ext cx="1828800" cy="411480"/>
          </a:xfrm>
          <a:prstGeom prst="rect">
            <a:avLst/>
          </a:prstGeom>
          <a:noFill/>
          <a:ln/>
        </p:spPr>
        <p:txBody>
          <a:bodyPr wrap="square" rtlCol="0" anchor="ctr"/>
          <a:lstStyle/>
          <a:p>
            <a:pPr marL="0" indent="0">
              <a:buNone/>
            </a:pPr>
            <a:r>
              <a:rPr lang="en-US" sz="850" dirty="0">
                <a:solidFill>
                  <a:srgbClr val="1E293B"/>
                </a:solidFill>
              </a:rPr>
              <a:t>IF(Rating≤2,'Poor',IF(Rating=3,'Neutral','Good'))</a:t>
            </a:r>
            <a:endParaRPr lang="en-US" sz="850" dirty="0"/>
          </a:p>
        </p:txBody>
      </p:sp>
      <p:sp>
        <p:nvSpPr>
          <p:cNvPr id="31" name="Text 29"/>
          <p:cNvSpPr/>
          <p:nvPr/>
        </p:nvSpPr>
        <p:spPr>
          <a:xfrm>
            <a:off x="4727448" y="4206240"/>
            <a:ext cx="1828800" cy="502920"/>
          </a:xfrm>
          <a:prstGeom prst="rect">
            <a:avLst/>
          </a:prstGeom>
          <a:noFill/>
          <a:ln/>
        </p:spPr>
        <p:txBody>
          <a:bodyPr wrap="square" rtlCol="0" anchor="ctr"/>
          <a:lstStyle/>
          <a:p>
            <a:pPr marL="0" indent="0">
              <a:buNone/>
            </a:pPr>
            <a:r>
              <a:rPr lang="en-US" sz="850" i="1" dirty="0">
                <a:solidFill>
                  <a:srgbClr val="F5A623"/>
                </a:solidFill>
              </a:rPr>
              <a:t>e.g. Rating=4 → 'Good'</a:t>
            </a:r>
            <a:endParaRPr lang="en-US" sz="850" dirty="0"/>
          </a:p>
        </p:txBody>
      </p:sp>
      <p:sp>
        <p:nvSpPr>
          <p:cNvPr id="32" name="Shape 30"/>
          <p:cNvSpPr/>
          <p:nvPr/>
        </p:nvSpPr>
        <p:spPr>
          <a:xfrm>
            <a:off x="6766560" y="3154680"/>
            <a:ext cx="201168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3" name="Shape 31"/>
          <p:cNvSpPr/>
          <p:nvPr/>
        </p:nvSpPr>
        <p:spPr>
          <a:xfrm>
            <a:off x="6766560" y="3154680"/>
            <a:ext cx="2011680" cy="54864"/>
          </a:xfrm>
          <a:prstGeom prst="rect">
            <a:avLst/>
          </a:prstGeom>
          <a:solidFill>
            <a:srgbClr val="10B981"/>
          </a:solidFill>
          <a:ln w="12700">
            <a:solidFill>
              <a:srgbClr val="10B981"/>
            </a:solidFill>
            <a:prstDash val="solid"/>
          </a:ln>
        </p:spPr>
      </p:sp>
      <p:sp>
        <p:nvSpPr>
          <p:cNvPr id="34" name="Text 32"/>
          <p:cNvSpPr/>
          <p:nvPr/>
        </p:nvSpPr>
        <p:spPr>
          <a:xfrm>
            <a:off x="6876288" y="3246120"/>
            <a:ext cx="1828800" cy="320040"/>
          </a:xfrm>
          <a:prstGeom prst="rect">
            <a:avLst/>
          </a:prstGeom>
          <a:noFill/>
          <a:ln/>
        </p:spPr>
        <p:txBody>
          <a:bodyPr wrap="square" rtlCol="0" anchor="ctr"/>
          <a:lstStyle/>
          <a:p>
            <a:pPr marL="0" indent="0">
              <a:buNone/>
            </a:pPr>
            <a:r>
              <a:rPr lang="en-US" sz="1050" b="1" dirty="0">
                <a:solidFill>
                  <a:srgbClr val="1B2A4A"/>
                </a:solidFill>
              </a:rPr>
              <a:t>Answer Efficiency</a:t>
            </a:r>
            <a:endParaRPr lang="en-US" sz="1050" dirty="0"/>
          </a:p>
        </p:txBody>
      </p:sp>
      <p:sp>
        <p:nvSpPr>
          <p:cNvPr id="35" name="Text 33"/>
          <p:cNvSpPr/>
          <p:nvPr/>
        </p:nvSpPr>
        <p:spPr>
          <a:xfrm>
            <a:off x="6876288" y="3566160"/>
            <a:ext cx="1828800" cy="201168"/>
          </a:xfrm>
          <a:prstGeom prst="rect">
            <a:avLst/>
          </a:prstGeom>
          <a:noFill/>
          <a:ln/>
        </p:spPr>
        <p:txBody>
          <a:bodyPr wrap="square" rtlCol="0" anchor="ctr"/>
          <a:lstStyle/>
          <a:p>
            <a:pPr marL="0" indent="0">
              <a:buNone/>
            </a:pPr>
            <a:r>
              <a:rPr lang="en-US" sz="850" b="1" dirty="0">
                <a:solidFill>
                  <a:srgbClr val="64748B"/>
                </a:solidFill>
              </a:rPr>
              <a:t>Formula:</a:t>
            </a:r>
            <a:endParaRPr lang="en-US" sz="850" dirty="0"/>
          </a:p>
        </p:txBody>
      </p:sp>
      <p:sp>
        <p:nvSpPr>
          <p:cNvPr id="36" name="Text 34"/>
          <p:cNvSpPr/>
          <p:nvPr/>
        </p:nvSpPr>
        <p:spPr>
          <a:xfrm>
            <a:off x="6876288" y="3749040"/>
            <a:ext cx="1828800" cy="411480"/>
          </a:xfrm>
          <a:prstGeom prst="rect">
            <a:avLst/>
          </a:prstGeom>
          <a:noFill/>
          <a:ln/>
        </p:spPr>
        <p:txBody>
          <a:bodyPr wrap="square" rtlCol="0" anchor="ctr"/>
          <a:lstStyle/>
          <a:p>
            <a:pPr marL="0" indent="0">
              <a:buNone/>
            </a:pPr>
            <a:r>
              <a:rPr lang="en-US" sz="850" dirty="0">
                <a:solidFill>
                  <a:srgbClr val="1E293B"/>
                </a:solidFill>
              </a:rPr>
              <a:t>IF(Speed≤60,'On-time','Delayed')</a:t>
            </a:r>
            <a:endParaRPr lang="en-US" sz="850" dirty="0"/>
          </a:p>
        </p:txBody>
      </p:sp>
      <p:sp>
        <p:nvSpPr>
          <p:cNvPr id="37" name="Text 35"/>
          <p:cNvSpPr/>
          <p:nvPr/>
        </p:nvSpPr>
        <p:spPr>
          <a:xfrm>
            <a:off x="6876288" y="4206240"/>
            <a:ext cx="1828800" cy="502920"/>
          </a:xfrm>
          <a:prstGeom prst="rect">
            <a:avLst/>
          </a:prstGeom>
          <a:noFill/>
          <a:ln/>
        </p:spPr>
        <p:txBody>
          <a:bodyPr wrap="square" rtlCol="0" anchor="ctr"/>
          <a:lstStyle/>
          <a:p>
            <a:pPr marL="0" indent="0">
              <a:buNone/>
            </a:pPr>
            <a:r>
              <a:rPr lang="en-US" sz="850" i="1" dirty="0">
                <a:solidFill>
                  <a:srgbClr val="10B981"/>
                </a:solidFill>
              </a:rPr>
              <a:t>e.g. Speed=45s → 'On-time'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377"/>
          </a:solidFill>
          <a:ln w="12700">
            <a:solidFill>
              <a:srgbClr val="0D7377"/>
            </a:solidFill>
            <a:prstDash val="solid"/>
          </a:ln>
        </p:spPr>
      </p:sp>
      <p:sp>
        <p:nvSpPr>
          <p:cNvPr id="3" name="Text 1"/>
          <p:cNvSpPr/>
          <p:nvPr/>
        </p:nvSpPr>
        <p:spPr>
          <a:xfrm>
            <a:off x="411480" y="0"/>
            <a:ext cx="8321040" cy="822960"/>
          </a:xfrm>
          <a:prstGeom prst="rect">
            <a:avLst/>
          </a:prstGeom>
          <a:noFill/>
          <a:ln/>
        </p:spPr>
        <p:txBody>
          <a:bodyPr wrap="square" lIns="0" tIns="0" rIns="0" bIns="0" rtlCol="0" anchor="ctr"/>
          <a:lstStyle/>
          <a:p>
            <a:pPr marL="0" indent="0">
              <a:buNone/>
            </a:pPr>
            <a:r>
              <a:rPr lang="en-US" sz="2400" b="1" dirty="0">
                <a:solidFill>
                  <a:srgbClr val="FFFFFF"/>
                </a:solidFill>
              </a:rPr>
              <a:t>Tools &amp; Technologies Used</a:t>
            </a:r>
            <a:endParaRPr lang="en-US" sz="2400" dirty="0"/>
          </a:p>
        </p:txBody>
      </p:sp>
      <p:sp>
        <p:nvSpPr>
          <p:cNvPr id="4" name="Shape 2"/>
          <p:cNvSpPr/>
          <p:nvPr/>
        </p:nvSpPr>
        <p:spPr>
          <a:xfrm>
            <a:off x="320040" y="1051560"/>
            <a:ext cx="2743200" cy="182880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5" name="Shape 3"/>
          <p:cNvSpPr/>
          <p:nvPr/>
        </p:nvSpPr>
        <p:spPr>
          <a:xfrm>
            <a:off x="320040" y="1051560"/>
            <a:ext cx="2743200" cy="64008"/>
          </a:xfrm>
          <a:prstGeom prst="rect">
            <a:avLst/>
          </a:prstGeom>
          <a:solidFill>
            <a:srgbClr val="1E7145"/>
          </a:solidFill>
          <a:ln w="12700">
            <a:solidFill>
              <a:srgbClr val="1E7145"/>
            </a:solidFill>
            <a:prstDash val="solid"/>
          </a:ln>
        </p:spPr>
      </p:sp>
      <p:sp>
        <p:nvSpPr>
          <p:cNvPr id="6" name="Text 4"/>
          <p:cNvSpPr/>
          <p:nvPr/>
        </p:nvSpPr>
        <p:spPr>
          <a:xfrm>
            <a:off x="429768" y="1161288"/>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978408" y="1161288"/>
            <a:ext cx="1965960" cy="320040"/>
          </a:xfrm>
          <a:prstGeom prst="rect">
            <a:avLst/>
          </a:prstGeom>
          <a:noFill/>
          <a:ln/>
        </p:spPr>
        <p:txBody>
          <a:bodyPr wrap="square" rtlCol="0" anchor="ctr"/>
          <a:lstStyle/>
          <a:p>
            <a:pPr marL="0" indent="0">
              <a:buNone/>
            </a:pPr>
            <a:r>
              <a:rPr lang="en-US" sz="1200" b="1" dirty="0">
                <a:solidFill>
                  <a:srgbClr val="C00000"/>
                </a:solidFill>
              </a:rPr>
              <a:t>Microsoft Excel</a:t>
            </a:r>
            <a:endParaRPr lang="en-US" sz="1200" dirty="0">
              <a:solidFill>
                <a:srgbClr val="C00000"/>
              </a:solidFill>
            </a:endParaRPr>
          </a:p>
        </p:txBody>
      </p:sp>
      <p:sp>
        <p:nvSpPr>
          <p:cNvPr id="8" name="Text 6"/>
          <p:cNvSpPr/>
          <p:nvPr/>
        </p:nvSpPr>
        <p:spPr>
          <a:xfrm>
            <a:off x="978408" y="1481328"/>
            <a:ext cx="1965960" cy="274320"/>
          </a:xfrm>
          <a:prstGeom prst="rect">
            <a:avLst/>
          </a:prstGeom>
          <a:noFill/>
          <a:ln/>
        </p:spPr>
        <p:txBody>
          <a:bodyPr wrap="square" rtlCol="0" anchor="ctr"/>
          <a:lstStyle/>
          <a:p>
            <a:pPr marL="0" indent="0">
              <a:buNone/>
            </a:pPr>
            <a:r>
              <a:rPr lang="en-US" sz="900" i="1" dirty="0">
                <a:solidFill>
                  <a:srgbClr val="14BDEB"/>
                </a:solidFill>
              </a:rPr>
              <a:t>Primary Data Source &amp; Pivot Analysis</a:t>
            </a:r>
            <a:endParaRPr lang="en-US" sz="900" dirty="0"/>
          </a:p>
        </p:txBody>
      </p:sp>
      <p:sp>
        <p:nvSpPr>
          <p:cNvPr id="9" name="Text 7"/>
          <p:cNvSpPr/>
          <p:nvPr/>
        </p:nvSpPr>
        <p:spPr>
          <a:xfrm>
            <a:off x="429768" y="1828800"/>
            <a:ext cx="2523744" cy="960120"/>
          </a:xfrm>
          <a:prstGeom prst="rect">
            <a:avLst/>
          </a:prstGeom>
          <a:noFill/>
          <a:ln/>
        </p:spPr>
        <p:txBody>
          <a:bodyPr wrap="square" rtlCol="0" anchor="ctr"/>
          <a:lstStyle/>
          <a:p>
            <a:pPr marL="0" indent="0">
              <a:buNone/>
            </a:pPr>
            <a:r>
              <a:rPr lang="en-US" sz="900" dirty="0">
                <a:solidFill>
                  <a:schemeClr val="accent2">
                    <a:lumMod val="50000"/>
                  </a:schemeClr>
                </a:solidFill>
              </a:rPr>
              <a:t>Used as the primary data repository. PivotTables and PivotCharts were employed to build the interactive dashboard with agent and topic filters.</a:t>
            </a:r>
          </a:p>
        </p:txBody>
      </p:sp>
      <p:sp>
        <p:nvSpPr>
          <p:cNvPr id="10" name="Shape 8"/>
          <p:cNvSpPr/>
          <p:nvPr/>
        </p:nvSpPr>
        <p:spPr>
          <a:xfrm>
            <a:off x="3227832" y="1051560"/>
            <a:ext cx="2743200" cy="182880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1" name="Shape 9"/>
          <p:cNvSpPr/>
          <p:nvPr/>
        </p:nvSpPr>
        <p:spPr>
          <a:xfrm>
            <a:off x="3227832" y="1051560"/>
            <a:ext cx="2743200" cy="64008"/>
          </a:xfrm>
          <a:prstGeom prst="rect">
            <a:avLst/>
          </a:prstGeom>
          <a:solidFill>
            <a:srgbClr val="0078D4"/>
          </a:solidFill>
          <a:ln w="12700">
            <a:solidFill>
              <a:srgbClr val="0078D4"/>
            </a:solidFill>
            <a:prstDash val="solid"/>
          </a:ln>
        </p:spPr>
      </p:sp>
      <p:sp>
        <p:nvSpPr>
          <p:cNvPr id="12" name="Text 10"/>
          <p:cNvSpPr/>
          <p:nvPr/>
        </p:nvSpPr>
        <p:spPr>
          <a:xfrm>
            <a:off x="3337560" y="1161288"/>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886200" y="1161288"/>
            <a:ext cx="1965960" cy="320040"/>
          </a:xfrm>
          <a:prstGeom prst="rect">
            <a:avLst/>
          </a:prstGeom>
          <a:noFill/>
          <a:ln/>
        </p:spPr>
        <p:txBody>
          <a:bodyPr wrap="square" rtlCol="0" anchor="ctr"/>
          <a:lstStyle/>
          <a:p>
            <a:pPr marL="0" indent="0">
              <a:buNone/>
            </a:pPr>
            <a:r>
              <a:rPr lang="en-US" sz="1200" b="1" dirty="0">
                <a:solidFill>
                  <a:srgbClr val="C00000"/>
                </a:solidFill>
              </a:rPr>
              <a:t>Power Query</a:t>
            </a:r>
            <a:endParaRPr lang="en-US" sz="1200" dirty="0">
              <a:solidFill>
                <a:srgbClr val="C00000"/>
              </a:solidFill>
            </a:endParaRPr>
          </a:p>
        </p:txBody>
      </p:sp>
      <p:sp>
        <p:nvSpPr>
          <p:cNvPr id="14" name="Text 12"/>
          <p:cNvSpPr/>
          <p:nvPr/>
        </p:nvSpPr>
        <p:spPr>
          <a:xfrm>
            <a:off x="3886200" y="1481328"/>
            <a:ext cx="1965960" cy="274320"/>
          </a:xfrm>
          <a:prstGeom prst="rect">
            <a:avLst/>
          </a:prstGeom>
          <a:noFill/>
          <a:ln/>
        </p:spPr>
        <p:txBody>
          <a:bodyPr wrap="square" rtlCol="0" anchor="ctr"/>
          <a:lstStyle/>
          <a:p>
            <a:pPr marL="0" indent="0">
              <a:buNone/>
            </a:pPr>
            <a:r>
              <a:rPr lang="en-US" sz="900" i="1" dirty="0">
                <a:solidFill>
                  <a:srgbClr val="14BDEB"/>
                </a:solidFill>
              </a:rPr>
              <a:t>Data Cleaning &amp; Transformation</a:t>
            </a:r>
            <a:endParaRPr lang="en-US" sz="900" dirty="0"/>
          </a:p>
        </p:txBody>
      </p:sp>
      <p:sp>
        <p:nvSpPr>
          <p:cNvPr id="15" name="Text 13"/>
          <p:cNvSpPr/>
          <p:nvPr/>
        </p:nvSpPr>
        <p:spPr>
          <a:xfrm>
            <a:off x="3337560" y="1828800"/>
            <a:ext cx="2523744" cy="960120"/>
          </a:xfrm>
          <a:prstGeom prst="rect">
            <a:avLst/>
          </a:prstGeom>
          <a:noFill/>
          <a:ln/>
        </p:spPr>
        <p:txBody>
          <a:bodyPr wrap="square" rtlCol="0" anchor="ctr"/>
          <a:lstStyle/>
          <a:p>
            <a:pPr marL="0" indent="0">
              <a:buNone/>
            </a:pPr>
            <a:r>
              <a:rPr lang="en-US" sz="900" dirty="0">
                <a:solidFill>
                  <a:schemeClr val="accent2">
                    <a:lumMod val="50000"/>
                  </a:schemeClr>
                </a:solidFill>
              </a:rPr>
              <a:t>Applied within Excel to reshape the dataset — removing empty columns, correcting data types, and creating calculated fields for resolution rate and talk duration.</a:t>
            </a:r>
          </a:p>
        </p:txBody>
      </p:sp>
      <p:sp>
        <p:nvSpPr>
          <p:cNvPr id="16" name="Shape 14"/>
          <p:cNvSpPr/>
          <p:nvPr/>
        </p:nvSpPr>
        <p:spPr>
          <a:xfrm>
            <a:off x="6135624" y="1051560"/>
            <a:ext cx="2743200" cy="182880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7" name="Shape 15"/>
          <p:cNvSpPr/>
          <p:nvPr/>
        </p:nvSpPr>
        <p:spPr>
          <a:xfrm>
            <a:off x="6135624" y="1051560"/>
            <a:ext cx="2743200" cy="64008"/>
          </a:xfrm>
          <a:prstGeom prst="rect">
            <a:avLst/>
          </a:prstGeom>
          <a:solidFill>
            <a:srgbClr val="F25022"/>
          </a:solidFill>
          <a:ln w="12700">
            <a:solidFill>
              <a:srgbClr val="F25022"/>
            </a:solidFill>
            <a:prstDash val="solid"/>
          </a:ln>
        </p:spPr>
      </p:sp>
      <p:sp>
        <p:nvSpPr>
          <p:cNvPr id="18" name="Text 16"/>
          <p:cNvSpPr/>
          <p:nvPr/>
        </p:nvSpPr>
        <p:spPr>
          <a:xfrm>
            <a:off x="6245352" y="1161288"/>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6793992" y="1161288"/>
            <a:ext cx="1965960" cy="320040"/>
          </a:xfrm>
          <a:prstGeom prst="rect">
            <a:avLst/>
          </a:prstGeom>
          <a:noFill/>
          <a:ln/>
        </p:spPr>
        <p:txBody>
          <a:bodyPr wrap="square" rtlCol="0" anchor="ctr"/>
          <a:lstStyle/>
          <a:p>
            <a:pPr marL="0" indent="0">
              <a:buNone/>
            </a:pPr>
            <a:r>
              <a:rPr lang="en-US" sz="1200" b="1" dirty="0">
                <a:solidFill>
                  <a:srgbClr val="C00000"/>
                </a:solidFill>
              </a:rPr>
              <a:t>Excel Dashboard</a:t>
            </a:r>
            <a:endParaRPr lang="en-US" sz="1200" dirty="0">
              <a:solidFill>
                <a:srgbClr val="C00000"/>
              </a:solidFill>
            </a:endParaRPr>
          </a:p>
        </p:txBody>
      </p:sp>
      <p:sp>
        <p:nvSpPr>
          <p:cNvPr id="20" name="Text 18"/>
          <p:cNvSpPr/>
          <p:nvPr/>
        </p:nvSpPr>
        <p:spPr>
          <a:xfrm>
            <a:off x="6793992" y="1481328"/>
            <a:ext cx="1965960" cy="274320"/>
          </a:xfrm>
          <a:prstGeom prst="rect">
            <a:avLst/>
          </a:prstGeom>
          <a:noFill/>
          <a:ln/>
        </p:spPr>
        <p:txBody>
          <a:bodyPr wrap="square" rtlCol="0" anchor="ctr"/>
          <a:lstStyle/>
          <a:p>
            <a:pPr marL="0" indent="0">
              <a:buNone/>
            </a:pPr>
            <a:r>
              <a:rPr lang="en-US" sz="900" i="1" dirty="0">
                <a:solidFill>
                  <a:srgbClr val="14BDEB"/>
                </a:solidFill>
              </a:rPr>
              <a:t>KPI Visualization &amp; Reporting</a:t>
            </a:r>
            <a:endParaRPr lang="en-US" sz="900" dirty="0"/>
          </a:p>
        </p:txBody>
      </p:sp>
      <p:sp>
        <p:nvSpPr>
          <p:cNvPr id="21" name="Text 19"/>
          <p:cNvSpPr/>
          <p:nvPr/>
        </p:nvSpPr>
        <p:spPr>
          <a:xfrm>
            <a:off x="6245352" y="1828800"/>
            <a:ext cx="2523744" cy="960120"/>
          </a:xfrm>
          <a:prstGeom prst="rect">
            <a:avLst/>
          </a:prstGeom>
          <a:noFill/>
          <a:ln/>
        </p:spPr>
        <p:txBody>
          <a:bodyPr wrap="square" rtlCol="0" anchor="ctr"/>
          <a:lstStyle/>
          <a:p>
            <a:pPr marL="0" indent="0">
              <a:buNone/>
            </a:pPr>
            <a:r>
              <a:rPr lang="en-US" sz="900" dirty="0">
                <a:solidFill>
                  <a:schemeClr val="accent2">
                    <a:lumMod val="50000"/>
                  </a:schemeClr>
                </a:solidFill>
              </a:rPr>
              <a:t>An interactive Excel dashboard was built featuring 4 chart panels (Answered, Resolved, Topic, CSAT), 3 KPI stat cards and slicer-based agent filters.</a:t>
            </a:r>
          </a:p>
        </p:txBody>
      </p:sp>
      <p:sp>
        <p:nvSpPr>
          <p:cNvPr id="28" name="Shape 26"/>
          <p:cNvSpPr/>
          <p:nvPr/>
        </p:nvSpPr>
        <p:spPr>
          <a:xfrm>
            <a:off x="320040" y="3072384"/>
            <a:ext cx="2743200" cy="182880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29" name="Shape 27"/>
          <p:cNvSpPr/>
          <p:nvPr/>
        </p:nvSpPr>
        <p:spPr>
          <a:xfrm>
            <a:off x="320040" y="3072384"/>
            <a:ext cx="2743200" cy="64008"/>
          </a:xfrm>
          <a:prstGeom prst="rect">
            <a:avLst/>
          </a:prstGeom>
          <a:solidFill>
            <a:srgbClr val="B7472A"/>
          </a:solidFill>
          <a:ln w="12700">
            <a:solidFill>
              <a:srgbClr val="B7472A"/>
            </a:solidFill>
            <a:prstDash val="solid"/>
          </a:ln>
        </p:spPr>
      </p:sp>
      <p:sp>
        <p:nvSpPr>
          <p:cNvPr id="30" name="Text 28"/>
          <p:cNvSpPr/>
          <p:nvPr/>
        </p:nvSpPr>
        <p:spPr>
          <a:xfrm>
            <a:off x="429768" y="3182112"/>
            <a:ext cx="339047"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978408" y="3182112"/>
            <a:ext cx="1965960" cy="320040"/>
          </a:xfrm>
          <a:prstGeom prst="rect">
            <a:avLst/>
          </a:prstGeom>
          <a:noFill/>
          <a:ln/>
        </p:spPr>
        <p:txBody>
          <a:bodyPr wrap="square" rtlCol="0" anchor="ctr"/>
          <a:lstStyle/>
          <a:p>
            <a:pPr marL="0" indent="0">
              <a:buNone/>
            </a:pPr>
            <a:r>
              <a:rPr lang="en-US" sz="1200" b="1" dirty="0">
                <a:solidFill>
                  <a:srgbClr val="C00000"/>
                </a:solidFill>
              </a:rPr>
              <a:t>PowerPoint / PptxGenJS</a:t>
            </a:r>
            <a:endParaRPr lang="en-US" sz="1200" dirty="0">
              <a:solidFill>
                <a:srgbClr val="C00000"/>
              </a:solidFill>
            </a:endParaRPr>
          </a:p>
        </p:txBody>
      </p:sp>
      <p:sp>
        <p:nvSpPr>
          <p:cNvPr id="32" name="Text 30"/>
          <p:cNvSpPr/>
          <p:nvPr/>
        </p:nvSpPr>
        <p:spPr>
          <a:xfrm>
            <a:off x="978408" y="3502152"/>
            <a:ext cx="1975104" cy="274320"/>
          </a:xfrm>
          <a:prstGeom prst="rect">
            <a:avLst/>
          </a:prstGeom>
          <a:noFill/>
          <a:ln/>
        </p:spPr>
        <p:txBody>
          <a:bodyPr wrap="square" rtlCol="0" anchor="ctr"/>
          <a:lstStyle/>
          <a:p>
            <a:pPr marL="0" indent="0">
              <a:buNone/>
            </a:pPr>
            <a:r>
              <a:rPr lang="en-US" sz="900" i="1" dirty="0">
                <a:solidFill>
                  <a:srgbClr val="14BDEB"/>
                </a:solidFill>
              </a:rPr>
              <a:t>Presentation &amp; Data Storytelling</a:t>
            </a:r>
            <a:endParaRPr lang="en-US" sz="900" dirty="0"/>
          </a:p>
        </p:txBody>
      </p:sp>
      <p:sp>
        <p:nvSpPr>
          <p:cNvPr id="33" name="Text 31"/>
          <p:cNvSpPr/>
          <p:nvPr/>
        </p:nvSpPr>
        <p:spPr>
          <a:xfrm>
            <a:off x="429768" y="3849624"/>
            <a:ext cx="2595252" cy="960120"/>
          </a:xfrm>
          <a:prstGeom prst="rect">
            <a:avLst/>
          </a:prstGeom>
          <a:noFill/>
          <a:ln/>
        </p:spPr>
        <p:txBody>
          <a:bodyPr wrap="square" rtlCol="0" anchor="ctr"/>
          <a:lstStyle/>
          <a:p>
            <a:pPr marL="0" indent="0">
              <a:buNone/>
            </a:pPr>
            <a:r>
              <a:rPr lang="en-US" sz="900" dirty="0">
                <a:solidFill>
                  <a:schemeClr val="accent2">
                    <a:lumMod val="50000"/>
                  </a:schemeClr>
                </a:solidFill>
              </a:rPr>
              <a:t>This professional presentation was programmatically generated using PptxGenJS to ensure consistent design, accurate data embedding, and reproducibility.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Business Questions</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Key Analytical Questions Driving This Analysis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411480" y="1344168"/>
            <a:ext cx="411480" cy="411480"/>
          </a:xfrm>
          <a:prstGeom prst="ellipse">
            <a:avLst/>
          </a:prstGeom>
          <a:solidFill>
            <a:srgbClr val="0D7377"/>
          </a:solidFill>
          <a:ln w="12700">
            <a:solidFill>
              <a:srgbClr val="0D7377"/>
            </a:solidFill>
            <a:prstDash val="solid"/>
          </a:ln>
        </p:spPr>
      </p:sp>
      <p:sp>
        <p:nvSpPr>
          <p:cNvPr id="8" name="Text 6"/>
          <p:cNvSpPr/>
          <p:nvPr/>
        </p:nvSpPr>
        <p:spPr>
          <a:xfrm>
            <a:off x="411480" y="134416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9" name="Shape 7"/>
          <p:cNvSpPr/>
          <p:nvPr/>
        </p:nvSpPr>
        <p:spPr>
          <a:xfrm>
            <a:off x="914400" y="1261872"/>
            <a:ext cx="1143000" cy="237744"/>
          </a:xfrm>
          <a:prstGeom prst="rect">
            <a:avLst/>
          </a:prstGeom>
          <a:solidFill>
            <a:srgbClr val="0D7377"/>
          </a:solidFill>
          <a:ln w="12700">
            <a:solidFill>
              <a:srgbClr val="0D7377"/>
            </a:solidFill>
            <a:prstDash val="solid"/>
          </a:ln>
        </p:spPr>
      </p:sp>
      <p:sp>
        <p:nvSpPr>
          <p:cNvPr id="10" name="Text 8"/>
          <p:cNvSpPr/>
          <p:nvPr/>
        </p:nvSpPr>
        <p:spPr>
          <a:xfrm>
            <a:off x="914400" y="126187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Agent Productivity</a:t>
            </a:r>
            <a:endParaRPr lang="en-US" sz="750" dirty="0"/>
          </a:p>
        </p:txBody>
      </p:sp>
      <p:sp>
        <p:nvSpPr>
          <p:cNvPr id="11" name="Text 9"/>
          <p:cNvSpPr/>
          <p:nvPr/>
        </p:nvSpPr>
        <p:spPr>
          <a:xfrm>
            <a:off x="914400" y="1536192"/>
            <a:ext cx="3429000" cy="457200"/>
          </a:xfrm>
          <a:prstGeom prst="rect">
            <a:avLst/>
          </a:prstGeom>
          <a:noFill/>
          <a:ln/>
        </p:spPr>
        <p:txBody>
          <a:bodyPr wrap="square" rtlCol="0" anchor="ctr"/>
          <a:lstStyle/>
          <a:p>
            <a:pPr marL="0" indent="0">
              <a:buNone/>
            </a:pPr>
            <a:r>
              <a:rPr lang="en-US" sz="920" dirty="0">
                <a:solidFill>
                  <a:srgbClr val="1E293B"/>
                </a:solidFill>
              </a:rPr>
              <a:t>Which agent handles the highest call volume, and does volume correlate with performance quality?</a:t>
            </a:r>
            <a:endParaRPr lang="en-US" sz="920" dirty="0"/>
          </a:p>
        </p:txBody>
      </p:sp>
      <p:sp>
        <p:nvSpPr>
          <p:cNvPr id="12" name="Shape 10"/>
          <p:cNvSpPr/>
          <p:nvPr/>
        </p:nvSpPr>
        <p:spPr>
          <a:xfrm>
            <a:off x="4663440" y="118872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4754880" y="1344168"/>
            <a:ext cx="411480" cy="411480"/>
          </a:xfrm>
          <a:prstGeom prst="ellipse">
            <a:avLst/>
          </a:prstGeom>
          <a:solidFill>
            <a:srgbClr val="1B2A4A"/>
          </a:solidFill>
          <a:ln w="12700">
            <a:solidFill>
              <a:srgbClr val="1B2A4A"/>
            </a:solidFill>
            <a:prstDash val="solid"/>
          </a:ln>
        </p:spPr>
      </p:sp>
      <p:sp>
        <p:nvSpPr>
          <p:cNvPr id="14" name="Text 12"/>
          <p:cNvSpPr/>
          <p:nvPr/>
        </p:nvSpPr>
        <p:spPr>
          <a:xfrm>
            <a:off x="4754880" y="134416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5" name="Shape 13"/>
          <p:cNvSpPr/>
          <p:nvPr/>
        </p:nvSpPr>
        <p:spPr>
          <a:xfrm>
            <a:off x="5257800" y="1261872"/>
            <a:ext cx="1143000" cy="237744"/>
          </a:xfrm>
          <a:prstGeom prst="rect">
            <a:avLst/>
          </a:prstGeom>
          <a:solidFill>
            <a:srgbClr val="1B2A4A"/>
          </a:solidFill>
          <a:ln w="12700">
            <a:solidFill>
              <a:srgbClr val="1B2A4A"/>
            </a:solidFill>
            <a:prstDash val="solid"/>
          </a:ln>
        </p:spPr>
      </p:sp>
      <p:sp>
        <p:nvSpPr>
          <p:cNvPr id="16" name="Text 14"/>
          <p:cNvSpPr/>
          <p:nvPr/>
        </p:nvSpPr>
        <p:spPr>
          <a:xfrm>
            <a:off x="5257800" y="126187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Resolution Analysis</a:t>
            </a:r>
            <a:endParaRPr lang="en-US" sz="750" dirty="0"/>
          </a:p>
        </p:txBody>
      </p:sp>
      <p:sp>
        <p:nvSpPr>
          <p:cNvPr id="17" name="Text 15"/>
          <p:cNvSpPr/>
          <p:nvPr/>
        </p:nvSpPr>
        <p:spPr>
          <a:xfrm>
            <a:off x="5257800" y="1536192"/>
            <a:ext cx="3429000" cy="457200"/>
          </a:xfrm>
          <a:prstGeom prst="rect">
            <a:avLst/>
          </a:prstGeom>
          <a:noFill/>
          <a:ln/>
        </p:spPr>
        <p:txBody>
          <a:bodyPr wrap="square" rtlCol="0" anchor="ctr"/>
          <a:lstStyle/>
          <a:p>
            <a:pPr marL="0" indent="0">
              <a:buNone/>
            </a:pPr>
            <a:r>
              <a:rPr lang="en-US" sz="920" dirty="0">
                <a:solidFill>
                  <a:srgbClr val="1E293B"/>
                </a:solidFill>
              </a:rPr>
              <a:t>What is the overall and per-agent call resolution rate, and who has the most room for improvement?</a:t>
            </a:r>
            <a:endParaRPr lang="en-US" sz="920" dirty="0"/>
          </a:p>
        </p:txBody>
      </p:sp>
      <p:sp>
        <p:nvSpPr>
          <p:cNvPr id="18" name="Shape 16"/>
          <p:cNvSpPr/>
          <p:nvPr/>
        </p:nvSpPr>
        <p:spPr>
          <a:xfrm>
            <a:off x="320040" y="214884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411480" y="2304288"/>
            <a:ext cx="411480" cy="411480"/>
          </a:xfrm>
          <a:prstGeom prst="ellipse">
            <a:avLst/>
          </a:prstGeom>
          <a:solidFill>
            <a:srgbClr val="F5A623"/>
          </a:solidFill>
          <a:ln w="12700">
            <a:solidFill>
              <a:srgbClr val="F5A623"/>
            </a:solidFill>
            <a:prstDash val="solid"/>
          </a:ln>
        </p:spPr>
      </p:sp>
      <p:sp>
        <p:nvSpPr>
          <p:cNvPr id="20" name="Text 18"/>
          <p:cNvSpPr/>
          <p:nvPr/>
        </p:nvSpPr>
        <p:spPr>
          <a:xfrm>
            <a:off x="411480" y="230428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1" name="Shape 19"/>
          <p:cNvSpPr/>
          <p:nvPr/>
        </p:nvSpPr>
        <p:spPr>
          <a:xfrm>
            <a:off x="914400" y="2221992"/>
            <a:ext cx="1143000" cy="237744"/>
          </a:xfrm>
          <a:prstGeom prst="rect">
            <a:avLst/>
          </a:prstGeom>
          <a:solidFill>
            <a:srgbClr val="F5A623"/>
          </a:solidFill>
          <a:ln w="12700">
            <a:solidFill>
              <a:srgbClr val="F5A623"/>
            </a:solidFill>
            <a:prstDash val="solid"/>
          </a:ln>
        </p:spPr>
      </p:sp>
      <p:sp>
        <p:nvSpPr>
          <p:cNvPr id="22" name="Text 20"/>
          <p:cNvSpPr/>
          <p:nvPr/>
        </p:nvSpPr>
        <p:spPr>
          <a:xfrm>
            <a:off x="914400" y="222199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Topic Optimization</a:t>
            </a:r>
            <a:endParaRPr lang="en-US" sz="750" dirty="0"/>
          </a:p>
        </p:txBody>
      </p:sp>
      <p:sp>
        <p:nvSpPr>
          <p:cNvPr id="23" name="Text 21"/>
          <p:cNvSpPr/>
          <p:nvPr/>
        </p:nvSpPr>
        <p:spPr>
          <a:xfrm>
            <a:off x="914400" y="2496312"/>
            <a:ext cx="3429000" cy="457200"/>
          </a:xfrm>
          <a:prstGeom prst="rect">
            <a:avLst/>
          </a:prstGeom>
          <a:noFill/>
          <a:ln/>
        </p:spPr>
        <p:txBody>
          <a:bodyPr wrap="square" rtlCol="0" anchor="ctr"/>
          <a:lstStyle/>
          <a:p>
            <a:pPr marL="0" indent="0">
              <a:buNone/>
            </a:pPr>
            <a:r>
              <a:rPr lang="en-US" sz="920" dirty="0">
                <a:solidFill>
                  <a:srgbClr val="1E293B"/>
                </a:solidFill>
              </a:rPr>
              <a:t>Which call topics generate the highest volume, and which are most frequently left unresolved?</a:t>
            </a:r>
            <a:endParaRPr lang="en-US" sz="920" dirty="0"/>
          </a:p>
        </p:txBody>
      </p:sp>
      <p:sp>
        <p:nvSpPr>
          <p:cNvPr id="24" name="Shape 22"/>
          <p:cNvSpPr/>
          <p:nvPr/>
        </p:nvSpPr>
        <p:spPr>
          <a:xfrm>
            <a:off x="4663440" y="214884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4754880" y="2304288"/>
            <a:ext cx="411480" cy="411480"/>
          </a:xfrm>
          <a:prstGeom prst="ellipse">
            <a:avLst/>
          </a:prstGeom>
          <a:solidFill>
            <a:srgbClr val="10B981"/>
          </a:solidFill>
          <a:ln w="12700">
            <a:solidFill>
              <a:srgbClr val="10B981"/>
            </a:solidFill>
            <a:prstDash val="solid"/>
          </a:ln>
        </p:spPr>
      </p:sp>
      <p:sp>
        <p:nvSpPr>
          <p:cNvPr id="26" name="Text 24"/>
          <p:cNvSpPr/>
          <p:nvPr/>
        </p:nvSpPr>
        <p:spPr>
          <a:xfrm>
            <a:off x="4754880" y="230428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7" name="Shape 25"/>
          <p:cNvSpPr/>
          <p:nvPr/>
        </p:nvSpPr>
        <p:spPr>
          <a:xfrm>
            <a:off x="5257800" y="2221992"/>
            <a:ext cx="1143000" cy="237744"/>
          </a:xfrm>
          <a:prstGeom prst="rect">
            <a:avLst/>
          </a:prstGeom>
          <a:solidFill>
            <a:srgbClr val="10B981"/>
          </a:solidFill>
          <a:ln w="12700">
            <a:solidFill>
              <a:srgbClr val="10B981"/>
            </a:solidFill>
            <a:prstDash val="solid"/>
          </a:ln>
        </p:spPr>
      </p:sp>
      <p:sp>
        <p:nvSpPr>
          <p:cNvPr id="28" name="Text 26"/>
          <p:cNvSpPr/>
          <p:nvPr/>
        </p:nvSpPr>
        <p:spPr>
          <a:xfrm>
            <a:off x="5257800" y="222199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CX Correlation</a:t>
            </a:r>
            <a:endParaRPr lang="en-US" sz="750" dirty="0"/>
          </a:p>
        </p:txBody>
      </p:sp>
      <p:sp>
        <p:nvSpPr>
          <p:cNvPr id="29" name="Text 27"/>
          <p:cNvSpPr/>
          <p:nvPr/>
        </p:nvSpPr>
        <p:spPr>
          <a:xfrm>
            <a:off x="5257800" y="2496312"/>
            <a:ext cx="3429000" cy="457200"/>
          </a:xfrm>
          <a:prstGeom prst="rect">
            <a:avLst/>
          </a:prstGeom>
          <a:noFill/>
          <a:ln/>
        </p:spPr>
        <p:txBody>
          <a:bodyPr wrap="square" rtlCol="0" anchor="ctr"/>
          <a:lstStyle/>
          <a:p>
            <a:pPr marL="0" indent="0">
              <a:buNone/>
            </a:pPr>
            <a:r>
              <a:rPr lang="en-US" sz="920" dirty="0">
                <a:solidFill>
                  <a:srgbClr val="1E293B"/>
                </a:solidFill>
              </a:rPr>
              <a:t>Is there a relationship between Speed of Answer and Customer Satisfaction Ratings?</a:t>
            </a:r>
            <a:endParaRPr lang="en-US" sz="920" dirty="0"/>
          </a:p>
        </p:txBody>
      </p:sp>
      <p:sp>
        <p:nvSpPr>
          <p:cNvPr id="30" name="Shape 28"/>
          <p:cNvSpPr/>
          <p:nvPr/>
        </p:nvSpPr>
        <p:spPr>
          <a:xfrm>
            <a:off x="320040" y="310896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1" name="Shape 29"/>
          <p:cNvSpPr/>
          <p:nvPr/>
        </p:nvSpPr>
        <p:spPr>
          <a:xfrm>
            <a:off x="411480" y="3264408"/>
            <a:ext cx="411480" cy="411480"/>
          </a:xfrm>
          <a:prstGeom prst="ellipse">
            <a:avLst/>
          </a:prstGeom>
          <a:solidFill>
            <a:srgbClr val="EF4444"/>
          </a:solidFill>
          <a:ln w="12700">
            <a:solidFill>
              <a:srgbClr val="EF4444"/>
            </a:solidFill>
            <a:prstDash val="solid"/>
          </a:ln>
        </p:spPr>
      </p:sp>
      <p:sp>
        <p:nvSpPr>
          <p:cNvPr id="32" name="Text 30"/>
          <p:cNvSpPr/>
          <p:nvPr/>
        </p:nvSpPr>
        <p:spPr>
          <a:xfrm>
            <a:off x="411480" y="326440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3" name="Shape 31"/>
          <p:cNvSpPr/>
          <p:nvPr/>
        </p:nvSpPr>
        <p:spPr>
          <a:xfrm>
            <a:off x="914400" y="3182112"/>
            <a:ext cx="1143000" cy="237744"/>
          </a:xfrm>
          <a:prstGeom prst="rect">
            <a:avLst/>
          </a:prstGeom>
          <a:solidFill>
            <a:srgbClr val="EF4444"/>
          </a:solidFill>
          <a:ln w="12700">
            <a:solidFill>
              <a:srgbClr val="EF4444"/>
            </a:solidFill>
            <a:prstDash val="solid"/>
          </a:ln>
        </p:spPr>
      </p:sp>
      <p:sp>
        <p:nvSpPr>
          <p:cNvPr id="34" name="Text 32"/>
          <p:cNvSpPr/>
          <p:nvPr/>
        </p:nvSpPr>
        <p:spPr>
          <a:xfrm>
            <a:off x="914400" y="318211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CSAT Benchmarking</a:t>
            </a:r>
            <a:endParaRPr lang="en-US" sz="750" dirty="0"/>
          </a:p>
        </p:txBody>
      </p:sp>
      <p:sp>
        <p:nvSpPr>
          <p:cNvPr id="35" name="Text 33"/>
          <p:cNvSpPr/>
          <p:nvPr/>
        </p:nvSpPr>
        <p:spPr>
          <a:xfrm>
            <a:off x="914400" y="3456432"/>
            <a:ext cx="3429000" cy="457200"/>
          </a:xfrm>
          <a:prstGeom prst="rect">
            <a:avLst/>
          </a:prstGeom>
          <a:noFill/>
          <a:ln/>
        </p:spPr>
        <p:txBody>
          <a:bodyPr wrap="square" rtlCol="0" anchor="ctr"/>
          <a:lstStyle/>
          <a:p>
            <a:pPr marL="0" indent="0">
              <a:buNone/>
            </a:pPr>
            <a:r>
              <a:rPr lang="en-US" sz="920" dirty="0">
                <a:solidFill>
                  <a:srgbClr val="1E293B"/>
                </a:solidFill>
              </a:rPr>
              <a:t>How does customer satisfaction vary across agents, and which agents need targeted coaching?</a:t>
            </a:r>
            <a:endParaRPr lang="en-US" sz="920" dirty="0"/>
          </a:p>
        </p:txBody>
      </p:sp>
      <p:sp>
        <p:nvSpPr>
          <p:cNvPr id="36" name="Shape 34"/>
          <p:cNvSpPr/>
          <p:nvPr/>
        </p:nvSpPr>
        <p:spPr>
          <a:xfrm>
            <a:off x="4663440" y="310896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7" name="Shape 35"/>
          <p:cNvSpPr/>
          <p:nvPr/>
        </p:nvSpPr>
        <p:spPr>
          <a:xfrm>
            <a:off x="4754880" y="3264408"/>
            <a:ext cx="411480" cy="411480"/>
          </a:xfrm>
          <a:prstGeom prst="ellipse">
            <a:avLst/>
          </a:prstGeom>
          <a:solidFill>
            <a:srgbClr val="F59E0B"/>
          </a:solidFill>
          <a:ln w="12700">
            <a:solidFill>
              <a:srgbClr val="F59E0B"/>
            </a:solidFill>
            <a:prstDash val="solid"/>
          </a:ln>
        </p:spPr>
      </p:sp>
      <p:sp>
        <p:nvSpPr>
          <p:cNvPr id="38" name="Text 36"/>
          <p:cNvSpPr/>
          <p:nvPr/>
        </p:nvSpPr>
        <p:spPr>
          <a:xfrm>
            <a:off x="4754880" y="326440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9" name="Shape 37"/>
          <p:cNvSpPr/>
          <p:nvPr/>
        </p:nvSpPr>
        <p:spPr>
          <a:xfrm>
            <a:off x="5257800" y="3182112"/>
            <a:ext cx="1143000" cy="237744"/>
          </a:xfrm>
          <a:prstGeom prst="rect">
            <a:avLst/>
          </a:prstGeom>
          <a:solidFill>
            <a:srgbClr val="F59E0B"/>
          </a:solidFill>
          <a:ln w="12700">
            <a:solidFill>
              <a:srgbClr val="F59E0B"/>
            </a:solidFill>
            <a:prstDash val="solid"/>
          </a:ln>
        </p:spPr>
      </p:sp>
      <p:sp>
        <p:nvSpPr>
          <p:cNvPr id="40" name="Text 38"/>
          <p:cNvSpPr/>
          <p:nvPr/>
        </p:nvSpPr>
        <p:spPr>
          <a:xfrm>
            <a:off x="5257800" y="318211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Workforce Planning</a:t>
            </a:r>
            <a:endParaRPr lang="en-US" sz="750" dirty="0"/>
          </a:p>
        </p:txBody>
      </p:sp>
      <p:sp>
        <p:nvSpPr>
          <p:cNvPr id="41" name="Text 39"/>
          <p:cNvSpPr/>
          <p:nvPr/>
        </p:nvSpPr>
        <p:spPr>
          <a:xfrm>
            <a:off x="5257800" y="3456432"/>
            <a:ext cx="3429000" cy="457200"/>
          </a:xfrm>
          <a:prstGeom prst="rect">
            <a:avLst/>
          </a:prstGeom>
          <a:noFill/>
          <a:ln/>
        </p:spPr>
        <p:txBody>
          <a:bodyPr wrap="square" rtlCol="0" anchor="ctr"/>
          <a:lstStyle/>
          <a:p>
            <a:pPr marL="0" indent="0">
              <a:buNone/>
            </a:pPr>
            <a:r>
              <a:rPr lang="en-US" sz="920" dirty="0">
                <a:solidFill>
                  <a:srgbClr val="1E293B"/>
                </a:solidFill>
              </a:rPr>
              <a:t>What are the monthly call volume trends across Q1 2021, and what staffing adjustments are needed?</a:t>
            </a:r>
            <a:endParaRPr lang="en-US" sz="920" dirty="0"/>
          </a:p>
        </p:txBody>
      </p:sp>
      <p:sp>
        <p:nvSpPr>
          <p:cNvPr id="42" name="Shape 40"/>
          <p:cNvSpPr/>
          <p:nvPr/>
        </p:nvSpPr>
        <p:spPr>
          <a:xfrm>
            <a:off x="320040" y="406908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43" name="Shape 41"/>
          <p:cNvSpPr/>
          <p:nvPr/>
        </p:nvSpPr>
        <p:spPr>
          <a:xfrm>
            <a:off x="411480" y="4224528"/>
            <a:ext cx="411480" cy="411480"/>
          </a:xfrm>
          <a:prstGeom prst="ellipse">
            <a:avLst/>
          </a:prstGeom>
          <a:solidFill>
            <a:srgbClr val="14BDEB"/>
          </a:solidFill>
          <a:ln w="12700">
            <a:solidFill>
              <a:srgbClr val="14BDEB"/>
            </a:solidFill>
            <a:prstDash val="solid"/>
          </a:ln>
        </p:spPr>
      </p:sp>
      <p:sp>
        <p:nvSpPr>
          <p:cNvPr id="44" name="Text 42"/>
          <p:cNvSpPr/>
          <p:nvPr/>
        </p:nvSpPr>
        <p:spPr>
          <a:xfrm>
            <a:off x="411480" y="422452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45" name="Shape 43"/>
          <p:cNvSpPr/>
          <p:nvPr/>
        </p:nvSpPr>
        <p:spPr>
          <a:xfrm>
            <a:off x="914400" y="4142232"/>
            <a:ext cx="1143000" cy="237744"/>
          </a:xfrm>
          <a:prstGeom prst="rect">
            <a:avLst/>
          </a:prstGeom>
          <a:solidFill>
            <a:srgbClr val="14BDEB"/>
          </a:solidFill>
          <a:ln w="12700">
            <a:solidFill>
              <a:srgbClr val="14BDEB"/>
            </a:solidFill>
            <a:prstDash val="solid"/>
          </a:ln>
        </p:spPr>
      </p:sp>
      <p:sp>
        <p:nvSpPr>
          <p:cNvPr id="46" name="Text 44"/>
          <p:cNvSpPr/>
          <p:nvPr/>
        </p:nvSpPr>
        <p:spPr>
          <a:xfrm>
            <a:off x="914400" y="414223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Capacity Analysis</a:t>
            </a:r>
            <a:endParaRPr lang="en-US" sz="750" dirty="0"/>
          </a:p>
        </p:txBody>
      </p:sp>
      <p:sp>
        <p:nvSpPr>
          <p:cNvPr id="47" name="Text 45"/>
          <p:cNvSpPr/>
          <p:nvPr/>
        </p:nvSpPr>
        <p:spPr>
          <a:xfrm>
            <a:off x="914400" y="4416552"/>
            <a:ext cx="3429000" cy="457200"/>
          </a:xfrm>
          <a:prstGeom prst="rect">
            <a:avLst/>
          </a:prstGeom>
          <a:noFill/>
          <a:ln/>
        </p:spPr>
        <p:txBody>
          <a:bodyPr wrap="square" rtlCol="0" anchor="ctr"/>
          <a:lstStyle/>
          <a:p>
            <a:pPr marL="0" indent="0">
              <a:buNone/>
            </a:pPr>
            <a:r>
              <a:rPr lang="en-US" sz="920" dirty="0">
                <a:solidFill>
                  <a:srgbClr val="1E293B"/>
                </a:solidFill>
              </a:rPr>
              <a:t>What proportion of calls are unanswered, and what operational factors contribute to this?</a:t>
            </a:r>
            <a:endParaRPr lang="en-US" sz="920" dirty="0"/>
          </a:p>
        </p:txBody>
      </p:sp>
      <p:sp>
        <p:nvSpPr>
          <p:cNvPr id="48" name="Shape 46"/>
          <p:cNvSpPr/>
          <p:nvPr/>
        </p:nvSpPr>
        <p:spPr>
          <a:xfrm>
            <a:off x="4663440" y="4069080"/>
            <a:ext cx="4160520" cy="84124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49" name="Shape 47"/>
          <p:cNvSpPr/>
          <p:nvPr/>
        </p:nvSpPr>
        <p:spPr>
          <a:xfrm>
            <a:off x="4754880" y="4224528"/>
            <a:ext cx="411480" cy="411480"/>
          </a:xfrm>
          <a:prstGeom prst="ellipse">
            <a:avLst/>
          </a:prstGeom>
          <a:solidFill>
            <a:srgbClr val="0D7377"/>
          </a:solidFill>
          <a:ln w="12700">
            <a:solidFill>
              <a:srgbClr val="0D7377"/>
            </a:solidFill>
            <a:prstDash val="solid"/>
          </a:ln>
        </p:spPr>
      </p:sp>
      <p:sp>
        <p:nvSpPr>
          <p:cNvPr id="50" name="Text 48"/>
          <p:cNvSpPr/>
          <p:nvPr/>
        </p:nvSpPr>
        <p:spPr>
          <a:xfrm>
            <a:off x="4754880" y="422452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8</a:t>
            </a:r>
            <a:endParaRPr lang="en-US" sz="1200" dirty="0"/>
          </a:p>
        </p:txBody>
      </p:sp>
      <p:sp>
        <p:nvSpPr>
          <p:cNvPr id="51" name="Shape 49"/>
          <p:cNvSpPr/>
          <p:nvPr/>
        </p:nvSpPr>
        <p:spPr>
          <a:xfrm>
            <a:off x="5257800" y="4142232"/>
            <a:ext cx="1143000" cy="237744"/>
          </a:xfrm>
          <a:prstGeom prst="rect">
            <a:avLst/>
          </a:prstGeom>
          <a:solidFill>
            <a:srgbClr val="0D7377"/>
          </a:solidFill>
          <a:ln w="12700">
            <a:solidFill>
              <a:srgbClr val="0D7377"/>
            </a:solidFill>
            <a:prstDash val="solid"/>
          </a:ln>
        </p:spPr>
      </p:sp>
      <p:sp>
        <p:nvSpPr>
          <p:cNvPr id="52" name="Text 50"/>
          <p:cNvSpPr/>
          <p:nvPr/>
        </p:nvSpPr>
        <p:spPr>
          <a:xfrm>
            <a:off x="5257800" y="4142232"/>
            <a:ext cx="1143000" cy="237744"/>
          </a:xfrm>
          <a:prstGeom prst="rect">
            <a:avLst/>
          </a:prstGeom>
          <a:noFill/>
          <a:ln/>
        </p:spPr>
        <p:txBody>
          <a:bodyPr wrap="square" lIns="0" tIns="0" rIns="0" bIns="0" rtlCol="0" anchor="ctr"/>
          <a:lstStyle/>
          <a:p>
            <a:pPr marL="0" indent="0" algn="ctr">
              <a:buNone/>
            </a:pPr>
            <a:r>
              <a:rPr lang="en-US" sz="750" b="1" dirty="0">
                <a:solidFill>
                  <a:srgbClr val="FFFFFF"/>
                </a:solidFill>
              </a:rPr>
              <a:t>Strategic Actions</a:t>
            </a:r>
            <a:endParaRPr lang="en-US" sz="750" dirty="0"/>
          </a:p>
        </p:txBody>
      </p:sp>
      <p:sp>
        <p:nvSpPr>
          <p:cNvPr id="53" name="Text 51"/>
          <p:cNvSpPr/>
          <p:nvPr/>
        </p:nvSpPr>
        <p:spPr>
          <a:xfrm>
            <a:off x="5257800" y="4416552"/>
            <a:ext cx="3429000" cy="457200"/>
          </a:xfrm>
          <a:prstGeom prst="rect">
            <a:avLst/>
          </a:prstGeom>
          <a:noFill/>
          <a:ln/>
        </p:spPr>
        <p:txBody>
          <a:bodyPr wrap="square" rtlCol="0" anchor="ctr"/>
          <a:lstStyle/>
          <a:p>
            <a:pPr marL="0" indent="0">
              <a:buNone/>
            </a:pPr>
            <a:r>
              <a:rPr lang="en-US" sz="920" dirty="0">
                <a:solidFill>
                  <a:srgbClr val="1E293B"/>
                </a:solidFill>
              </a:rPr>
              <a:t>What are the top actionable recommendations to reduce unresolved calls and improve CSAT by 15%?</a:t>
            </a:r>
            <a:endParaRPr lang="en-US"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Exploratory Data Analysis (EDA)</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Initial Trends, Patterns &amp; Observations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14800" cy="1828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828800"/>
          </a:xfrm>
          <a:prstGeom prst="rect">
            <a:avLst/>
          </a:prstGeom>
          <a:solidFill>
            <a:srgbClr val="0D7377"/>
          </a:solidFill>
          <a:ln w="12700">
            <a:solidFill>
              <a:srgbClr val="0D7377"/>
            </a:solidFill>
            <a:prstDash val="solid"/>
          </a:ln>
        </p:spPr>
      </p:sp>
      <p:sp>
        <p:nvSpPr>
          <p:cNvPr id="8" name="Text 6"/>
          <p:cNvSpPr/>
          <p:nvPr/>
        </p:nvSpPr>
        <p:spPr>
          <a:xfrm>
            <a:off x="502920" y="1252728"/>
            <a:ext cx="3840480" cy="292608"/>
          </a:xfrm>
          <a:prstGeom prst="rect">
            <a:avLst/>
          </a:prstGeom>
          <a:noFill/>
          <a:ln/>
        </p:spPr>
        <p:txBody>
          <a:bodyPr wrap="square" rtlCol="0" anchor="ctr"/>
          <a:lstStyle/>
          <a:p>
            <a:pPr marL="0" indent="0">
              <a:buNone/>
            </a:pPr>
            <a:r>
              <a:rPr lang="en-US" sz="1200" b="1" dirty="0">
                <a:solidFill>
                  <a:srgbClr val="1B2A4A"/>
                </a:solidFill>
              </a:rPr>
              <a:t>Volume &amp; Productivity Observations</a:t>
            </a:r>
            <a:endParaRPr lang="en-US" sz="1200" dirty="0"/>
          </a:p>
        </p:txBody>
      </p:sp>
      <p:sp>
        <p:nvSpPr>
          <p:cNvPr id="9" name="Text 7"/>
          <p:cNvSpPr/>
          <p:nvPr/>
        </p:nvSpPr>
        <p:spPr>
          <a:xfrm>
            <a:off x="548640" y="1536192"/>
            <a:ext cx="3794760" cy="1417320"/>
          </a:xfrm>
          <a:prstGeom prst="rect">
            <a:avLst/>
          </a:prstGeom>
          <a:noFill/>
          <a:ln/>
        </p:spPr>
        <p:txBody>
          <a:bodyPr wrap="square" rtlCol="0" anchor="ctr"/>
          <a:lstStyle/>
          <a:p>
            <a:pPr marL="342900" indent="-342900">
              <a:buSzPct val="100000"/>
              <a:buChar char="•"/>
            </a:pPr>
            <a:r>
              <a:rPr lang="en-US" sz="1000" dirty="0">
                <a:solidFill>
                  <a:srgbClr val="1E293B"/>
                </a:solidFill>
              </a:rPr>
              <a:t>Jim leads with 536 answered calls; Stewart trails at 477 — a 12.4% spread</a:t>
            </a:r>
            <a:endParaRPr lang="en-US" sz="1000" dirty="0"/>
          </a:p>
          <a:p>
            <a:pPr marL="342900" indent="-342900">
              <a:buSzPct val="100000"/>
              <a:buChar char="•"/>
            </a:pPr>
            <a:r>
              <a:rPr lang="en-US" sz="1000" dirty="0">
                <a:solidFill>
                  <a:srgbClr val="1E293B"/>
                </a:solidFill>
              </a:rPr>
              <a:t>Resolution rates are tightly clustered: 88.9%–90.6% — team performs consistently</a:t>
            </a:r>
            <a:endParaRPr lang="en-US" sz="1000" dirty="0"/>
          </a:p>
          <a:p>
            <a:pPr marL="342900" indent="-342900">
              <a:buSzPct val="100000"/>
              <a:buChar char="•"/>
            </a:pPr>
            <a:r>
              <a:rPr lang="en-US" sz="1000" dirty="0">
                <a:solidFill>
                  <a:srgbClr val="1E293B"/>
                </a:solidFill>
              </a:rPr>
              <a:t>January had the highest call volume (1,772); February and March were similar (~1,614 avg)</a:t>
            </a:r>
            <a:endParaRPr lang="en-US" sz="1000" dirty="0"/>
          </a:p>
          <a:p>
            <a:pPr marL="342900" indent="-342900">
              <a:buSzPct val="100000"/>
              <a:buChar char="•"/>
            </a:pPr>
            <a:r>
              <a:rPr lang="en-US" sz="1000" dirty="0">
                <a:solidFill>
                  <a:srgbClr val="1E293B"/>
                </a:solidFill>
              </a:rPr>
              <a:t>Unanswered calls total 946 (18.9%) — nearly 1 in 5 calls goes unanswered</a:t>
            </a:r>
            <a:endParaRPr lang="en-US" sz="1000" dirty="0"/>
          </a:p>
          <a:p>
            <a:pPr marL="342900" indent="-342900">
              <a:buSzPct val="100000"/>
              <a:buChar char="•"/>
            </a:pPr>
            <a:r>
              <a:rPr lang="en-US" sz="1000" dirty="0">
                <a:solidFill>
                  <a:srgbClr val="1E293B"/>
                </a:solidFill>
              </a:rPr>
              <a:t>Total resolutions: 3,646 of 5,000 calls = 72.9% overall resolution rate</a:t>
            </a:r>
            <a:endParaRPr lang="en-US" sz="1000" dirty="0"/>
          </a:p>
        </p:txBody>
      </p:sp>
      <p:sp>
        <p:nvSpPr>
          <p:cNvPr id="10" name="Shape 8"/>
          <p:cNvSpPr/>
          <p:nvPr/>
        </p:nvSpPr>
        <p:spPr>
          <a:xfrm>
            <a:off x="4709160" y="1188720"/>
            <a:ext cx="4114800" cy="1828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4709160" y="1188720"/>
            <a:ext cx="64008" cy="1828800"/>
          </a:xfrm>
          <a:prstGeom prst="rect">
            <a:avLst/>
          </a:prstGeom>
          <a:solidFill>
            <a:srgbClr val="1B2A4A"/>
          </a:solidFill>
          <a:ln w="12700">
            <a:solidFill>
              <a:srgbClr val="1B2A4A"/>
            </a:solidFill>
            <a:prstDash val="solid"/>
          </a:ln>
        </p:spPr>
      </p:sp>
      <p:sp>
        <p:nvSpPr>
          <p:cNvPr id="12" name="Text 10"/>
          <p:cNvSpPr/>
          <p:nvPr/>
        </p:nvSpPr>
        <p:spPr>
          <a:xfrm>
            <a:off x="4892040" y="1252728"/>
            <a:ext cx="3840480" cy="292608"/>
          </a:xfrm>
          <a:prstGeom prst="rect">
            <a:avLst/>
          </a:prstGeom>
          <a:noFill/>
          <a:ln/>
        </p:spPr>
        <p:txBody>
          <a:bodyPr wrap="square" rtlCol="0" anchor="ctr"/>
          <a:lstStyle/>
          <a:p>
            <a:pPr marL="0" indent="0">
              <a:buNone/>
            </a:pPr>
            <a:r>
              <a:rPr lang="en-US" sz="1200" b="1" dirty="0">
                <a:solidFill>
                  <a:srgbClr val="1B2A4A"/>
                </a:solidFill>
              </a:rPr>
              <a:t>Satisfaction &amp; Topic Observations</a:t>
            </a:r>
            <a:endParaRPr lang="en-US" sz="1200" dirty="0"/>
          </a:p>
        </p:txBody>
      </p:sp>
      <p:sp>
        <p:nvSpPr>
          <p:cNvPr id="13" name="Text 11"/>
          <p:cNvSpPr/>
          <p:nvPr/>
        </p:nvSpPr>
        <p:spPr>
          <a:xfrm>
            <a:off x="4937760" y="1536192"/>
            <a:ext cx="3794760" cy="1417320"/>
          </a:xfrm>
          <a:prstGeom prst="rect">
            <a:avLst/>
          </a:prstGeom>
          <a:noFill/>
          <a:ln/>
        </p:spPr>
        <p:txBody>
          <a:bodyPr wrap="square" rtlCol="0" anchor="ctr"/>
          <a:lstStyle/>
          <a:p>
            <a:pPr marL="342900" indent="-342900">
              <a:buSzPct val="100000"/>
              <a:buChar char="•"/>
            </a:pPr>
            <a:r>
              <a:rPr lang="en-US" sz="1000" dirty="0">
                <a:solidFill>
                  <a:srgbClr val="1E293B"/>
                </a:solidFill>
              </a:rPr>
              <a:t>Team average CSAT: 3.33/5.0 — below industry benchmark of 3.5+</a:t>
            </a:r>
            <a:endParaRPr lang="en-US" sz="1000" dirty="0"/>
          </a:p>
          <a:p>
            <a:pPr marL="342900" indent="-342900">
              <a:buSzPct val="100000"/>
              <a:buChar char="•"/>
            </a:pPr>
            <a:r>
              <a:rPr lang="en-US" sz="1000" dirty="0">
                <a:solidFill>
                  <a:srgbClr val="1E293B"/>
                </a:solidFill>
              </a:rPr>
              <a:t>Neutral ratings (score=3) dominate at 43.3% of all responses</a:t>
            </a:r>
            <a:endParaRPr lang="en-US" sz="1000" dirty="0"/>
          </a:p>
          <a:p>
            <a:pPr marL="342900" indent="-342900">
              <a:buSzPct val="100000"/>
              <a:buChar char="•"/>
            </a:pPr>
            <a:r>
              <a:rPr lang="en-US" sz="1000" dirty="0">
                <a:solidFill>
                  <a:srgbClr val="1E293B"/>
                </a:solidFill>
              </a:rPr>
              <a:t>Poor ratings (1–2) account for 16.3% — 813 customers seriously dissatisfied</a:t>
            </a:r>
            <a:endParaRPr lang="en-US" sz="1000" dirty="0"/>
          </a:p>
          <a:p>
            <a:pPr marL="342900" indent="-342900">
              <a:buSzPct val="100000"/>
              <a:buChar char="•"/>
            </a:pPr>
            <a:r>
              <a:rPr lang="en-US" sz="1000" dirty="0">
                <a:solidFill>
                  <a:srgbClr val="1E293B"/>
                </a:solidFill>
              </a:rPr>
              <a:t>Streaming is the top call driver (1,022 calls), closely followed by Tech Support (1,019)</a:t>
            </a:r>
            <a:endParaRPr lang="en-US" sz="1000" dirty="0"/>
          </a:p>
          <a:p>
            <a:pPr marL="342900" indent="-342900">
              <a:buSzPct val="100000"/>
              <a:buChar char="•"/>
            </a:pPr>
            <a:r>
              <a:rPr lang="en-US" sz="1000" dirty="0">
                <a:solidFill>
                  <a:srgbClr val="1E293B"/>
                </a:solidFill>
              </a:rPr>
              <a:t>Dan &amp; Martha lead satisfaction (3.37–3.38); Joe is lowest at 3.27</a:t>
            </a:r>
            <a:endParaRPr lang="en-US" sz="1000" dirty="0"/>
          </a:p>
        </p:txBody>
      </p:sp>
      <p:sp>
        <p:nvSpPr>
          <p:cNvPr id="14" name="Shape 12"/>
          <p:cNvSpPr/>
          <p:nvPr/>
        </p:nvSpPr>
        <p:spPr>
          <a:xfrm>
            <a:off x="320040" y="3154680"/>
            <a:ext cx="196596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3154680"/>
            <a:ext cx="1965960" cy="54864"/>
          </a:xfrm>
          <a:prstGeom prst="rect">
            <a:avLst/>
          </a:prstGeom>
          <a:solidFill>
            <a:srgbClr val="0D7377"/>
          </a:solidFill>
          <a:ln w="12700">
            <a:solidFill>
              <a:srgbClr val="0D7377"/>
            </a:solidFill>
            <a:prstDash val="solid"/>
          </a:ln>
        </p:spPr>
      </p:sp>
      <p:sp>
        <p:nvSpPr>
          <p:cNvPr id="16" name="Text 14"/>
          <p:cNvSpPr/>
          <p:nvPr/>
        </p:nvSpPr>
        <p:spPr>
          <a:xfrm>
            <a:off x="411480" y="3291840"/>
            <a:ext cx="1783080" cy="930402"/>
          </a:xfrm>
          <a:prstGeom prst="rect">
            <a:avLst/>
          </a:prstGeom>
          <a:noFill/>
          <a:ln/>
        </p:spPr>
        <p:txBody>
          <a:bodyPr wrap="square" rtlCol="0" anchor="ctr"/>
          <a:lstStyle/>
          <a:p>
            <a:pPr marL="0" indent="0" algn="ctr">
              <a:buNone/>
            </a:pPr>
            <a:r>
              <a:rPr lang="en-US" sz="2800" b="1" dirty="0">
                <a:solidFill>
                  <a:srgbClr val="0D7377"/>
                </a:solidFill>
              </a:rPr>
              <a:t>January</a:t>
            </a:r>
            <a:endParaRPr lang="en-US" sz="2800" dirty="0"/>
          </a:p>
        </p:txBody>
      </p:sp>
      <p:sp>
        <p:nvSpPr>
          <p:cNvPr id="17" name="Text 15"/>
          <p:cNvSpPr/>
          <p:nvPr/>
        </p:nvSpPr>
        <p:spPr>
          <a:xfrm>
            <a:off x="411480" y="4203497"/>
            <a:ext cx="1783080" cy="592074"/>
          </a:xfrm>
          <a:prstGeom prst="rect">
            <a:avLst/>
          </a:prstGeom>
          <a:noFill/>
          <a:ln/>
        </p:spPr>
        <p:txBody>
          <a:bodyPr wrap="square" rtlCol="0" anchor="ctr"/>
          <a:lstStyle/>
          <a:p>
            <a:pPr marL="0" indent="0" algn="ctr">
              <a:buNone/>
            </a:pPr>
            <a:r>
              <a:rPr lang="en-US" sz="950" b="1" dirty="0">
                <a:solidFill>
                  <a:srgbClr val="64748B"/>
                </a:solidFill>
              </a:rPr>
              <a:t>Peak Month</a:t>
            </a:r>
            <a:endParaRPr lang="en-US" sz="950" dirty="0"/>
          </a:p>
          <a:p>
            <a:pPr marL="0" indent="0" algn="ctr">
              <a:buNone/>
            </a:pPr>
            <a:r>
              <a:rPr lang="en-US" sz="950" b="1" dirty="0">
                <a:solidFill>
                  <a:srgbClr val="64748B"/>
                </a:solidFill>
              </a:rPr>
              <a:t>1,772 calls</a:t>
            </a:r>
            <a:endParaRPr lang="en-US" sz="950" dirty="0"/>
          </a:p>
        </p:txBody>
      </p:sp>
      <p:sp>
        <p:nvSpPr>
          <p:cNvPr id="18" name="Shape 16"/>
          <p:cNvSpPr/>
          <p:nvPr/>
        </p:nvSpPr>
        <p:spPr>
          <a:xfrm>
            <a:off x="2468880" y="3154680"/>
            <a:ext cx="196596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2468880" y="3154680"/>
            <a:ext cx="1965960" cy="54864"/>
          </a:xfrm>
          <a:prstGeom prst="rect">
            <a:avLst/>
          </a:prstGeom>
          <a:solidFill>
            <a:srgbClr val="EF4444"/>
          </a:solidFill>
          <a:ln w="12700">
            <a:solidFill>
              <a:srgbClr val="EF4444"/>
            </a:solidFill>
            <a:prstDash val="solid"/>
          </a:ln>
        </p:spPr>
      </p:sp>
      <p:sp>
        <p:nvSpPr>
          <p:cNvPr id="20" name="Text 18"/>
          <p:cNvSpPr/>
          <p:nvPr/>
        </p:nvSpPr>
        <p:spPr>
          <a:xfrm>
            <a:off x="2560320" y="3291840"/>
            <a:ext cx="1783080" cy="930402"/>
          </a:xfrm>
          <a:prstGeom prst="rect">
            <a:avLst/>
          </a:prstGeom>
          <a:noFill/>
          <a:ln/>
        </p:spPr>
        <p:txBody>
          <a:bodyPr wrap="square" rtlCol="0" anchor="ctr"/>
          <a:lstStyle/>
          <a:p>
            <a:pPr marL="0" indent="0" algn="ctr">
              <a:buNone/>
            </a:pPr>
            <a:r>
              <a:rPr lang="en-US" sz="2800" b="1" dirty="0">
                <a:solidFill>
                  <a:srgbClr val="EF4444"/>
                </a:solidFill>
              </a:rPr>
              <a:t>18.9%</a:t>
            </a:r>
            <a:endParaRPr lang="en-US" sz="2800" dirty="0"/>
          </a:p>
        </p:txBody>
      </p:sp>
      <p:sp>
        <p:nvSpPr>
          <p:cNvPr id="21" name="Text 19"/>
          <p:cNvSpPr/>
          <p:nvPr/>
        </p:nvSpPr>
        <p:spPr>
          <a:xfrm>
            <a:off x="2560320" y="4203497"/>
            <a:ext cx="1783080" cy="592074"/>
          </a:xfrm>
          <a:prstGeom prst="rect">
            <a:avLst/>
          </a:prstGeom>
          <a:noFill/>
          <a:ln/>
        </p:spPr>
        <p:txBody>
          <a:bodyPr wrap="square" rtlCol="0" anchor="ctr"/>
          <a:lstStyle/>
          <a:p>
            <a:pPr marL="0" indent="0" algn="ctr">
              <a:buNone/>
            </a:pPr>
            <a:r>
              <a:rPr lang="en-US" sz="950" b="1" dirty="0">
                <a:solidFill>
                  <a:srgbClr val="64748B"/>
                </a:solidFill>
              </a:rPr>
              <a:t>Unanswered Rate</a:t>
            </a:r>
            <a:endParaRPr lang="en-US" sz="950" dirty="0"/>
          </a:p>
          <a:p>
            <a:pPr marL="0" indent="0" algn="ctr">
              <a:buNone/>
            </a:pPr>
            <a:r>
              <a:rPr lang="en-US" sz="950" b="1" dirty="0">
                <a:solidFill>
                  <a:srgbClr val="64748B"/>
                </a:solidFill>
              </a:rPr>
              <a:t>946 of 5,000</a:t>
            </a:r>
            <a:endParaRPr lang="en-US" sz="950" dirty="0"/>
          </a:p>
        </p:txBody>
      </p:sp>
      <p:sp>
        <p:nvSpPr>
          <p:cNvPr id="22" name="Shape 20"/>
          <p:cNvSpPr/>
          <p:nvPr/>
        </p:nvSpPr>
        <p:spPr>
          <a:xfrm>
            <a:off x="4617720" y="3154680"/>
            <a:ext cx="196596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4617720" y="3154680"/>
            <a:ext cx="1965960" cy="54864"/>
          </a:xfrm>
          <a:prstGeom prst="rect">
            <a:avLst/>
          </a:prstGeom>
          <a:solidFill>
            <a:srgbClr val="10B981"/>
          </a:solidFill>
          <a:ln w="12700">
            <a:solidFill>
              <a:srgbClr val="10B981"/>
            </a:solidFill>
            <a:prstDash val="solid"/>
          </a:ln>
        </p:spPr>
      </p:sp>
      <p:sp>
        <p:nvSpPr>
          <p:cNvPr id="24" name="Text 22"/>
          <p:cNvSpPr/>
          <p:nvPr/>
        </p:nvSpPr>
        <p:spPr>
          <a:xfrm>
            <a:off x="4709160" y="3291840"/>
            <a:ext cx="1783080" cy="930402"/>
          </a:xfrm>
          <a:prstGeom prst="rect">
            <a:avLst/>
          </a:prstGeom>
          <a:noFill/>
          <a:ln/>
        </p:spPr>
        <p:txBody>
          <a:bodyPr wrap="square" rtlCol="0" anchor="ctr"/>
          <a:lstStyle/>
          <a:p>
            <a:pPr marL="0" indent="0" algn="ctr">
              <a:buNone/>
            </a:pPr>
            <a:r>
              <a:rPr lang="en-US" sz="2800" b="1" dirty="0">
                <a:solidFill>
                  <a:srgbClr val="10B981"/>
                </a:solidFill>
              </a:rPr>
              <a:t>Martha</a:t>
            </a:r>
            <a:endParaRPr lang="en-US" sz="2800" dirty="0"/>
          </a:p>
        </p:txBody>
      </p:sp>
      <p:sp>
        <p:nvSpPr>
          <p:cNvPr id="25" name="Text 23"/>
          <p:cNvSpPr/>
          <p:nvPr/>
        </p:nvSpPr>
        <p:spPr>
          <a:xfrm>
            <a:off x="4709160" y="4203497"/>
            <a:ext cx="1783080" cy="592074"/>
          </a:xfrm>
          <a:prstGeom prst="rect">
            <a:avLst/>
          </a:prstGeom>
          <a:noFill/>
          <a:ln/>
        </p:spPr>
        <p:txBody>
          <a:bodyPr wrap="square" rtlCol="0" anchor="ctr"/>
          <a:lstStyle/>
          <a:p>
            <a:pPr marL="0" indent="0" algn="ctr">
              <a:buNone/>
            </a:pPr>
            <a:r>
              <a:rPr lang="en-US" sz="950" b="1" dirty="0">
                <a:solidFill>
                  <a:srgbClr val="64748B"/>
                </a:solidFill>
              </a:rPr>
              <a:t>Top CSAT Agent</a:t>
            </a:r>
            <a:endParaRPr lang="en-US" sz="950" dirty="0"/>
          </a:p>
          <a:p>
            <a:pPr marL="0" indent="0" algn="ctr">
              <a:buNone/>
            </a:pPr>
            <a:r>
              <a:rPr lang="en-US" sz="950" b="1" dirty="0">
                <a:solidFill>
                  <a:srgbClr val="64748B"/>
                </a:solidFill>
              </a:rPr>
              <a:t>3.38 avg rating</a:t>
            </a:r>
            <a:endParaRPr lang="en-US" sz="950" dirty="0"/>
          </a:p>
        </p:txBody>
      </p:sp>
      <p:sp>
        <p:nvSpPr>
          <p:cNvPr id="26" name="Shape 24"/>
          <p:cNvSpPr/>
          <p:nvPr/>
        </p:nvSpPr>
        <p:spPr>
          <a:xfrm>
            <a:off x="6766560" y="3154680"/>
            <a:ext cx="196596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7" name="Shape 25"/>
          <p:cNvSpPr/>
          <p:nvPr/>
        </p:nvSpPr>
        <p:spPr>
          <a:xfrm>
            <a:off x="6766560" y="3154680"/>
            <a:ext cx="1965960" cy="54864"/>
          </a:xfrm>
          <a:prstGeom prst="rect">
            <a:avLst/>
          </a:prstGeom>
          <a:solidFill>
            <a:srgbClr val="F5A623"/>
          </a:solidFill>
          <a:ln w="12700">
            <a:solidFill>
              <a:srgbClr val="F5A623"/>
            </a:solidFill>
            <a:prstDash val="solid"/>
          </a:ln>
        </p:spPr>
      </p:sp>
      <p:sp>
        <p:nvSpPr>
          <p:cNvPr id="28" name="Text 26"/>
          <p:cNvSpPr/>
          <p:nvPr/>
        </p:nvSpPr>
        <p:spPr>
          <a:xfrm>
            <a:off x="6858000" y="3291840"/>
            <a:ext cx="1783080" cy="930402"/>
          </a:xfrm>
          <a:prstGeom prst="rect">
            <a:avLst/>
          </a:prstGeom>
          <a:noFill/>
          <a:ln/>
        </p:spPr>
        <p:txBody>
          <a:bodyPr wrap="square" rtlCol="0" anchor="ctr"/>
          <a:lstStyle/>
          <a:p>
            <a:pPr marL="0" indent="0" algn="ctr">
              <a:buNone/>
            </a:pPr>
            <a:r>
              <a:rPr lang="en-US" sz="2800" b="1" dirty="0">
                <a:solidFill>
                  <a:srgbClr val="F5A623"/>
                </a:solidFill>
              </a:rPr>
              <a:t>Streaming</a:t>
            </a:r>
            <a:endParaRPr lang="en-US" sz="2800" dirty="0"/>
          </a:p>
        </p:txBody>
      </p:sp>
      <p:sp>
        <p:nvSpPr>
          <p:cNvPr id="29" name="Text 27"/>
          <p:cNvSpPr/>
          <p:nvPr/>
        </p:nvSpPr>
        <p:spPr>
          <a:xfrm>
            <a:off x="6858000" y="4203497"/>
            <a:ext cx="1783080" cy="592074"/>
          </a:xfrm>
          <a:prstGeom prst="rect">
            <a:avLst/>
          </a:prstGeom>
          <a:noFill/>
          <a:ln/>
        </p:spPr>
        <p:txBody>
          <a:bodyPr wrap="square" rtlCol="0" anchor="ctr"/>
          <a:lstStyle/>
          <a:p>
            <a:pPr marL="0" indent="0" algn="ctr">
              <a:buNone/>
            </a:pPr>
            <a:r>
              <a:rPr lang="en-US" sz="950" b="1" dirty="0">
                <a:solidFill>
                  <a:srgbClr val="64748B"/>
                </a:solidFill>
              </a:rPr>
              <a:t>Top Call Topic</a:t>
            </a:r>
            <a:endParaRPr lang="en-US" sz="950" dirty="0"/>
          </a:p>
          <a:p>
            <a:pPr marL="0" indent="0" algn="ctr">
              <a:buNone/>
            </a:pPr>
            <a:r>
              <a:rPr lang="en-US" sz="950" b="1" dirty="0">
                <a:solidFill>
                  <a:srgbClr val="64748B"/>
                </a:solidFill>
              </a:rPr>
              <a:t>1,022 calls (20.4%)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1 — Bar Chart: Calls Answered by Agent</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Agent Workload Distribution Analysis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89320" y="1143000"/>
            <a:ext cx="28346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5989320" y="1143000"/>
            <a:ext cx="64008" cy="1691640"/>
          </a:xfrm>
          <a:prstGeom prst="rect">
            <a:avLst/>
          </a:prstGeom>
          <a:solidFill>
            <a:srgbClr val="0D7377"/>
          </a:solidFill>
          <a:ln w="12700">
            <a:solidFill>
              <a:srgbClr val="0D7377"/>
            </a:solidFill>
            <a:prstDash val="solid"/>
          </a:ln>
        </p:spPr>
      </p:sp>
      <p:sp>
        <p:nvSpPr>
          <p:cNvPr id="9" name="Text 6"/>
          <p:cNvSpPr/>
          <p:nvPr/>
        </p:nvSpPr>
        <p:spPr>
          <a:xfrm>
            <a:off x="6172200" y="1207008"/>
            <a:ext cx="2560320" cy="292608"/>
          </a:xfrm>
          <a:prstGeom prst="rect">
            <a:avLst/>
          </a:prstGeom>
          <a:noFill/>
          <a:ln/>
        </p:spPr>
        <p:txBody>
          <a:bodyPr wrap="square" rtlCol="0" anchor="ctr"/>
          <a:lstStyle/>
          <a:p>
            <a:pPr marL="0" indent="0">
              <a:buNone/>
            </a:pPr>
            <a:r>
              <a:rPr lang="en-US" sz="1200" b="1" dirty="0">
                <a:solidFill>
                  <a:srgbClr val="1B2A4A"/>
                </a:solidFill>
              </a:rPr>
              <a:t>Key Insights</a:t>
            </a:r>
            <a:endParaRPr lang="en-US" sz="1200" dirty="0"/>
          </a:p>
        </p:txBody>
      </p:sp>
      <p:sp>
        <p:nvSpPr>
          <p:cNvPr id="10" name="Text 7"/>
          <p:cNvSpPr/>
          <p:nvPr/>
        </p:nvSpPr>
        <p:spPr>
          <a:xfrm>
            <a:off x="6217920" y="1490472"/>
            <a:ext cx="2514600" cy="1280160"/>
          </a:xfrm>
          <a:prstGeom prst="rect">
            <a:avLst/>
          </a:prstGeom>
          <a:noFill/>
          <a:ln/>
        </p:spPr>
        <p:txBody>
          <a:bodyPr wrap="square" rtlCol="0" anchor="ctr"/>
          <a:lstStyle/>
          <a:p>
            <a:pPr marL="342900" indent="-342900">
              <a:buSzPct val="100000"/>
              <a:buChar char="•"/>
            </a:pPr>
            <a:r>
              <a:rPr lang="en-US" sz="1000" dirty="0">
                <a:solidFill>
                  <a:srgbClr val="1E293B"/>
                </a:solidFill>
              </a:rPr>
              <a:t>Jim leads workload at 536 answered calls</a:t>
            </a:r>
            <a:endParaRPr lang="en-US" sz="1000" dirty="0"/>
          </a:p>
          <a:p>
            <a:pPr marL="342900" indent="-342900">
              <a:buSzPct val="100000"/>
              <a:buChar char="•"/>
            </a:pPr>
            <a:r>
              <a:rPr lang="en-US" sz="1000" dirty="0">
                <a:solidFill>
                  <a:srgbClr val="1E293B"/>
                </a:solidFill>
              </a:rPr>
              <a:t>Stewart has the lightest load at 477 calls</a:t>
            </a:r>
            <a:endParaRPr lang="en-US" sz="1000" dirty="0"/>
          </a:p>
          <a:p>
            <a:pPr marL="342900" indent="-342900">
              <a:buSzPct val="100000"/>
              <a:buChar char="•"/>
            </a:pPr>
            <a:r>
              <a:rPr lang="en-US" sz="1000" dirty="0">
                <a:solidFill>
                  <a:srgbClr val="1E293B"/>
                </a:solidFill>
              </a:rPr>
              <a:t>Difference between top &amp; bottom: 12.4%</a:t>
            </a:r>
            <a:endParaRPr lang="en-US" sz="1000" dirty="0"/>
          </a:p>
          <a:p>
            <a:pPr marL="342900" indent="-342900">
              <a:buSzPct val="100000"/>
              <a:buChar char="•"/>
            </a:pPr>
            <a:r>
              <a:rPr lang="en-US" sz="1000" dirty="0">
                <a:solidFill>
                  <a:srgbClr val="1E293B"/>
                </a:solidFill>
              </a:rPr>
              <a:t>Workload is broadly balanced across 8 agents</a:t>
            </a:r>
            <a:endParaRPr lang="en-US" sz="1000" dirty="0"/>
          </a:p>
          <a:p>
            <a:pPr marL="342900" indent="-342900">
              <a:buSzPct val="100000"/>
              <a:buChar char="•"/>
            </a:pPr>
            <a:r>
              <a:rPr lang="en-US" sz="1000" dirty="0">
                <a:solidFill>
                  <a:srgbClr val="1E293B"/>
                </a:solidFill>
              </a:rPr>
              <a:t>No agent is significantly overloaded</a:t>
            </a:r>
            <a:endParaRPr lang="en-US" sz="1000" dirty="0"/>
          </a:p>
        </p:txBody>
      </p:sp>
      <p:sp>
        <p:nvSpPr>
          <p:cNvPr id="11" name="Shape 8"/>
          <p:cNvSpPr/>
          <p:nvPr/>
        </p:nvSpPr>
        <p:spPr>
          <a:xfrm>
            <a:off x="5989320" y="3017520"/>
            <a:ext cx="28346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5989320" y="3017520"/>
            <a:ext cx="64008" cy="1691640"/>
          </a:xfrm>
          <a:prstGeom prst="rect">
            <a:avLst/>
          </a:prstGeom>
          <a:solidFill>
            <a:srgbClr val="1B2A4A"/>
          </a:solidFill>
          <a:ln w="12700">
            <a:solidFill>
              <a:srgbClr val="1B2A4A"/>
            </a:solidFill>
            <a:prstDash val="solid"/>
          </a:ln>
        </p:spPr>
      </p:sp>
      <p:sp>
        <p:nvSpPr>
          <p:cNvPr id="13" name="Text 10"/>
          <p:cNvSpPr/>
          <p:nvPr/>
        </p:nvSpPr>
        <p:spPr>
          <a:xfrm>
            <a:off x="6172200" y="3081528"/>
            <a:ext cx="2560320" cy="292608"/>
          </a:xfrm>
          <a:prstGeom prst="rect">
            <a:avLst/>
          </a:prstGeom>
          <a:noFill/>
          <a:ln/>
        </p:spPr>
        <p:txBody>
          <a:bodyPr wrap="square" rtlCol="0" anchor="ctr"/>
          <a:lstStyle/>
          <a:p>
            <a:pPr marL="0" indent="0">
              <a:buNone/>
            </a:pPr>
            <a:r>
              <a:rPr lang="en-US" sz="1200" b="1" dirty="0">
                <a:solidFill>
                  <a:srgbClr val="1B2A4A"/>
                </a:solidFill>
              </a:rPr>
              <a:t>Business Implication</a:t>
            </a:r>
            <a:endParaRPr lang="en-US" sz="1200" dirty="0"/>
          </a:p>
        </p:txBody>
      </p:sp>
      <p:sp>
        <p:nvSpPr>
          <p:cNvPr id="14" name="Text 11"/>
          <p:cNvSpPr/>
          <p:nvPr/>
        </p:nvSpPr>
        <p:spPr>
          <a:xfrm>
            <a:off x="6217920" y="3364992"/>
            <a:ext cx="2514600" cy="1280160"/>
          </a:xfrm>
          <a:prstGeom prst="rect">
            <a:avLst/>
          </a:prstGeom>
          <a:noFill/>
          <a:ln/>
        </p:spPr>
        <p:txBody>
          <a:bodyPr wrap="square" rtlCol="0" anchor="ctr"/>
          <a:lstStyle/>
          <a:p>
            <a:pPr marL="342900" indent="-342900">
              <a:buSzPct val="100000"/>
              <a:buChar char="•"/>
            </a:pPr>
            <a:r>
              <a:rPr lang="en-US" sz="1000" dirty="0">
                <a:solidFill>
                  <a:srgbClr val="1E293B"/>
                </a:solidFill>
              </a:rPr>
              <a:t>Even distribution indicates good scheduling</a:t>
            </a:r>
            <a:endParaRPr lang="en-US" sz="1000" dirty="0"/>
          </a:p>
          <a:p>
            <a:pPr marL="342900" indent="-342900">
              <a:buSzPct val="100000"/>
              <a:buChar char="•"/>
            </a:pPr>
            <a:r>
              <a:rPr lang="en-US" sz="1000" dirty="0">
                <a:solidFill>
                  <a:srgbClr val="1E293B"/>
                </a:solidFill>
              </a:rPr>
              <a:t>Slight volume tilt toward Jim warrants monitoring</a:t>
            </a:r>
            <a:endParaRPr lang="en-US" sz="1000" dirty="0"/>
          </a:p>
          <a:p>
            <a:pPr marL="342900" indent="-342900">
              <a:buSzPct val="100000"/>
              <a:buChar char="•"/>
            </a:pPr>
            <a:r>
              <a:rPr lang="en-US" sz="1000" dirty="0">
                <a:solidFill>
                  <a:srgbClr val="1E293B"/>
                </a:solidFill>
              </a:rPr>
              <a:t>Equitable workload supports consistent CSAT across agents</a:t>
            </a:r>
            <a:endParaRPr lang="en-US" sz="1000" dirty="0"/>
          </a:p>
          <a:p>
            <a:pPr marL="342900" indent="-342900">
              <a:buSzPct val="100000"/>
              <a:buChar char="•"/>
            </a:pPr>
            <a:r>
              <a:rPr lang="en-US" sz="1000" dirty="0">
                <a:solidFill>
                  <a:srgbClr val="1E293B"/>
                </a:solidFill>
              </a:rPr>
              <a:t>Consider dynamic routing to balance real-time loads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2 — Line Chart: Customer Satisfaction by Agent</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CSAT Performance Trend Across Team</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89320" y="114300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5989320" y="1143000"/>
            <a:ext cx="2834640" cy="54864"/>
          </a:xfrm>
          <a:prstGeom prst="rect">
            <a:avLst/>
          </a:prstGeom>
          <a:solidFill>
            <a:srgbClr val="10B981"/>
          </a:solidFill>
          <a:ln w="12700">
            <a:solidFill>
              <a:srgbClr val="10B981"/>
            </a:solidFill>
            <a:prstDash val="solid"/>
          </a:ln>
        </p:spPr>
      </p:sp>
      <p:sp>
        <p:nvSpPr>
          <p:cNvPr id="9" name="Text 6"/>
          <p:cNvSpPr/>
          <p:nvPr/>
        </p:nvSpPr>
        <p:spPr>
          <a:xfrm>
            <a:off x="6080760" y="1280160"/>
            <a:ext cx="2651760" cy="442570"/>
          </a:xfrm>
          <a:prstGeom prst="rect">
            <a:avLst/>
          </a:prstGeom>
          <a:noFill/>
          <a:ln/>
        </p:spPr>
        <p:txBody>
          <a:bodyPr wrap="square" rtlCol="0" anchor="ctr"/>
          <a:lstStyle/>
          <a:p>
            <a:pPr marL="0" indent="0" algn="ctr">
              <a:buNone/>
            </a:pPr>
            <a:r>
              <a:rPr lang="en-US" sz="2800" b="1" dirty="0">
                <a:solidFill>
                  <a:srgbClr val="10B981"/>
                </a:solidFill>
              </a:rPr>
              <a:t>3.38</a:t>
            </a:r>
            <a:endParaRPr lang="en-US" sz="2800" dirty="0"/>
          </a:p>
        </p:txBody>
      </p:sp>
      <p:sp>
        <p:nvSpPr>
          <p:cNvPr id="10" name="Text 7"/>
          <p:cNvSpPr/>
          <p:nvPr/>
        </p:nvSpPr>
        <p:spPr>
          <a:xfrm>
            <a:off x="6080760" y="1641897"/>
            <a:ext cx="2651760" cy="281635"/>
          </a:xfrm>
          <a:prstGeom prst="rect">
            <a:avLst/>
          </a:prstGeom>
          <a:noFill/>
          <a:ln/>
        </p:spPr>
        <p:txBody>
          <a:bodyPr wrap="square" rtlCol="0" anchor="ctr"/>
          <a:lstStyle/>
          <a:p>
            <a:pPr marL="0" indent="0" algn="ctr">
              <a:buNone/>
            </a:pPr>
            <a:r>
              <a:rPr lang="en-US" sz="950" b="1" dirty="0">
                <a:solidFill>
                  <a:srgbClr val="64748B"/>
                </a:solidFill>
              </a:rPr>
              <a:t>Martha — Top CSAT Agent</a:t>
            </a:r>
            <a:endParaRPr lang="en-US" sz="950" dirty="0"/>
          </a:p>
        </p:txBody>
      </p:sp>
      <p:sp>
        <p:nvSpPr>
          <p:cNvPr id="11" name="Shape 8"/>
          <p:cNvSpPr/>
          <p:nvPr/>
        </p:nvSpPr>
        <p:spPr>
          <a:xfrm>
            <a:off x="5989320" y="201168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5989320" y="2011680"/>
            <a:ext cx="2834640" cy="54864"/>
          </a:xfrm>
          <a:prstGeom prst="rect">
            <a:avLst/>
          </a:prstGeom>
          <a:solidFill>
            <a:srgbClr val="EF4444"/>
          </a:solidFill>
          <a:ln w="12700">
            <a:solidFill>
              <a:srgbClr val="EF4444"/>
            </a:solidFill>
            <a:prstDash val="solid"/>
          </a:ln>
        </p:spPr>
      </p:sp>
      <p:sp>
        <p:nvSpPr>
          <p:cNvPr id="13" name="Text 10"/>
          <p:cNvSpPr/>
          <p:nvPr/>
        </p:nvSpPr>
        <p:spPr>
          <a:xfrm>
            <a:off x="6080760" y="2148840"/>
            <a:ext cx="2651760" cy="442570"/>
          </a:xfrm>
          <a:prstGeom prst="rect">
            <a:avLst/>
          </a:prstGeom>
          <a:noFill/>
          <a:ln/>
        </p:spPr>
        <p:txBody>
          <a:bodyPr wrap="square" rtlCol="0" anchor="ctr"/>
          <a:lstStyle/>
          <a:p>
            <a:pPr marL="0" indent="0" algn="ctr">
              <a:buNone/>
            </a:pPr>
            <a:r>
              <a:rPr lang="en-US" sz="2800" b="1" dirty="0">
                <a:solidFill>
                  <a:srgbClr val="EF4444"/>
                </a:solidFill>
              </a:rPr>
              <a:t>3.27</a:t>
            </a:r>
            <a:endParaRPr lang="en-US" sz="2800" dirty="0"/>
          </a:p>
        </p:txBody>
      </p:sp>
      <p:sp>
        <p:nvSpPr>
          <p:cNvPr id="14" name="Text 11"/>
          <p:cNvSpPr/>
          <p:nvPr/>
        </p:nvSpPr>
        <p:spPr>
          <a:xfrm>
            <a:off x="6080760" y="2510577"/>
            <a:ext cx="2651760" cy="281635"/>
          </a:xfrm>
          <a:prstGeom prst="rect">
            <a:avLst/>
          </a:prstGeom>
          <a:noFill/>
          <a:ln/>
        </p:spPr>
        <p:txBody>
          <a:bodyPr wrap="square" rtlCol="0" anchor="ctr"/>
          <a:lstStyle/>
          <a:p>
            <a:pPr marL="0" indent="0" algn="ctr">
              <a:buNone/>
            </a:pPr>
            <a:r>
              <a:rPr lang="en-US" sz="950" b="1" dirty="0">
                <a:solidFill>
                  <a:srgbClr val="64748B"/>
                </a:solidFill>
              </a:rPr>
              <a:t>Joe — Lowest CSAT Agent</a:t>
            </a:r>
            <a:endParaRPr lang="en-US" sz="950" dirty="0"/>
          </a:p>
        </p:txBody>
      </p:sp>
      <p:sp>
        <p:nvSpPr>
          <p:cNvPr id="15" name="Shape 12"/>
          <p:cNvSpPr/>
          <p:nvPr/>
        </p:nvSpPr>
        <p:spPr>
          <a:xfrm>
            <a:off x="5989320" y="288036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6" name="Shape 13"/>
          <p:cNvSpPr/>
          <p:nvPr/>
        </p:nvSpPr>
        <p:spPr>
          <a:xfrm>
            <a:off x="5989320" y="2880360"/>
            <a:ext cx="2834640" cy="54864"/>
          </a:xfrm>
          <a:prstGeom prst="rect">
            <a:avLst/>
          </a:prstGeom>
          <a:solidFill>
            <a:srgbClr val="0D7377"/>
          </a:solidFill>
          <a:ln w="12700">
            <a:solidFill>
              <a:srgbClr val="0D7377"/>
            </a:solidFill>
            <a:prstDash val="solid"/>
          </a:ln>
        </p:spPr>
      </p:sp>
      <p:sp>
        <p:nvSpPr>
          <p:cNvPr id="17" name="Text 14"/>
          <p:cNvSpPr/>
          <p:nvPr/>
        </p:nvSpPr>
        <p:spPr>
          <a:xfrm>
            <a:off x="6080760" y="3017520"/>
            <a:ext cx="2651760" cy="442570"/>
          </a:xfrm>
          <a:prstGeom prst="rect">
            <a:avLst/>
          </a:prstGeom>
          <a:noFill/>
          <a:ln/>
        </p:spPr>
        <p:txBody>
          <a:bodyPr wrap="square" rtlCol="0" anchor="ctr"/>
          <a:lstStyle/>
          <a:p>
            <a:pPr marL="0" indent="0" algn="ctr">
              <a:buNone/>
            </a:pPr>
            <a:r>
              <a:rPr lang="en-US" sz="2800" b="1" dirty="0">
                <a:solidFill>
                  <a:srgbClr val="0D7377"/>
                </a:solidFill>
              </a:rPr>
              <a:t>3.33</a:t>
            </a:r>
            <a:endParaRPr lang="en-US" sz="2800" dirty="0"/>
          </a:p>
        </p:txBody>
      </p:sp>
      <p:sp>
        <p:nvSpPr>
          <p:cNvPr id="18" name="Text 15"/>
          <p:cNvSpPr/>
          <p:nvPr/>
        </p:nvSpPr>
        <p:spPr>
          <a:xfrm>
            <a:off x="6080760" y="3379257"/>
            <a:ext cx="2651760" cy="281635"/>
          </a:xfrm>
          <a:prstGeom prst="rect">
            <a:avLst/>
          </a:prstGeom>
          <a:noFill/>
          <a:ln/>
        </p:spPr>
        <p:txBody>
          <a:bodyPr wrap="square" rtlCol="0" anchor="ctr"/>
          <a:lstStyle/>
          <a:p>
            <a:pPr marL="0" indent="0" algn="ctr">
              <a:buNone/>
            </a:pPr>
            <a:r>
              <a:rPr lang="en-US" sz="950" b="1" dirty="0">
                <a:solidFill>
                  <a:srgbClr val="64748B"/>
                </a:solidFill>
              </a:rPr>
              <a:t>Team Average CSAT</a:t>
            </a:r>
            <a:endParaRPr lang="en-US" sz="950" dirty="0"/>
          </a:p>
        </p:txBody>
      </p:sp>
      <p:sp>
        <p:nvSpPr>
          <p:cNvPr id="19" name="Shape 16"/>
          <p:cNvSpPr/>
          <p:nvPr/>
        </p:nvSpPr>
        <p:spPr>
          <a:xfrm>
            <a:off x="5989320" y="3730021"/>
            <a:ext cx="2834640" cy="1074096"/>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0" name="Shape 17"/>
          <p:cNvSpPr/>
          <p:nvPr/>
        </p:nvSpPr>
        <p:spPr>
          <a:xfrm>
            <a:off x="5989320" y="3730021"/>
            <a:ext cx="91440" cy="1074096"/>
          </a:xfrm>
          <a:prstGeom prst="rect">
            <a:avLst/>
          </a:prstGeom>
          <a:solidFill>
            <a:srgbClr val="F59E0B"/>
          </a:solidFill>
          <a:ln w="12700">
            <a:solidFill>
              <a:srgbClr val="F59E0B"/>
            </a:solidFill>
            <a:prstDash val="solid"/>
          </a:ln>
        </p:spPr>
      </p:sp>
      <p:sp>
        <p:nvSpPr>
          <p:cNvPr id="21" name="Text 18"/>
          <p:cNvSpPr/>
          <p:nvPr/>
        </p:nvSpPr>
        <p:spPr>
          <a:xfrm>
            <a:off x="6172200" y="3730021"/>
            <a:ext cx="2560320" cy="292608"/>
          </a:xfrm>
          <a:prstGeom prst="rect">
            <a:avLst/>
          </a:prstGeom>
          <a:noFill/>
          <a:ln/>
        </p:spPr>
        <p:txBody>
          <a:bodyPr wrap="square" rtlCol="0" anchor="ctr"/>
          <a:lstStyle/>
          <a:p>
            <a:pPr marL="0" indent="0">
              <a:buNone/>
            </a:pPr>
            <a:r>
              <a:rPr lang="en-US" sz="1200" b="1" dirty="0">
                <a:solidFill>
                  <a:srgbClr val="1B2A4A"/>
                </a:solidFill>
              </a:rPr>
              <a:t>Coaching Priority</a:t>
            </a:r>
            <a:endParaRPr lang="en-US" sz="1200" dirty="0"/>
          </a:p>
        </p:txBody>
      </p:sp>
      <p:sp>
        <p:nvSpPr>
          <p:cNvPr id="22" name="Text 19"/>
          <p:cNvSpPr/>
          <p:nvPr/>
        </p:nvSpPr>
        <p:spPr>
          <a:xfrm>
            <a:off x="6080760" y="4000500"/>
            <a:ext cx="2651760" cy="708660"/>
          </a:xfrm>
          <a:prstGeom prst="rect">
            <a:avLst/>
          </a:prstGeom>
          <a:noFill/>
          <a:ln/>
        </p:spPr>
        <p:txBody>
          <a:bodyPr wrap="square" rtlCol="0" anchor="ctr"/>
          <a:lstStyle/>
          <a:p>
            <a:pPr marL="342900" indent="-342900">
              <a:buSzPct val="100000"/>
              <a:buChar char="•"/>
            </a:pPr>
            <a:r>
              <a:rPr lang="en-US" sz="900" dirty="0">
                <a:solidFill>
                  <a:srgbClr val="1E293B"/>
                </a:solidFill>
              </a:rPr>
              <a:t>Joe needs immediate support — 0.11 pts below team average</a:t>
            </a:r>
            <a:endParaRPr lang="en-US" sz="900" dirty="0"/>
          </a:p>
          <a:p>
            <a:pPr marL="342900" indent="-342900">
              <a:buSzPct val="100000"/>
              <a:buChar char="•"/>
            </a:pPr>
            <a:r>
              <a:rPr lang="en-US" sz="900" dirty="0">
                <a:solidFill>
                  <a:srgbClr val="1E293B"/>
                </a:solidFill>
              </a:rPr>
              <a:t>Dan &amp; Martha best practices should be documented and shared</a:t>
            </a:r>
            <a:endParaRPr lang="en-US" sz="900" dirty="0"/>
          </a:p>
          <a:p>
            <a:pPr marL="342900" indent="-342900">
              <a:buSzPct val="100000"/>
              <a:buChar char="•"/>
            </a:pPr>
            <a:r>
              <a:rPr lang="en-US" sz="900" dirty="0">
                <a:solidFill>
                  <a:srgbClr val="1E293B"/>
                </a:solidFill>
              </a:rPr>
              <a:t>3.3 industry floor — team is at risk of falling below threshold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3 — Pie Chart: Call Topic Distribution</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Volume Share by Call Category</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0292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532120" y="1143000"/>
            <a:ext cx="201168" cy="329184"/>
          </a:xfrm>
          <a:prstGeom prst="rect">
            <a:avLst/>
          </a:prstGeom>
          <a:solidFill>
            <a:srgbClr val="0D7377"/>
          </a:solidFill>
          <a:ln w="12700">
            <a:solidFill>
              <a:srgbClr val="0D7377"/>
            </a:solidFill>
            <a:prstDash val="solid"/>
          </a:ln>
        </p:spPr>
      </p:sp>
      <p:sp>
        <p:nvSpPr>
          <p:cNvPr id="8" name="Text 5"/>
          <p:cNvSpPr/>
          <p:nvPr/>
        </p:nvSpPr>
        <p:spPr>
          <a:xfrm>
            <a:off x="5806440" y="1143000"/>
            <a:ext cx="2011680" cy="201168"/>
          </a:xfrm>
          <a:prstGeom prst="rect">
            <a:avLst/>
          </a:prstGeom>
          <a:noFill/>
          <a:ln/>
        </p:spPr>
        <p:txBody>
          <a:bodyPr wrap="square" rtlCol="0" anchor="ctr"/>
          <a:lstStyle/>
          <a:p>
            <a:pPr marL="0" indent="0">
              <a:buNone/>
            </a:pPr>
            <a:r>
              <a:rPr lang="en-US" sz="1000" b="1" dirty="0">
                <a:solidFill>
                  <a:srgbClr val="1E293B"/>
                </a:solidFill>
              </a:rPr>
              <a:t>Streaming</a:t>
            </a:r>
            <a:endParaRPr lang="en-US" sz="1000" dirty="0"/>
          </a:p>
        </p:txBody>
      </p:sp>
      <p:sp>
        <p:nvSpPr>
          <p:cNvPr id="9" name="Text 6"/>
          <p:cNvSpPr/>
          <p:nvPr/>
        </p:nvSpPr>
        <p:spPr>
          <a:xfrm>
            <a:off x="5806440" y="1344168"/>
            <a:ext cx="2011680" cy="201168"/>
          </a:xfrm>
          <a:prstGeom prst="rect">
            <a:avLst/>
          </a:prstGeom>
          <a:noFill/>
          <a:ln/>
        </p:spPr>
        <p:txBody>
          <a:bodyPr wrap="square" rtlCol="0" anchor="ctr"/>
          <a:lstStyle/>
          <a:p>
            <a:pPr marL="0" indent="0">
              <a:buNone/>
            </a:pPr>
            <a:r>
              <a:rPr lang="en-US" sz="900" dirty="0">
                <a:solidFill>
                  <a:srgbClr val="64748B"/>
                </a:solidFill>
              </a:rPr>
              <a:t>1,022 calls  |  20.4%</a:t>
            </a:r>
            <a:endParaRPr lang="en-US" sz="900" dirty="0"/>
          </a:p>
        </p:txBody>
      </p:sp>
      <p:sp>
        <p:nvSpPr>
          <p:cNvPr id="10" name="Shape 7"/>
          <p:cNvSpPr/>
          <p:nvPr/>
        </p:nvSpPr>
        <p:spPr>
          <a:xfrm>
            <a:off x="5532120" y="1801368"/>
            <a:ext cx="201168" cy="329184"/>
          </a:xfrm>
          <a:prstGeom prst="rect">
            <a:avLst/>
          </a:prstGeom>
          <a:solidFill>
            <a:srgbClr val="1B2A4A"/>
          </a:solidFill>
          <a:ln w="12700">
            <a:solidFill>
              <a:srgbClr val="1B2A4A"/>
            </a:solidFill>
            <a:prstDash val="solid"/>
          </a:ln>
        </p:spPr>
      </p:sp>
      <p:sp>
        <p:nvSpPr>
          <p:cNvPr id="11" name="Text 8"/>
          <p:cNvSpPr/>
          <p:nvPr/>
        </p:nvSpPr>
        <p:spPr>
          <a:xfrm>
            <a:off x="5806440" y="1801368"/>
            <a:ext cx="2011680" cy="201168"/>
          </a:xfrm>
          <a:prstGeom prst="rect">
            <a:avLst/>
          </a:prstGeom>
          <a:noFill/>
          <a:ln/>
        </p:spPr>
        <p:txBody>
          <a:bodyPr wrap="square" rtlCol="0" anchor="ctr"/>
          <a:lstStyle/>
          <a:p>
            <a:pPr marL="0" indent="0">
              <a:buNone/>
            </a:pPr>
            <a:r>
              <a:rPr lang="en-US" sz="1000" b="1" dirty="0">
                <a:solidFill>
                  <a:srgbClr val="1E293B"/>
                </a:solidFill>
              </a:rPr>
              <a:t>Technical Support</a:t>
            </a:r>
            <a:endParaRPr lang="en-US" sz="1000" dirty="0"/>
          </a:p>
        </p:txBody>
      </p:sp>
      <p:sp>
        <p:nvSpPr>
          <p:cNvPr id="12" name="Text 9"/>
          <p:cNvSpPr/>
          <p:nvPr/>
        </p:nvSpPr>
        <p:spPr>
          <a:xfrm>
            <a:off x="5806440" y="2002536"/>
            <a:ext cx="2011680" cy="201168"/>
          </a:xfrm>
          <a:prstGeom prst="rect">
            <a:avLst/>
          </a:prstGeom>
          <a:noFill/>
          <a:ln/>
        </p:spPr>
        <p:txBody>
          <a:bodyPr wrap="square" rtlCol="0" anchor="ctr"/>
          <a:lstStyle/>
          <a:p>
            <a:pPr marL="0" indent="0">
              <a:buNone/>
            </a:pPr>
            <a:r>
              <a:rPr lang="en-US" sz="900" dirty="0">
                <a:solidFill>
                  <a:srgbClr val="64748B"/>
                </a:solidFill>
              </a:rPr>
              <a:t>1,019 calls  |  20.4%</a:t>
            </a:r>
            <a:endParaRPr lang="en-US" sz="900" dirty="0"/>
          </a:p>
        </p:txBody>
      </p:sp>
      <p:sp>
        <p:nvSpPr>
          <p:cNvPr id="13" name="Shape 10"/>
          <p:cNvSpPr/>
          <p:nvPr/>
        </p:nvSpPr>
        <p:spPr>
          <a:xfrm>
            <a:off x="5532120" y="2459736"/>
            <a:ext cx="201168" cy="329184"/>
          </a:xfrm>
          <a:prstGeom prst="rect">
            <a:avLst/>
          </a:prstGeom>
          <a:solidFill>
            <a:srgbClr val="F5A623"/>
          </a:solidFill>
          <a:ln w="12700">
            <a:solidFill>
              <a:srgbClr val="F5A623"/>
            </a:solidFill>
            <a:prstDash val="solid"/>
          </a:ln>
        </p:spPr>
      </p:sp>
      <p:sp>
        <p:nvSpPr>
          <p:cNvPr id="14" name="Text 11"/>
          <p:cNvSpPr/>
          <p:nvPr/>
        </p:nvSpPr>
        <p:spPr>
          <a:xfrm>
            <a:off x="5806440" y="2459736"/>
            <a:ext cx="2011680" cy="201168"/>
          </a:xfrm>
          <a:prstGeom prst="rect">
            <a:avLst/>
          </a:prstGeom>
          <a:noFill/>
          <a:ln/>
        </p:spPr>
        <p:txBody>
          <a:bodyPr wrap="square" rtlCol="0" anchor="ctr"/>
          <a:lstStyle/>
          <a:p>
            <a:pPr marL="0" indent="0">
              <a:buNone/>
            </a:pPr>
            <a:r>
              <a:rPr lang="en-US" sz="1000" b="1" dirty="0">
                <a:solidFill>
                  <a:srgbClr val="1E293B"/>
                </a:solidFill>
              </a:rPr>
              <a:t>Payment Related</a:t>
            </a:r>
            <a:endParaRPr lang="en-US" sz="1000" dirty="0"/>
          </a:p>
        </p:txBody>
      </p:sp>
      <p:sp>
        <p:nvSpPr>
          <p:cNvPr id="15" name="Text 12"/>
          <p:cNvSpPr/>
          <p:nvPr/>
        </p:nvSpPr>
        <p:spPr>
          <a:xfrm>
            <a:off x="5806440" y="2660904"/>
            <a:ext cx="2011680" cy="201168"/>
          </a:xfrm>
          <a:prstGeom prst="rect">
            <a:avLst/>
          </a:prstGeom>
          <a:noFill/>
          <a:ln/>
        </p:spPr>
        <p:txBody>
          <a:bodyPr wrap="square" rtlCol="0" anchor="ctr"/>
          <a:lstStyle/>
          <a:p>
            <a:pPr marL="0" indent="0">
              <a:buNone/>
            </a:pPr>
            <a:r>
              <a:rPr lang="en-US" sz="900" dirty="0">
                <a:solidFill>
                  <a:srgbClr val="64748B"/>
                </a:solidFill>
              </a:rPr>
              <a:t>1,007 calls  |  20.1%</a:t>
            </a:r>
            <a:endParaRPr lang="en-US" sz="900" dirty="0"/>
          </a:p>
        </p:txBody>
      </p:sp>
      <p:sp>
        <p:nvSpPr>
          <p:cNvPr id="16" name="Shape 13"/>
          <p:cNvSpPr/>
          <p:nvPr/>
        </p:nvSpPr>
        <p:spPr>
          <a:xfrm>
            <a:off x="5532120" y="3118104"/>
            <a:ext cx="201168" cy="329184"/>
          </a:xfrm>
          <a:prstGeom prst="rect">
            <a:avLst/>
          </a:prstGeom>
          <a:solidFill>
            <a:srgbClr val="10B981"/>
          </a:solidFill>
          <a:ln w="12700">
            <a:solidFill>
              <a:srgbClr val="10B981"/>
            </a:solidFill>
            <a:prstDash val="solid"/>
          </a:ln>
        </p:spPr>
      </p:sp>
      <p:sp>
        <p:nvSpPr>
          <p:cNvPr id="17" name="Text 14"/>
          <p:cNvSpPr/>
          <p:nvPr/>
        </p:nvSpPr>
        <p:spPr>
          <a:xfrm>
            <a:off x="5806440" y="3118104"/>
            <a:ext cx="2011680" cy="201168"/>
          </a:xfrm>
          <a:prstGeom prst="rect">
            <a:avLst/>
          </a:prstGeom>
          <a:noFill/>
          <a:ln/>
        </p:spPr>
        <p:txBody>
          <a:bodyPr wrap="square" rtlCol="0" anchor="ctr"/>
          <a:lstStyle/>
          <a:p>
            <a:pPr marL="0" indent="0">
              <a:buNone/>
            </a:pPr>
            <a:r>
              <a:rPr lang="en-US" sz="1000" b="1" dirty="0">
                <a:solidFill>
                  <a:srgbClr val="1E293B"/>
                </a:solidFill>
              </a:rPr>
              <a:t>Contract Related</a:t>
            </a:r>
            <a:endParaRPr lang="en-US" sz="1000" dirty="0"/>
          </a:p>
        </p:txBody>
      </p:sp>
      <p:sp>
        <p:nvSpPr>
          <p:cNvPr id="18" name="Text 15"/>
          <p:cNvSpPr/>
          <p:nvPr/>
        </p:nvSpPr>
        <p:spPr>
          <a:xfrm>
            <a:off x="5806440" y="3319272"/>
            <a:ext cx="2011680" cy="201168"/>
          </a:xfrm>
          <a:prstGeom prst="rect">
            <a:avLst/>
          </a:prstGeom>
          <a:noFill/>
          <a:ln/>
        </p:spPr>
        <p:txBody>
          <a:bodyPr wrap="square" rtlCol="0" anchor="ctr"/>
          <a:lstStyle/>
          <a:p>
            <a:pPr marL="0" indent="0">
              <a:buNone/>
            </a:pPr>
            <a:r>
              <a:rPr lang="en-US" sz="900" dirty="0">
                <a:solidFill>
                  <a:srgbClr val="64748B"/>
                </a:solidFill>
              </a:rPr>
              <a:t>976 calls  |  19.5%</a:t>
            </a:r>
            <a:endParaRPr lang="en-US" sz="900" dirty="0"/>
          </a:p>
        </p:txBody>
      </p:sp>
      <p:sp>
        <p:nvSpPr>
          <p:cNvPr id="19" name="Shape 16"/>
          <p:cNvSpPr/>
          <p:nvPr/>
        </p:nvSpPr>
        <p:spPr>
          <a:xfrm>
            <a:off x="5532120" y="3776472"/>
            <a:ext cx="201168" cy="329184"/>
          </a:xfrm>
          <a:prstGeom prst="rect">
            <a:avLst/>
          </a:prstGeom>
          <a:solidFill>
            <a:srgbClr val="14BDEB"/>
          </a:solidFill>
          <a:ln w="12700">
            <a:solidFill>
              <a:srgbClr val="14BDEB"/>
            </a:solidFill>
            <a:prstDash val="solid"/>
          </a:ln>
        </p:spPr>
      </p:sp>
      <p:sp>
        <p:nvSpPr>
          <p:cNvPr id="20" name="Text 17"/>
          <p:cNvSpPr/>
          <p:nvPr/>
        </p:nvSpPr>
        <p:spPr>
          <a:xfrm>
            <a:off x="5806440" y="3776472"/>
            <a:ext cx="2011680" cy="201168"/>
          </a:xfrm>
          <a:prstGeom prst="rect">
            <a:avLst/>
          </a:prstGeom>
          <a:noFill/>
          <a:ln/>
        </p:spPr>
        <p:txBody>
          <a:bodyPr wrap="square" rtlCol="0" anchor="ctr"/>
          <a:lstStyle/>
          <a:p>
            <a:pPr marL="0" indent="0">
              <a:buNone/>
            </a:pPr>
            <a:r>
              <a:rPr lang="en-US" sz="1000" b="1" dirty="0">
                <a:solidFill>
                  <a:srgbClr val="1E293B"/>
                </a:solidFill>
              </a:rPr>
              <a:t>Admin Support</a:t>
            </a:r>
            <a:endParaRPr lang="en-US" sz="1000" dirty="0"/>
          </a:p>
        </p:txBody>
      </p:sp>
      <p:sp>
        <p:nvSpPr>
          <p:cNvPr id="21" name="Text 18"/>
          <p:cNvSpPr/>
          <p:nvPr/>
        </p:nvSpPr>
        <p:spPr>
          <a:xfrm>
            <a:off x="5806440" y="3977640"/>
            <a:ext cx="2011680" cy="201168"/>
          </a:xfrm>
          <a:prstGeom prst="rect">
            <a:avLst/>
          </a:prstGeom>
          <a:noFill/>
          <a:ln/>
        </p:spPr>
        <p:txBody>
          <a:bodyPr wrap="square" rtlCol="0" anchor="ctr"/>
          <a:lstStyle/>
          <a:p>
            <a:pPr marL="0" indent="0">
              <a:buNone/>
            </a:pPr>
            <a:r>
              <a:rPr lang="en-US" sz="900" dirty="0">
                <a:solidFill>
                  <a:srgbClr val="64748B"/>
                </a:solidFill>
              </a:rPr>
              <a:t>976 calls  |  19.5%</a:t>
            </a:r>
            <a:endParaRPr lang="en-US" sz="900" dirty="0"/>
          </a:p>
        </p:txBody>
      </p:sp>
      <p:sp>
        <p:nvSpPr>
          <p:cNvPr id="22" name="Shape 19"/>
          <p:cNvSpPr/>
          <p:nvPr/>
        </p:nvSpPr>
        <p:spPr>
          <a:xfrm>
            <a:off x="5440680" y="4434840"/>
            <a:ext cx="3337560" cy="3657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3" name="Shape 20"/>
          <p:cNvSpPr/>
          <p:nvPr/>
        </p:nvSpPr>
        <p:spPr>
          <a:xfrm>
            <a:off x="5440680" y="4434840"/>
            <a:ext cx="64008" cy="365760"/>
          </a:xfrm>
          <a:prstGeom prst="rect">
            <a:avLst/>
          </a:prstGeom>
          <a:solidFill>
            <a:srgbClr val="0D7377"/>
          </a:solidFill>
          <a:ln w="12700">
            <a:solidFill>
              <a:srgbClr val="0D7377"/>
            </a:solidFill>
            <a:prstDash val="solid"/>
          </a:ln>
        </p:spPr>
      </p:sp>
      <p:sp>
        <p:nvSpPr>
          <p:cNvPr id="24" name="Text 21"/>
          <p:cNvSpPr/>
          <p:nvPr/>
        </p:nvSpPr>
        <p:spPr>
          <a:xfrm>
            <a:off x="5623560" y="4498848"/>
            <a:ext cx="3063240" cy="292608"/>
          </a:xfrm>
          <a:prstGeom prst="rect">
            <a:avLst/>
          </a:prstGeom>
          <a:noFill/>
          <a:ln/>
        </p:spPr>
        <p:txBody>
          <a:bodyPr wrap="square" rtlCol="0" anchor="ctr"/>
          <a:lstStyle/>
          <a:p>
            <a:pPr marL="0" indent="0">
              <a:buNone/>
            </a:pPr>
            <a:endParaRPr lang="en-US" sz="1200" dirty="0"/>
          </a:p>
        </p:txBody>
      </p:sp>
      <p:sp>
        <p:nvSpPr>
          <p:cNvPr id="25" name="Text 22"/>
          <p:cNvSpPr/>
          <p:nvPr/>
        </p:nvSpPr>
        <p:spPr>
          <a:xfrm>
            <a:off x="5669280" y="4620534"/>
            <a:ext cx="3017520" cy="0"/>
          </a:xfrm>
          <a:prstGeom prst="rect">
            <a:avLst/>
          </a:prstGeom>
          <a:noFill/>
          <a:ln/>
        </p:spPr>
        <p:txBody>
          <a:bodyPr wrap="square" rtlCol="0" anchor="ctr"/>
          <a:lstStyle/>
          <a:p>
            <a:pPr marL="342900" indent="-342900">
              <a:buSzPct val="100000"/>
              <a:buChar char="•"/>
            </a:pPr>
            <a:r>
              <a:rPr lang="en-US" sz="1000" dirty="0">
                <a:solidFill>
                  <a:srgbClr val="1E293B"/>
                </a:solidFill>
              </a:rPr>
              <a:t>Topics are nearly equally distributed (19.5%–20.4%) — no single category dominates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5 — Trend Analysis: Monthly Call Volume</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Q1 2021 Volume Patterns — January to March</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89320" y="114300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5989320" y="1143000"/>
            <a:ext cx="2834640" cy="54864"/>
          </a:xfrm>
          <a:prstGeom prst="rect">
            <a:avLst/>
          </a:prstGeom>
          <a:solidFill>
            <a:srgbClr val="EF4444"/>
          </a:solidFill>
          <a:ln w="12700">
            <a:solidFill>
              <a:srgbClr val="EF4444"/>
            </a:solidFill>
            <a:prstDash val="solid"/>
          </a:ln>
        </p:spPr>
      </p:sp>
      <p:sp>
        <p:nvSpPr>
          <p:cNvPr id="9" name="Text 6"/>
          <p:cNvSpPr/>
          <p:nvPr/>
        </p:nvSpPr>
        <p:spPr>
          <a:xfrm>
            <a:off x="6080760" y="1280160"/>
            <a:ext cx="2651760" cy="442570"/>
          </a:xfrm>
          <a:prstGeom prst="rect">
            <a:avLst/>
          </a:prstGeom>
          <a:noFill/>
          <a:ln/>
        </p:spPr>
        <p:txBody>
          <a:bodyPr wrap="square" rtlCol="0" anchor="ctr"/>
          <a:lstStyle/>
          <a:p>
            <a:pPr marL="0" indent="0" algn="ctr">
              <a:buNone/>
            </a:pPr>
            <a:r>
              <a:rPr lang="en-US" sz="2800" b="1" dirty="0">
                <a:solidFill>
                  <a:srgbClr val="EF4444"/>
                </a:solidFill>
              </a:rPr>
              <a:t>1,772</a:t>
            </a:r>
            <a:endParaRPr lang="en-US" sz="2800" dirty="0"/>
          </a:p>
        </p:txBody>
      </p:sp>
      <p:sp>
        <p:nvSpPr>
          <p:cNvPr id="10" name="Text 7"/>
          <p:cNvSpPr/>
          <p:nvPr/>
        </p:nvSpPr>
        <p:spPr>
          <a:xfrm>
            <a:off x="6080760" y="1641897"/>
            <a:ext cx="2651760" cy="281635"/>
          </a:xfrm>
          <a:prstGeom prst="rect">
            <a:avLst/>
          </a:prstGeom>
          <a:noFill/>
          <a:ln/>
        </p:spPr>
        <p:txBody>
          <a:bodyPr wrap="square" rtlCol="0" anchor="ctr"/>
          <a:lstStyle/>
          <a:p>
            <a:pPr marL="0" indent="0" algn="ctr">
              <a:buNone/>
            </a:pPr>
            <a:r>
              <a:rPr lang="en-US" sz="950" b="1" dirty="0">
                <a:solidFill>
                  <a:srgbClr val="64748B"/>
                </a:solidFill>
              </a:rPr>
              <a:t>January — Peak Month</a:t>
            </a:r>
            <a:endParaRPr lang="en-US" sz="950" dirty="0"/>
          </a:p>
        </p:txBody>
      </p:sp>
      <p:sp>
        <p:nvSpPr>
          <p:cNvPr id="11" name="Shape 8"/>
          <p:cNvSpPr/>
          <p:nvPr/>
        </p:nvSpPr>
        <p:spPr>
          <a:xfrm>
            <a:off x="5989320" y="201168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5989320" y="2011680"/>
            <a:ext cx="2834640" cy="54864"/>
          </a:xfrm>
          <a:prstGeom prst="rect">
            <a:avLst/>
          </a:prstGeom>
          <a:solidFill>
            <a:srgbClr val="F59E0B"/>
          </a:solidFill>
          <a:ln w="12700">
            <a:solidFill>
              <a:srgbClr val="F59E0B"/>
            </a:solidFill>
            <a:prstDash val="solid"/>
          </a:ln>
        </p:spPr>
      </p:sp>
      <p:sp>
        <p:nvSpPr>
          <p:cNvPr id="13" name="Text 10"/>
          <p:cNvSpPr/>
          <p:nvPr/>
        </p:nvSpPr>
        <p:spPr>
          <a:xfrm>
            <a:off x="6080760" y="2148840"/>
            <a:ext cx="2651760" cy="442570"/>
          </a:xfrm>
          <a:prstGeom prst="rect">
            <a:avLst/>
          </a:prstGeom>
          <a:noFill/>
          <a:ln/>
        </p:spPr>
        <p:txBody>
          <a:bodyPr wrap="square" rtlCol="0" anchor="ctr"/>
          <a:lstStyle/>
          <a:p>
            <a:pPr marL="0" indent="0" algn="ctr">
              <a:buNone/>
            </a:pPr>
            <a:r>
              <a:rPr lang="en-US" sz="2800" b="1" dirty="0">
                <a:solidFill>
                  <a:srgbClr val="F59E0B"/>
                </a:solidFill>
              </a:rPr>
              <a:t>-8.8%</a:t>
            </a:r>
            <a:endParaRPr lang="en-US" sz="2800" dirty="0"/>
          </a:p>
        </p:txBody>
      </p:sp>
      <p:sp>
        <p:nvSpPr>
          <p:cNvPr id="14" name="Text 11"/>
          <p:cNvSpPr/>
          <p:nvPr/>
        </p:nvSpPr>
        <p:spPr>
          <a:xfrm>
            <a:off x="6080760" y="2510577"/>
            <a:ext cx="2651760" cy="281635"/>
          </a:xfrm>
          <a:prstGeom prst="rect">
            <a:avLst/>
          </a:prstGeom>
          <a:noFill/>
          <a:ln/>
        </p:spPr>
        <p:txBody>
          <a:bodyPr wrap="square" rtlCol="0" anchor="ctr"/>
          <a:lstStyle/>
          <a:p>
            <a:pPr marL="0" indent="0" algn="ctr">
              <a:buNone/>
            </a:pPr>
            <a:r>
              <a:rPr lang="en-US" sz="950" b="1" dirty="0">
                <a:solidFill>
                  <a:srgbClr val="64748B"/>
                </a:solidFill>
              </a:rPr>
              <a:t>Feb vs Jan Drop in Volume</a:t>
            </a:r>
            <a:endParaRPr lang="en-US" sz="950" dirty="0"/>
          </a:p>
        </p:txBody>
      </p:sp>
      <p:sp>
        <p:nvSpPr>
          <p:cNvPr id="15" name="Shape 12"/>
          <p:cNvSpPr/>
          <p:nvPr/>
        </p:nvSpPr>
        <p:spPr>
          <a:xfrm>
            <a:off x="5989320" y="2880360"/>
            <a:ext cx="283464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6" name="Shape 13"/>
          <p:cNvSpPr/>
          <p:nvPr/>
        </p:nvSpPr>
        <p:spPr>
          <a:xfrm>
            <a:off x="5989320" y="2880360"/>
            <a:ext cx="2834640" cy="54864"/>
          </a:xfrm>
          <a:prstGeom prst="rect">
            <a:avLst/>
          </a:prstGeom>
          <a:solidFill>
            <a:srgbClr val="0D7377"/>
          </a:solidFill>
          <a:ln w="12700">
            <a:solidFill>
              <a:srgbClr val="0D7377"/>
            </a:solidFill>
            <a:prstDash val="solid"/>
          </a:ln>
        </p:spPr>
      </p:sp>
      <p:sp>
        <p:nvSpPr>
          <p:cNvPr id="17" name="Text 14"/>
          <p:cNvSpPr/>
          <p:nvPr/>
        </p:nvSpPr>
        <p:spPr>
          <a:xfrm>
            <a:off x="6080760" y="3017520"/>
            <a:ext cx="2651760" cy="442570"/>
          </a:xfrm>
          <a:prstGeom prst="rect">
            <a:avLst/>
          </a:prstGeom>
          <a:noFill/>
          <a:ln/>
        </p:spPr>
        <p:txBody>
          <a:bodyPr wrap="square" rtlCol="0" anchor="ctr"/>
          <a:lstStyle/>
          <a:p>
            <a:pPr marL="0" indent="0" algn="ctr">
              <a:buNone/>
            </a:pPr>
            <a:r>
              <a:rPr lang="en-US" sz="2800" b="1" dirty="0">
                <a:solidFill>
                  <a:srgbClr val="0D7377"/>
                </a:solidFill>
              </a:rPr>
              <a:t>~1,614</a:t>
            </a:r>
            <a:endParaRPr lang="en-US" sz="2800" dirty="0"/>
          </a:p>
        </p:txBody>
      </p:sp>
      <p:sp>
        <p:nvSpPr>
          <p:cNvPr id="18" name="Text 15"/>
          <p:cNvSpPr/>
          <p:nvPr/>
        </p:nvSpPr>
        <p:spPr>
          <a:xfrm>
            <a:off x="6080760" y="3379257"/>
            <a:ext cx="2651760" cy="281635"/>
          </a:xfrm>
          <a:prstGeom prst="rect">
            <a:avLst/>
          </a:prstGeom>
          <a:noFill/>
          <a:ln/>
        </p:spPr>
        <p:txBody>
          <a:bodyPr wrap="square" rtlCol="0" anchor="ctr"/>
          <a:lstStyle/>
          <a:p>
            <a:pPr marL="0" indent="0" algn="ctr">
              <a:buNone/>
            </a:pPr>
            <a:r>
              <a:rPr lang="en-US" sz="950" b="1" dirty="0">
                <a:solidFill>
                  <a:srgbClr val="64748B"/>
                </a:solidFill>
              </a:rPr>
              <a:t>Feb–Mar Avg (Stabilized)</a:t>
            </a:r>
            <a:endParaRPr lang="en-US" sz="950" dirty="0"/>
          </a:p>
        </p:txBody>
      </p:sp>
      <p:sp>
        <p:nvSpPr>
          <p:cNvPr id="19" name="Shape 16"/>
          <p:cNvSpPr/>
          <p:nvPr/>
        </p:nvSpPr>
        <p:spPr>
          <a:xfrm>
            <a:off x="5989320" y="3749040"/>
            <a:ext cx="2834640" cy="11887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0" name="Shape 17"/>
          <p:cNvSpPr/>
          <p:nvPr/>
        </p:nvSpPr>
        <p:spPr>
          <a:xfrm>
            <a:off x="5989320" y="3749039"/>
            <a:ext cx="64008" cy="1188719"/>
          </a:xfrm>
          <a:prstGeom prst="rect">
            <a:avLst/>
          </a:prstGeom>
          <a:solidFill>
            <a:srgbClr val="1B2A4A"/>
          </a:solidFill>
          <a:ln w="12700">
            <a:solidFill>
              <a:srgbClr val="1B2A4A"/>
            </a:solidFill>
            <a:prstDash val="solid"/>
          </a:ln>
        </p:spPr>
      </p:sp>
      <p:sp>
        <p:nvSpPr>
          <p:cNvPr id="21" name="Text 18"/>
          <p:cNvSpPr/>
          <p:nvPr/>
        </p:nvSpPr>
        <p:spPr>
          <a:xfrm>
            <a:off x="6172200" y="3713871"/>
            <a:ext cx="2560320" cy="292608"/>
          </a:xfrm>
          <a:prstGeom prst="rect">
            <a:avLst/>
          </a:prstGeom>
          <a:noFill/>
          <a:ln/>
        </p:spPr>
        <p:txBody>
          <a:bodyPr wrap="square" rtlCol="0" anchor="ctr"/>
          <a:lstStyle/>
          <a:p>
            <a:pPr marL="0" indent="0">
              <a:buNone/>
            </a:pPr>
            <a:r>
              <a:rPr lang="en-US" sz="1200" b="1" dirty="0">
                <a:solidFill>
                  <a:srgbClr val="1B2A4A"/>
                </a:solidFill>
              </a:rPr>
              <a:t>Staffing Implication</a:t>
            </a:r>
            <a:endParaRPr lang="en-US" sz="1200" dirty="0"/>
          </a:p>
        </p:txBody>
      </p:sp>
      <p:sp>
        <p:nvSpPr>
          <p:cNvPr id="22" name="Text 19"/>
          <p:cNvSpPr/>
          <p:nvPr/>
        </p:nvSpPr>
        <p:spPr>
          <a:xfrm>
            <a:off x="6195060" y="4160520"/>
            <a:ext cx="2514600" cy="594360"/>
          </a:xfrm>
          <a:prstGeom prst="rect">
            <a:avLst/>
          </a:prstGeom>
          <a:noFill/>
          <a:ln/>
        </p:spPr>
        <p:txBody>
          <a:bodyPr wrap="square" rtlCol="0" anchor="ctr"/>
          <a:lstStyle/>
          <a:p>
            <a:pPr marL="342900" indent="-342900">
              <a:buSzPct val="100000"/>
              <a:buChar char="•"/>
            </a:pPr>
            <a:r>
              <a:rPr lang="en-US" sz="1000" dirty="0">
                <a:solidFill>
                  <a:srgbClr val="1E293B"/>
                </a:solidFill>
              </a:rPr>
              <a:t>January spike likely linked to post-holiday billing/streaming issues</a:t>
            </a:r>
            <a:endParaRPr lang="en-US" sz="1000" dirty="0"/>
          </a:p>
          <a:p>
            <a:pPr marL="342900" indent="-342900">
              <a:buSzPct val="100000"/>
              <a:buChar char="•"/>
            </a:pPr>
            <a:r>
              <a:rPr lang="en-US" sz="1000" dirty="0">
                <a:solidFill>
                  <a:srgbClr val="1E293B"/>
                </a:solidFill>
              </a:rPr>
              <a:t>Feb–Mar stabilization suggests normal operational baseline</a:t>
            </a:r>
            <a:endParaRPr lang="en-US" sz="1000" dirty="0"/>
          </a:p>
          <a:p>
            <a:pPr marL="342900" indent="-342900">
              <a:buSzPct val="100000"/>
              <a:buChar char="•"/>
            </a:pPr>
            <a:r>
              <a:rPr lang="en-US" sz="1000" dirty="0">
                <a:solidFill>
                  <a:srgbClr val="1E293B"/>
                </a:solidFill>
              </a:rPr>
              <a:t>Recommend +15% staffing buffer in January each year to handle peak load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6 — Comparative Analysis: Answered vs Resolved</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Agent-Level Performance Gap Identification</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9436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446520" y="1143000"/>
            <a:ext cx="2377440" cy="35661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Text 5"/>
          <p:cNvSpPr/>
          <p:nvPr/>
        </p:nvSpPr>
        <p:spPr>
          <a:xfrm>
            <a:off x="6537960" y="1188720"/>
            <a:ext cx="2194560" cy="320040"/>
          </a:xfrm>
          <a:prstGeom prst="rect">
            <a:avLst/>
          </a:prstGeom>
          <a:noFill/>
          <a:ln/>
        </p:spPr>
        <p:txBody>
          <a:bodyPr wrap="square" rtlCol="0" anchor="ctr"/>
          <a:lstStyle/>
          <a:p>
            <a:pPr marL="0" indent="0">
              <a:buNone/>
            </a:pPr>
            <a:r>
              <a:rPr lang="en-US" sz="1100" b="1" dirty="0">
                <a:solidFill>
                  <a:srgbClr val="1B2A4A"/>
                </a:solidFill>
              </a:rPr>
              <a:t>Resolution Rates</a:t>
            </a:r>
            <a:endParaRPr lang="en-US" sz="1100" dirty="0"/>
          </a:p>
        </p:txBody>
      </p:sp>
      <p:sp>
        <p:nvSpPr>
          <p:cNvPr id="9" name="Text 6"/>
          <p:cNvSpPr/>
          <p:nvPr/>
        </p:nvSpPr>
        <p:spPr>
          <a:xfrm>
            <a:off x="6537960" y="1572768"/>
            <a:ext cx="914400" cy="320040"/>
          </a:xfrm>
          <a:prstGeom prst="rect">
            <a:avLst/>
          </a:prstGeom>
          <a:noFill/>
          <a:ln/>
        </p:spPr>
        <p:txBody>
          <a:bodyPr wrap="square" rtlCol="0" anchor="ctr"/>
          <a:lstStyle/>
          <a:p>
            <a:pPr marL="0" indent="0">
              <a:buNone/>
            </a:pPr>
            <a:r>
              <a:rPr lang="en-US" sz="1000" b="1" dirty="0">
                <a:solidFill>
                  <a:srgbClr val="1E293B"/>
                </a:solidFill>
              </a:rPr>
              <a:t>Jim</a:t>
            </a:r>
            <a:endParaRPr lang="en-US" sz="1000" dirty="0"/>
          </a:p>
        </p:txBody>
      </p:sp>
      <p:sp>
        <p:nvSpPr>
          <p:cNvPr id="10" name="Text 7"/>
          <p:cNvSpPr/>
          <p:nvPr/>
        </p:nvSpPr>
        <p:spPr>
          <a:xfrm>
            <a:off x="7452360" y="1572768"/>
            <a:ext cx="822960" cy="320040"/>
          </a:xfrm>
          <a:prstGeom prst="rect">
            <a:avLst/>
          </a:prstGeom>
          <a:noFill/>
          <a:ln/>
        </p:spPr>
        <p:txBody>
          <a:bodyPr wrap="square" rtlCol="0" anchor="ctr"/>
          <a:lstStyle/>
          <a:p>
            <a:pPr marL="0" indent="0" algn="r">
              <a:buNone/>
            </a:pPr>
            <a:r>
              <a:rPr lang="en-US" sz="1200" b="1" dirty="0">
                <a:solidFill>
                  <a:srgbClr val="0D7377"/>
                </a:solidFill>
              </a:rPr>
              <a:t>90.5%</a:t>
            </a:r>
            <a:endParaRPr lang="en-US" sz="1200" dirty="0"/>
          </a:p>
        </p:txBody>
      </p:sp>
      <p:sp>
        <p:nvSpPr>
          <p:cNvPr id="11" name="Text 8"/>
          <p:cNvSpPr/>
          <p:nvPr/>
        </p:nvSpPr>
        <p:spPr>
          <a:xfrm>
            <a:off x="6537960" y="1892808"/>
            <a:ext cx="1737360" cy="256032"/>
          </a:xfrm>
          <a:prstGeom prst="rect">
            <a:avLst/>
          </a:prstGeom>
          <a:noFill/>
          <a:ln/>
        </p:spPr>
        <p:txBody>
          <a:bodyPr wrap="square" rtlCol="0" anchor="ctr"/>
          <a:lstStyle/>
          <a:p>
            <a:pPr marL="0" indent="0">
              <a:buNone/>
            </a:pPr>
            <a:r>
              <a:rPr lang="en-US" sz="850" dirty="0">
                <a:solidFill>
                  <a:srgbClr val="64748B"/>
                </a:solidFill>
              </a:rPr>
              <a:t>536 ans → 485 res</a:t>
            </a:r>
            <a:endParaRPr lang="en-US" sz="850" dirty="0"/>
          </a:p>
        </p:txBody>
      </p:sp>
      <p:sp>
        <p:nvSpPr>
          <p:cNvPr id="12" name="Shape 9"/>
          <p:cNvSpPr/>
          <p:nvPr/>
        </p:nvSpPr>
        <p:spPr>
          <a:xfrm>
            <a:off x="6492240" y="2176272"/>
            <a:ext cx="2286000" cy="0"/>
          </a:xfrm>
          <a:prstGeom prst="line">
            <a:avLst/>
          </a:prstGeom>
          <a:noFill/>
          <a:ln w="6350">
            <a:solidFill>
              <a:srgbClr val="CBD5E1"/>
            </a:solidFill>
            <a:prstDash val="solid"/>
          </a:ln>
        </p:spPr>
      </p:sp>
      <p:sp>
        <p:nvSpPr>
          <p:cNvPr id="13" name="Text 10"/>
          <p:cNvSpPr/>
          <p:nvPr/>
        </p:nvSpPr>
        <p:spPr>
          <a:xfrm>
            <a:off x="6537960" y="2322576"/>
            <a:ext cx="914400" cy="320040"/>
          </a:xfrm>
          <a:prstGeom prst="rect">
            <a:avLst/>
          </a:prstGeom>
          <a:noFill/>
          <a:ln/>
        </p:spPr>
        <p:txBody>
          <a:bodyPr wrap="square" rtlCol="0" anchor="ctr"/>
          <a:lstStyle/>
          <a:p>
            <a:pPr marL="0" indent="0">
              <a:buNone/>
            </a:pPr>
            <a:r>
              <a:rPr lang="en-US" sz="1000" b="1" dirty="0">
                <a:solidFill>
                  <a:srgbClr val="1E293B"/>
                </a:solidFill>
              </a:rPr>
              <a:t>Greg</a:t>
            </a:r>
            <a:endParaRPr lang="en-US" sz="1000" dirty="0"/>
          </a:p>
        </p:txBody>
      </p:sp>
      <p:sp>
        <p:nvSpPr>
          <p:cNvPr id="14" name="Text 11"/>
          <p:cNvSpPr/>
          <p:nvPr/>
        </p:nvSpPr>
        <p:spPr>
          <a:xfrm>
            <a:off x="7452360" y="2322576"/>
            <a:ext cx="822960" cy="320040"/>
          </a:xfrm>
          <a:prstGeom prst="rect">
            <a:avLst/>
          </a:prstGeom>
          <a:noFill/>
          <a:ln/>
        </p:spPr>
        <p:txBody>
          <a:bodyPr wrap="square" rtlCol="0" anchor="ctr"/>
          <a:lstStyle/>
          <a:p>
            <a:pPr marL="0" indent="0" algn="r">
              <a:buNone/>
            </a:pPr>
            <a:r>
              <a:rPr lang="en-US" sz="1200" b="1" dirty="0">
                <a:solidFill>
                  <a:srgbClr val="0D7377"/>
                </a:solidFill>
              </a:rPr>
              <a:t>90.6%</a:t>
            </a:r>
            <a:endParaRPr lang="en-US" sz="1200" dirty="0"/>
          </a:p>
        </p:txBody>
      </p:sp>
      <p:sp>
        <p:nvSpPr>
          <p:cNvPr id="15" name="Text 12"/>
          <p:cNvSpPr/>
          <p:nvPr/>
        </p:nvSpPr>
        <p:spPr>
          <a:xfrm>
            <a:off x="6537960" y="2642616"/>
            <a:ext cx="1737360" cy="256032"/>
          </a:xfrm>
          <a:prstGeom prst="rect">
            <a:avLst/>
          </a:prstGeom>
          <a:noFill/>
          <a:ln/>
        </p:spPr>
        <p:txBody>
          <a:bodyPr wrap="square" rtlCol="0" anchor="ctr"/>
          <a:lstStyle/>
          <a:p>
            <a:pPr marL="0" indent="0">
              <a:buNone/>
            </a:pPr>
            <a:r>
              <a:rPr lang="en-US" sz="850" dirty="0">
                <a:solidFill>
                  <a:srgbClr val="64748B"/>
                </a:solidFill>
              </a:rPr>
              <a:t>502 ans → 455 res</a:t>
            </a:r>
            <a:endParaRPr lang="en-US" sz="850" dirty="0"/>
          </a:p>
        </p:txBody>
      </p:sp>
      <p:sp>
        <p:nvSpPr>
          <p:cNvPr id="16" name="Shape 13"/>
          <p:cNvSpPr/>
          <p:nvPr/>
        </p:nvSpPr>
        <p:spPr>
          <a:xfrm>
            <a:off x="6492240" y="2926080"/>
            <a:ext cx="2286000" cy="0"/>
          </a:xfrm>
          <a:prstGeom prst="line">
            <a:avLst/>
          </a:prstGeom>
          <a:noFill/>
          <a:ln w="6350">
            <a:solidFill>
              <a:srgbClr val="CBD5E1"/>
            </a:solidFill>
            <a:prstDash val="solid"/>
          </a:ln>
        </p:spPr>
      </p:sp>
      <p:sp>
        <p:nvSpPr>
          <p:cNvPr id="17" name="Text 14"/>
          <p:cNvSpPr/>
          <p:nvPr/>
        </p:nvSpPr>
        <p:spPr>
          <a:xfrm>
            <a:off x="6537960" y="3072384"/>
            <a:ext cx="914400" cy="320040"/>
          </a:xfrm>
          <a:prstGeom prst="rect">
            <a:avLst/>
          </a:prstGeom>
          <a:noFill/>
          <a:ln/>
        </p:spPr>
        <p:txBody>
          <a:bodyPr wrap="square" rtlCol="0" anchor="ctr"/>
          <a:lstStyle/>
          <a:p>
            <a:pPr marL="0" indent="0">
              <a:buNone/>
            </a:pPr>
            <a:r>
              <a:rPr lang="en-US" sz="1000" b="1" dirty="0">
                <a:solidFill>
                  <a:srgbClr val="1E293B"/>
                </a:solidFill>
              </a:rPr>
              <a:t>Stewart</a:t>
            </a:r>
            <a:endParaRPr lang="en-US" sz="1000" dirty="0"/>
          </a:p>
        </p:txBody>
      </p:sp>
      <p:sp>
        <p:nvSpPr>
          <p:cNvPr id="18" name="Text 15"/>
          <p:cNvSpPr/>
          <p:nvPr/>
        </p:nvSpPr>
        <p:spPr>
          <a:xfrm>
            <a:off x="7452360" y="3072384"/>
            <a:ext cx="822960" cy="320040"/>
          </a:xfrm>
          <a:prstGeom prst="rect">
            <a:avLst/>
          </a:prstGeom>
          <a:noFill/>
          <a:ln/>
        </p:spPr>
        <p:txBody>
          <a:bodyPr wrap="square" rtlCol="0" anchor="ctr"/>
          <a:lstStyle/>
          <a:p>
            <a:pPr marL="0" indent="0" algn="r">
              <a:buNone/>
            </a:pPr>
            <a:r>
              <a:rPr lang="en-US" sz="1200" b="1" dirty="0">
                <a:solidFill>
                  <a:srgbClr val="0D7377"/>
                </a:solidFill>
              </a:rPr>
              <a:t>88.9%</a:t>
            </a:r>
            <a:endParaRPr lang="en-US" sz="1200" dirty="0"/>
          </a:p>
        </p:txBody>
      </p:sp>
      <p:sp>
        <p:nvSpPr>
          <p:cNvPr id="19" name="Text 16"/>
          <p:cNvSpPr/>
          <p:nvPr/>
        </p:nvSpPr>
        <p:spPr>
          <a:xfrm>
            <a:off x="6537960" y="3392424"/>
            <a:ext cx="1737360" cy="256032"/>
          </a:xfrm>
          <a:prstGeom prst="rect">
            <a:avLst/>
          </a:prstGeom>
          <a:noFill/>
          <a:ln/>
        </p:spPr>
        <p:txBody>
          <a:bodyPr wrap="square" rtlCol="0" anchor="ctr"/>
          <a:lstStyle/>
          <a:p>
            <a:pPr marL="0" indent="0">
              <a:buNone/>
            </a:pPr>
            <a:r>
              <a:rPr lang="en-US" sz="850" dirty="0">
                <a:solidFill>
                  <a:srgbClr val="64748B"/>
                </a:solidFill>
              </a:rPr>
              <a:t>477 ans → 424 res</a:t>
            </a:r>
            <a:endParaRPr lang="en-US" sz="850" dirty="0"/>
          </a:p>
        </p:txBody>
      </p:sp>
      <p:sp>
        <p:nvSpPr>
          <p:cNvPr id="20" name="Shape 17"/>
          <p:cNvSpPr/>
          <p:nvPr/>
        </p:nvSpPr>
        <p:spPr>
          <a:xfrm>
            <a:off x="6492240" y="3675888"/>
            <a:ext cx="2286000" cy="0"/>
          </a:xfrm>
          <a:prstGeom prst="line">
            <a:avLst/>
          </a:prstGeom>
          <a:noFill/>
          <a:ln w="6350">
            <a:solidFill>
              <a:srgbClr val="CBD5E1"/>
            </a:solidFill>
            <a:prstDash val="solid"/>
          </a:ln>
        </p:spPr>
      </p:sp>
      <p:sp>
        <p:nvSpPr>
          <p:cNvPr id="21" name="Text 18"/>
          <p:cNvSpPr/>
          <p:nvPr/>
        </p:nvSpPr>
        <p:spPr>
          <a:xfrm>
            <a:off x="6537960" y="3822192"/>
            <a:ext cx="914400" cy="320040"/>
          </a:xfrm>
          <a:prstGeom prst="rect">
            <a:avLst/>
          </a:prstGeom>
          <a:noFill/>
          <a:ln/>
        </p:spPr>
        <p:txBody>
          <a:bodyPr wrap="square" rtlCol="0" anchor="ctr"/>
          <a:lstStyle/>
          <a:p>
            <a:pPr marL="0" indent="0">
              <a:buNone/>
            </a:pPr>
            <a:r>
              <a:rPr lang="en-US" sz="1000" b="1" dirty="0">
                <a:solidFill>
                  <a:srgbClr val="1E293B"/>
                </a:solidFill>
              </a:rPr>
              <a:t>Becky</a:t>
            </a:r>
            <a:endParaRPr lang="en-US" sz="1000" dirty="0"/>
          </a:p>
        </p:txBody>
      </p:sp>
      <p:sp>
        <p:nvSpPr>
          <p:cNvPr id="22" name="Text 19"/>
          <p:cNvSpPr/>
          <p:nvPr/>
        </p:nvSpPr>
        <p:spPr>
          <a:xfrm>
            <a:off x="7452360" y="3822192"/>
            <a:ext cx="822960" cy="320040"/>
          </a:xfrm>
          <a:prstGeom prst="rect">
            <a:avLst/>
          </a:prstGeom>
          <a:noFill/>
          <a:ln/>
        </p:spPr>
        <p:txBody>
          <a:bodyPr wrap="square" rtlCol="0" anchor="ctr"/>
          <a:lstStyle/>
          <a:p>
            <a:pPr marL="0" indent="0" algn="r">
              <a:buNone/>
            </a:pPr>
            <a:r>
              <a:rPr lang="en-US" sz="1200" b="1" dirty="0">
                <a:solidFill>
                  <a:srgbClr val="0D7377"/>
                </a:solidFill>
              </a:rPr>
              <a:t>89.4%</a:t>
            </a:r>
            <a:endParaRPr lang="en-US" sz="1200" dirty="0"/>
          </a:p>
        </p:txBody>
      </p:sp>
      <p:sp>
        <p:nvSpPr>
          <p:cNvPr id="23" name="Text 20"/>
          <p:cNvSpPr/>
          <p:nvPr/>
        </p:nvSpPr>
        <p:spPr>
          <a:xfrm>
            <a:off x="6537960" y="4142232"/>
            <a:ext cx="1737360" cy="256032"/>
          </a:xfrm>
          <a:prstGeom prst="rect">
            <a:avLst/>
          </a:prstGeom>
          <a:noFill/>
          <a:ln/>
        </p:spPr>
        <p:txBody>
          <a:bodyPr wrap="square" rtlCol="0" anchor="ctr"/>
          <a:lstStyle/>
          <a:p>
            <a:pPr marL="0" indent="0">
              <a:buNone/>
            </a:pPr>
            <a:r>
              <a:rPr lang="en-US" sz="850" dirty="0">
                <a:solidFill>
                  <a:srgbClr val="64748B"/>
                </a:solidFill>
              </a:rPr>
              <a:t>517 ans → 462 res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Chart 7 — Satisfaction Rating Distribution</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How Customers Rate Their Call Experience (1–5 Scale)</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graphicFrame>
        <p:nvGraphicFramePr>
          <p:cNvPr id="6" name="Chart 0"/>
          <p:cNvGraphicFramePr/>
          <p:nvPr/>
        </p:nvGraphicFramePr>
        <p:xfrm>
          <a:off x="320040" y="114300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806440" y="1143000"/>
            <a:ext cx="301752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5806440" y="1143000"/>
            <a:ext cx="3017520" cy="54864"/>
          </a:xfrm>
          <a:prstGeom prst="rect">
            <a:avLst/>
          </a:prstGeom>
          <a:solidFill>
            <a:srgbClr val="64748B"/>
          </a:solidFill>
          <a:ln w="12700">
            <a:solidFill>
              <a:srgbClr val="64748B"/>
            </a:solidFill>
            <a:prstDash val="solid"/>
          </a:ln>
        </p:spPr>
      </p:sp>
      <p:sp>
        <p:nvSpPr>
          <p:cNvPr id="9" name="Text 6"/>
          <p:cNvSpPr/>
          <p:nvPr/>
        </p:nvSpPr>
        <p:spPr>
          <a:xfrm>
            <a:off x="5897880" y="1280160"/>
            <a:ext cx="2834640" cy="442570"/>
          </a:xfrm>
          <a:prstGeom prst="rect">
            <a:avLst/>
          </a:prstGeom>
          <a:noFill/>
          <a:ln/>
        </p:spPr>
        <p:txBody>
          <a:bodyPr wrap="square" rtlCol="0" anchor="ctr"/>
          <a:lstStyle/>
          <a:p>
            <a:pPr marL="0" indent="0" algn="ctr">
              <a:buNone/>
            </a:pPr>
            <a:r>
              <a:rPr lang="en-US" sz="2800" b="1" dirty="0">
                <a:solidFill>
                  <a:srgbClr val="64748B"/>
                </a:solidFill>
              </a:rPr>
              <a:t>43.3%</a:t>
            </a:r>
            <a:endParaRPr lang="en-US" sz="2800" dirty="0"/>
          </a:p>
        </p:txBody>
      </p:sp>
      <p:sp>
        <p:nvSpPr>
          <p:cNvPr id="10" name="Text 7"/>
          <p:cNvSpPr/>
          <p:nvPr/>
        </p:nvSpPr>
        <p:spPr>
          <a:xfrm>
            <a:off x="5897880" y="1641897"/>
            <a:ext cx="2834640" cy="281635"/>
          </a:xfrm>
          <a:prstGeom prst="rect">
            <a:avLst/>
          </a:prstGeom>
          <a:noFill/>
          <a:ln/>
        </p:spPr>
        <p:txBody>
          <a:bodyPr wrap="square" rtlCol="0" anchor="ctr"/>
          <a:lstStyle/>
          <a:p>
            <a:pPr marL="0" indent="0" algn="ctr">
              <a:buNone/>
            </a:pPr>
            <a:r>
              <a:rPr lang="en-US" sz="950" b="1" dirty="0">
                <a:solidFill>
                  <a:srgbClr val="64748B"/>
                </a:solidFill>
              </a:rPr>
              <a:t>Neutral (3/5) — 2,164 calls</a:t>
            </a:r>
            <a:endParaRPr lang="en-US" sz="950" dirty="0"/>
          </a:p>
        </p:txBody>
      </p:sp>
      <p:sp>
        <p:nvSpPr>
          <p:cNvPr id="11" name="Shape 8"/>
          <p:cNvSpPr/>
          <p:nvPr/>
        </p:nvSpPr>
        <p:spPr>
          <a:xfrm>
            <a:off x="5806440" y="2103120"/>
            <a:ext cx="301752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5806440" y="2103120"/>
            <a:ext cx="3017520" cy="54864"/>
          </a:xfrm>
          <a:prstGeom prst="rect">
            <a:avLst/>
          </a:prstGeom>
          <a:solidFill>
            <a:srgbClr val="10B981"/>
          </a:solidFill>
          <a:ln w="12700">
            <a:solidFill>
              <a:srgbClr val="10B981"/>
            </a:solidFill>
            <a:prstDash val="solid"/>
          </a:ln>
        </p:spPr>
      </p:sp>
      <p:sp>
        <p:nvSpPr>
          <p:cNvPr id="13" name="Text 10"/>
          <p:cNvSpPr/>
          <p:nvPr/>
        </p:nvSpPr>
        <p:spPr>
          <a:xfrm>
            <a:off x="5897880" y="2240280"/>
            <a:ext cx="2834640" cy="442570"/>
          </a:xfrm>
          <a:prstGeom prst="rect">
            <a:avLst/>
          </a:prstGeom>
          <a:noFill/>
          <a:ln/>
        </p:spPr>
        <p:txBody>
          <a:bodyPr wrap="square" rtlCol="0" anchor="ctr"/>
          <a:lstStyle/>
          <a:p>
            <a:pPr marL="0" indent="0" algn="ctr">
              <a:buNone/>
            </a:pPr>
            <a:r>
              <a:rPr lang="en-US" sz="2800" b="1" dirty="0">
                <a:solidFill>
                  <a:srgbClr val="10B981"/>
                </a:solidFill>
              </a:rPr>
              <a:t>23.6%</a:t>
            </a:r>
            <a:endParaRPr lang="en-US" sz="2800" dirty="0"/>
          </a:p>
        </p:txBody>
      </p:sp>
      <p:sp>
        <p:nvSpPr>
          <p:cNvPr id="14" name="Text 11"/>
          <p:cNvSpPr/>
          <p:nvPr/>
        </p:nvSpPr>
        <p:spPr>
          <a:xfrm>
            <a:off x="5897880" y="2602017"/>
            <a:ext cx="2834640" cy="281635"/>
          </a:xfrm>
          <a:prstGeom prst="rect">
            <a:avLst/>
          </a:prstGeom>
          <a:noFill/>
          <a:ln/>
        </p:spPr>
        <p:txBody>
          <a:bodyPr wrap="square" rtlCol="0" anchor="ctr"/>
          <a:lstStyle/>
          <a:p>
            <a:pPr marL="0" indent="0" algn="ctr">
              <a:buNone/>
            </a:pPr>
            <a:r>
              <a:rPr lang="en-US" sz="950" b="1" dirty="0">
                <a:solidFill>
                  <a:srgbClr val="64748B"/>
                </a:solidFill>
              </a:rPr>
              <a:t>Good (4/5) — 1,180 calls</a:t>
            </a:r>
            <a:endParaRPr lang="en-US" sz="950" dirty="0"/>
          </a:p>
        </p:txBody>
      </p:sp>
      <p:sp>
        <p:nvSpPr>
          <p:cNvPr id="15" name="Shape 12"/>
          <p:cNvSpPr/>
          <p:nvPr/>
        </p:nvSpPr>
        <p:spPr>
          <a:xfrm>
            <a:off x="5806440" y="3063240"/>
            <a:ext cx="3017520" cy="80467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6" name="Shape 13"/>
          <p:cNvSpPr/>
          <p:nvPr/>
        </p:nvSpPr>
        <p:spPr>
          <a:xfrm>
            <a:off x="5806440" y="3063240"/>
            <a:ext cx="3017520" cy="54864"/>
          </a:xfrm>
          <a:prstGeom prst="rect">
            <a:avLst/>
          </a:prstGeom>
          <a:solidFill>
            <a:srgbClr val="0D7377"/>
          </a:solidFill>
          <a:ln w="12700">
            <a:solidFill>
              <a:srgbClr val="0D7377"/>
            </a:solidFill>
            <a:prstDash val="solid"/>
          </a:ln>
        </p:spPr>
      </p:sp>
      <p:sp>
        <p:nvSpPr>
          <p:cNvPr id="17" name="Text 14"/>
          <p:cNvSpPr/>
          <p:nvPr/>
        </p:nvSpPr>
        <p:spPr>
          <a:xfrm>
            <a:off x="5897880" y="3200400"/>
            <a:ext cx="2834640" cy="442570"/>
          </a:xfrm>
          <a:prstGeom prst="rect">
            <a:avLst/>
          </a:prstGeom>
          <a:noFill/>
          <a:ln/>
        </p:spPr>
        <p:txBody>
          <a:bodyPr wrap="square" rtlCol="0" anchor="ctr"/>
          <a:lstStyle/>
          <a:p>
            <a:pPr marL="0" indent="0" algn="ctr">
              <a:buNone/>
            </a:pPr>
            <a:r>
              <a:rPr lang="en-US" sz="2800" b="1" dirty="0">
                <a:solidFill>
                  <a:srgbClr val="0D7377"/>
                </a:solidFill>
              </a:rPr>
              <a:t>16.9%</a:t>
            </a:r>
            <a:endParaRPr lang="en-US" sz="2800" dirty="0"/>
          </a:p>
        </p:txBody>
      </p:sp>
      <p:sp>
        <p:nvSpPr>
          <p:cNvPr id="18" name="Text 15"/>
          <p:cNvSpPr/>
          <p:nvPr/>
        </p:nvSpPr>
        <p:spPr>
          <a:xfrm>
            <a:off x="5897880" y="3562137"/>
            <a:ext cx="2834640" cy="281635"/>
          </a:xfrm>
          <a:prstGeom prst="rect">
            <a:avLst/>
          </a:prstGeom>
          <a:noFill/>
          <a:ln/>
        </p:spPr>
        <p:txBody>
          <a:bodyPr wrap="square" rtlCol="0" anchor="ctr"/>
          <a:lstStyle/>
          <a:p>
            <a:pPr marL="0" indent="0" algn="ctr">
              <a:buNone/>
            </a:pPr>
            <a:r>
              <a:rPr lang="en-US" sz="950" b="1" dirty="0">
                <a:solidFill>
                  <a:srgbClr val="64748B"/>
                </a:solidFill>
              </a:rPr>
              <a:t>Excellent (5/5) — 843 calls</a:t>
            </a:r>
            <a:endParaRPr lang="en-US" sz="950" dirty="0"/>
          </a:p>
        </p:txBody>
      </p:sp>
      <p:sp>
        <p:nvSpPr>
          <p:cNvPr id="19" name="Shape 16"/>
          <p:cNvSpPr/>
          <p:nvPr/>
        </p:nvSpPr>
        <p:spPr>
          <a:xfrm>
            <a:off x="5806440" y="4085961"/>
            <a:ext cx="3017520" cy="767391"/>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0" name="Shape 17"/>
          <p:cNvSpPr/>
          <p:nvPr/>
        </p:nvSpPr>
        <p:spPr>
          <a:xfrm>
            <a:off x="5806440" y="4023360"/>
            <a:ext cx="3017520" cy="54864"/>
          </a:xfrm>
          <a:prstGeom prst="rect">
            <a:avLst/>
          </a:prstGeom>
          <a:solidFill>
            <a:srgbClr val="EF4444"/>
          </a:solidFill>
          <a:ln w="12700">
            <a:solidFill>
              <a:srgbClr val="EF4444"/>
            </a:solidFill>
            <a:prstDash val="solid"/>
          </a:ln>
        </p:spPr>
      </p:sp>
      <p:sp>
        <p:nvSpPr>
          <p:cNvPr id="21" name="Text 18"/>
          <p:cNvSpPr/>
          <p:nvPr/>
        </p:nvSpPr>
        <p:spPr>
          <a:xfrm>
            <a:off x="5897880" y="4118006"/>
            <a:ext cx="2834640" cy="442570"/>
          </a:xfrm>
          <a:prstGeom prst="rect">
            <a:avLst/>
          </a:prstGeom>
          <a:noFill/>
          <a:ln/>
        </p:spPr>
        <p:txBody>
          <a:bodyPr wrap="square" rtlCol="0" anchor="ctr"/>
          <a:lstStyle/>
          <a:p>
            <a:pPr marL="0" indent="0" algn="ctr">
              <a:buNone/>
            </a:pPr>
            <a:r>
              <a:rPr lang="en-US" sz="2800" b="1" dirty="0">
                <a:solidFill>
                  <a:srgbClr val="EF4444"/>
                </a:solidFill>
              </a:rPr>
              <a:t>16.3%</a:t>
            </a:r>
            <a:endParaRPr lang="en-US" sz="2800" dirty="0"/>
          </a:p>
        </p:txBody>
      </p:sp>
      <p:sp>
        <p:nvSpPr>
          <p:cNvPr id="22" name="Text 19"/>
          <p:cNvSpPr/>
          <p:nvPr/>
        </p:nvSpPr>
        <p:spPr>
          <a:xfrm>
            <a:off x="5897880" y="4522257"/>
            <a:ext cx="2834640" cy="281635"/>
          </a:xfrm>
          <a:prstGeom prst="rect">
            <a:avLst/>
          </a:prstGeom>
          <a:noFill/>
          <a:ln/>
        </p:spPr>
        <p:txBody>
          <a:bodyPr wrap="square" rtlCol="0" anchor="ctr"/>
          <a:lstStyle/>
          <a:p>
            <a:pPr marL="0" indent="0" algn="ctr">
              <a:buNone/>
            </a:pPr>
            <a:r>
              <a:rPr lang="en-US" sz="950" b="1" dirty="0">
                <a:solidFill>
                  <a:srgbClr val="64748B"/>
                </a:solidFill>
              </a:rPr>
              <a:t>Poor (1–2/5) — 813 calls</a:t>
            </a:r>
            <a:endParaRPr lang="en-US" sz="950" dirty="0"/>
          </a:p>
        </p:txBody>
      </p:sp>
      <p:sp>
        <p:nvSpPr>
          <p:cNvPr id="26" name="Text 23"/>
          <p:cNvSpPr/>
          <p:nvPr/>
        </p:nvSpPr>
        <p:spPr>
          <a:xfrm>
            <a:off x="6035040" y="5266944"/>
            <a:ext cx="2697480" cy="0"/>
          </a:xfrm>
          <a:prstGeom prst="rect">
            <a:avLst/>
          </a:prstGeom>
          <a:noFill/>
          <a:ln/>
        </p:spPr>
        <p:txBody>
          <a:bodyPr wrap="square" rtlCol="0" anchor="ctr"/>
          <a:lstStyle/>
          <a:p>
            <a:pPr marL="0" indent="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Dashboard Overview</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Excel Dashboard Layout &amp; KPI Panel Walkthrough</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pic>
        <p:nvPicPr>
          <p:cNvPr id="6" name="Image 0" descr="/home/claude/dashboard.png"/>
          <p:cNvPicPr>
            <a:picLocks noChangeAspect="1"/>
          </p:cNvPicPr>
          <p:nvPr/>
        </p:nvPicPr>
        <p:blipFill>
          <a:blip r:embed="rId3"/>
          <a:stretch>
            <a:fillRect/>
          </a:stretch>
        </p:blipFill>
        <p:spPr>
          <a:xfrm>
            <a:off x="320040" y="1143000"/>
            <a:ext cx="5486400" cy="3474720"/>
          </a:xfrm>
          <a:prstGeom prst="rect">
            <a:avLst/>
          </a:prstGeom>
        </p:spPr>
      </p:pic>
      <p:sp>
        <p:nvSpPr>
          <p:cNvPr id="7" name="Shape 4"/>
          <p:cNvSpPr/>
          <p:nvPr/>
        </p:nvSpPr>
        <p:spPr>
          <a:xfrm>
            <a:off x="5989320" y="1143000"/>
            <a:ext cx="2834640" cy="181051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8" name="Shape 5"/>
          <p:cNvSpPr/>
          <p:nvPr/>
        </p:nvSpPr>
        <p:spPr>
          <a:xfrm>
            <a:off x="5989320" y="1142999"/>
            <a:ext cx="91440" cy="1810511"/>
          </a:xfrm>
          <a:prstGeom prst="rect">
            <a:avLst/>
          </a:prstGeom>
          <a:solidFill>
            <a:srgbClr val="0D7377"/>
          </a:solidFill>
          <a:ln w="12700">
            <a:solidFill>
              <a:srgbClr val="0D7377"/>
            </a:solidFill>
            <a:prstDash val="solid"/>
          </a:ln>
        </p:spPr>
      </p:sp>
      <p:sp>
        <p:nvSpPr>
          <p:cNvPr id="9" name="Text 6"/>
          <p:cNvSpPr/>
          <p:nvPr/>
        </p:nvSpPr>
        <p:spPr>
          <a:xfrm>
            <a:off x="6172200" y="1143000"/>
            <a:ext cx="2560320" cy="292608"/>
          </a:xfrm>
          <a:prstGeom prst="rect">
            <a:avLst/>
          </a:prstGeom>
          <a:noFill/>
          <a:ln/>
        </p:spPr>
        <p:txBody>
          <a:bodyPr wrap="square" rtlCol="0" anchor="ctr"/>
          <a:lstStyle/>
          <a:p>
            <a:pPr marL="0" indent="0">
              <a:buNone/>
            </a:pPr>
            <a:r>
              <a:rPr lang="en-US" sz="1200" b="1" dirty="0">
                <a:solidFill>
                  <a:srgbClr val="1B2A4A"/>
                </a:solidFill>
              </a:rPr>
              <a:t>Dashboard Structure</a:t>
            </a:r>
            <a:endParaRPr lang="en-US" sz="1200" dirty="0"/>
          </a:p>
        </p:txBody>
      </p:sp>
      <p:sp>
        <p:nvSpPr>
          <p:cNvPr id="10" name="Text 7"/>
          <p:cNvSpPr/>
          <p:nvPr/>
        </p:nvSpPr>
        <p:spPr>
          <a:xfrm>
            <a:off x="6217920" y="1490472"/>
            <a:ext cx="2514600" cy="1280160"/>
          </a:xfrm>
          <a:prstGeom prst="rect">
            <a:avLst/>
          </a:prstGeom>
          <a:noFill/>
          <a:ln/>
        </p:spPr>
        <p:txBody>
          <a:bodyPr wrap="square" rtlCol="0" anchor="ctr"/>
          <a:lstStyle/>
          <a:p>
            <a:pPr marL="342900" indent="-342900">
              <a:buSzPct val="100000"/>
              <a:buChar char="•"/>
            </a:pPr>
            <a:r>
              <a:rPr lang="en-US" sz="1000" dirty="0">
                <a:solidFill>
                  <a:srgbClr val="1E293B"/>
                </a:solidFill>
              </a:rPr>
              <a:t>Top-left: 3 KPI cards — Agent Count (8), Call Count (5,000), Calls Resolved (3,646)</a:t>
            </a:r>
            <a:endParaRPr lang="en-US" sz="1000" dirty="0"/>
          </a:p>
          <a:p>
            <a:pPr marL="342900" indent="-342900">
              <a:buSzPct val="100000"/>
              <a:buChar char="•"/>
            </a:pPr>
            <a:r>
              <a:rPr lang="en-US" sz="1000" dirty="0">
                <a:solidFill>
                  <a:srgbClr val="1E293B"/>
                </a:solidFill>
              </a:rPr>
              <a:t>Top-right: Agent filter slicer with all 8 agent names for drill-down</a:t>
            </a:r>
            <a:endParaRPr lang="en-US" sz="1000" dirty="0"/>
          </a:p>
          <a:p>
            <a:pPr marL="342900" indent="-342900">
              <a:buSzPct val="100000"/>
              <a:buChar char="•"/>
            </a:pPr>
            <a:r>
              <a:rPr lang="en-US" sz="1000" dirty="0">
                <a:solidFill>
                  <a:srgbClr val="1E293B"/>
                </a:solidFill>
              </a:rPr>
              <a:t>Four chart panels: Answered (Y/N bar), Resolved bar, Topic bar, CSAT line chart</a:t>
            </a:r>
            <a:endParaRPr lang="en-US" sz="1000" dirty="0"/>
          </a:p>
          <a:p>
            <a:pPr marL="342900" indent="-342900">
              <a:buSzPct val="100000"/>
              <a:buChar char="•"/>
            </a:pPr>
            <a:r>
              <a:rPr lang="en-US" sz="1000" dirty="0">
                <a:solidFill>
                  <a:srgbClr val="1E293B"/>
                </a:solidFill>
              </a:rPr>
              <a:t>All charts update dynamically based on the selected agent filter</a:t>
            </a:r>
            <a:endParaRPr lang="en-US" sz="1000" dirty="0"/>
          </a:p>
        </p:txBody>
      </p:sp>
      <p:sp>
        <p:nvSpPr>
          <p:cNvPr id="11" name="Shape 8"/>
          <p:cNvSpPr/>
          <p:nvPr/>
        </p:nvSpPr>
        <p:spPr>
          <a:xfrm>
            <a:off x="5989320" y="3017520"/>
            <a:ext cx="2834640" cy="1913206"/>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9"/>
          <p:cNvSpPr/>
          <p:nvPr/>
        </p:nvSpPr>
        <p:spPr>
          <a:xfrm>
            <a:off x="5989320" y="3017520"/>
            <a:ext cx="64008" cy="1913206"/>
          </a:xfrm>
          <a:prstGeom prst="rect">
            <a:avLst/>
          </a:prstGeom>
          <a:solidFill>
            <a:srgbClr val="1B2A4A"/>
          </a:solidFill>
          <a:ln w="12700">
            <a:solidFill>
              <a:srgbClr val="1B2A4A"/>
            </a:solidFill>
            <a:prstDash val="solid"/>
          </a:ln>
        </p:spPr>
      </p:sp>
      <p:sp>
        <p:nvSpPr>
          <p:cNvPr id="13" name="Text 10"/>
          <p:cNvSpPr/>
          <p:nvPr/>
        </p:nvSpPr>
        <p:spPr>
          <a:xfrm>
            <a:off x="6158484" y="2985868"/>
            <a:ext cx="2560320" cy="292608"/>
          </a:xfrm>
          <a:prstGeom prst="rect">
            <a:avLst/>
          </a:prstGeom>
          <a:noFill/>
          <a:ln/>
        </p:spPr>
        <p:txBody>
          <a:bodyPr wrap="square" rtlCol="0" anchor="ctr"/>
          <a:lstStyle/>
          <a:p>
            <a:pPr marL="0" indent="0">
              <a:buNone/>
            </a:pPr>
            <a:r>
              <a:rPr lang="en-US" sz="1200" b="1" dirty="0">
                <a:solidFill>
                  <a:srgbClr val="1B2A4A"/>
                </a:solidFill>
              </a:rPr>
              <a:t>KPI Cards Explained</a:t>
            </a:r>
            <a:endParaRPr lang="en-US" sz="1200" dirty="0"/>
          </a:p>
        </p:txBody>
      </p:sp>
      <p:sp>
        <p:nvSpPr>
          <p:cNvPr id="14" name="Text 11"/>
          <p:cNvSpPr/>
          <p:nvPr/>
        </p:nvSpPr>
        <p:spPr>
          <a:xfrm>
            <a:off x="6217920" y="3429000"/>
            <a:ext cx="2514600" cy="1280160"/>
          </a:xfrm>
          <a:prstGeom prst="rect">
            <a:avLst/>
          </a:prstGeom>
          <a:noFill/>
          <a:ln/>
        </p:spPr>
        <p:txBody>
          <a:bodyPr wrap="square" rtlCol="0" anchor="ctr"/>
          <a:lstStyle/>
          <a:p>
            <a:pPr marL="342900" indent="-342900">
              <a:buSzPct val="100000"/>
              <a:buChar char="•"/>
            </a:pPr>
            <a:r>
              <a:rPr lang="en-US" sz="1000" dirty="0">
                <a:solidFill>
                  <a:srgbClr val="1E293B"/>
                </a:solidFill>
              </a:rPr>
              <a:t>Total Agent Count (08): Total unique agents active in Q1 2021</a:t>
            </a:r>
            <a:endParaRPr lang="en-US" sz="1000" dirty="0"/>
          </a:p>
          <a:p>
            <a:pPr marL="342900" indent="-342900">
              <a:buSzPct val="100000"/>
              <a:buChar char="•"/>
            </a:pPr>
            <a:r>
              <a:rPr lang="en-US" sz="1000" dirty="0">
                <a:solidFill>
                  <a:srgbClr val="1E293B"/>
                </a:solidFill>
              </a:rPr>
              <a:t>Total Call Count (5,000): All inbound call records in the period</a:t>
            </a:r>
            <a:endParaRPr lang="en-US" sz="1000" dirty="0"/>
          </a:p>
          <a:p>
            <a:pPr marL="342900" indent="-342900">
              <a:buSzPct val="100000"/>
              <a:buChar char="•"/>
            </a:pPr>
            <a:r>
              <a:rPr lang="en-US" sz="1000" dirty="0">
                <a:solidFill>
                  <a:srgbClr val="1E293B"/>
                </a:solidFill>
              </a:rPr>
              <a:t>Total Calls Resolved (3,646): Resolution success count — 72.9% rate</a:t>
            </a:r>
            <a:endParaRPr lang="en-US" sz="1000" dirty="0"/>
          </a:p>
          <a:p>
            <a:pPr marL="342900" indent="-342900">
              <a:buSzPct val="100000"/>
              <a:buChar char="•"/>
            </a:pPr>
            <a:r>
              <a:rPr lang="en-US" sz="1000" dirty="0">
                <a:solidFill>
                  <a:srgbClr val="1E293B"/>
                </a:solidFill>
              </a:rPr>
              <a:t>These three stats are the 'board-level' summary of operational health</a:t>
            </a:r>
            <a:endParaRPr lang="en-US" sz="1000" dirty="0"/>
          </a:p>
          <a:p>
            <a:pPr marL="342900" indent="-342900">
              <a:buSzPct val="100000"/>
              <a:buChar char="•"/>
            </a:pPr>
            <a:r>
              <a:rPr lang="en-US" sz="1000" dirty="0">
                <a:solidFill>
                  <a:srgbClr val="1E293B"/>
                </a:solidFill>
              </a:rPr>
              <a:t>Color coding: metrics below target shown in amber/red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Dashboard Panels — Chart Explanations</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Four Visual Panels and What They Tell Us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6052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737360"/>
          </a:xfrm>
          <a:prstGeom prst="rect">
            <a:avLst/>
          </a:prstGeom>
          <a:solidFill>
            <a:srgbClr val="0D7377"/>
          </a:solidFill>
          <a:ln w="12700">
            <a:solidFill>
              <a:srgbClr val="0D7377"/>
            </a:solidFill>
            <a:prstDash val="solid"/>
          </a:ln>
        </p:spPr>
      </p:sp>
      <p:sp>
        <p:nvSpPr>
          <p:cNvPr id="8" name="Text 6"/>
          <p:cNvSpPr/>
          <p:nvPr/>
        </p:nvSpPr>
        <p:spPr>
          <a:xfrm>
            <a:off x="502920" y="1280160"/>
            <a:ext cx="3840480" cy="365760"/>
          </a:xfrm>
          <a:prstGeom prst="rect">
            <a:avLst/>
          </a:prstGeom>
          <a:noFill/>
          <a:ln/>
        </p:spPr>
        <p:txBody>
          <a:bodyPr wrap="square" rtlCol="0" anchor="ctr"/>
          <a:lstStyle/>
          <a:p>
            <a:pPr marL="0" indent="0">
              <a:buNone/>
            </a:pPr>
            <a:r>
              <a:rPr lang="en-US" sz="1100" b="1" dirty="0">
                <a:solidFill>
                  <a:srgbClr val="1B2A4A"/>
                </a:solidFill>
              </a:rPr>
              <a:t>Panel 1: Total Calls Answered (Bar Chart)</a:t>
            </a:r>
            <a:endParaRPr lang="en-US" sz="1100" dirty="0"/>
          </a:p>
        </p:txBody>
      </p:sp>
      <p:sp>
        <p:nvSpPr>
          <p:cNvPr id="9" name="Text 7"/>
          <p:cNvSpPr/>
          <p:nvPr/>
        </p:nvSpPr>
        <p:spPr>
          <a:xfrm>
            <a:off x="502920" y="1664208"/>
            <a:ext cx="3840480" cy="1188720"/>
          </a:xfrm>
          <a:prstGeom prst="rect">
            <a:avLst/>
          </a:prstGeom>
          <a:noFill/>
          <a:ln/>
        </p:spPr>
        <p:txBody>
          <a:bodyPr wrap="square" rtlCol="0" anchor="ctr"/>
          <a:lstStyle/>
          <a:p>
            <a:pPr marL="0" indent="0">
              <a:buNone/>
            </a:pPr>
            <a:r>
              <a:rPr lang="en-US" sz="950" dirty="0">
                <a:solidFill>
                  <a:srgbClr val="1E293B"/>
                </a:solidFill>
              </a:rPr>
              <a:t>Shows each agent's call volume split by Answered=Y (light gray) and Answered=N (dark). Quickly identifies agents with high unanswered call rates. Jim tops with 536Y; unanswered bars are visible for each agent.</a:t>
            </a:r>
            <a:endParaRPr lang="en-US" sz="950" dirty="0"/>
          </a:p>
        </p:txBody>
      </p:sp>
      <p:sp>
        <p:nvSpPr>
          <p:cNvPr id="10" name="Shape 8"/>
          <p:cNvSpPr/>
          <p:nvPr/>
        </p:nvSpPr>
        <p:spPr>
          <a:xfrm>
            <a:off x="4663440" y="1188720"/>
            <a:ext cx="416052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4663440" y="1188720"/>
            <a:ext cx="64008" cy="1737360"/>
          </a:xfrm>
          <a:prstGeom prst="rect">
            <a:avLst/>
          </a:prstGeom>
          <a:solidFill>
            <a:srgbClr val="1B2A4A"/>
          </a:solidFill>
          <a:ln w="12700">
            <a:solidFill>
              <a:srgbClr val="1B2A4A"/>
            </a:solidFill>
            <a:prstDash val="solid"/>
          </a:ln>
        </p:spPr>
      </p:sp>
      <p:sp>
        <p:nvSpPr>
          <p:cNvPr id="12" name="Text 10"/>
          <p:cNvSpPr/>
          <p:nvPr/>
        </p:nvSpPr>
        <p:spPr>
          <a:xfrm>
            <a:off x="4846320" y="1280160"/>
            <a:ext cx="3840480" cy="365760"/>
          </a:xfrm>
          <a:prstGeom prst="rect">
            <a:avLst/>
          </a:prstGeom>
          <a:noFill/>
          <a:ln/>
        </p:spPr>
        <p:txBody>
          <a:bodyPr wrap="square" rtlCol="0" anchor="ctr"/>
          <a:lstStyle/>
          <a:p>
            <a:pPr marL="0" indent="0">
              <a:buNone/>
            </a:pPr>
            <a:r>
              <a:rPr lang="en-US" sz="1100" b="1" dirty="0">
                <a:solidFill>
                  <a:srgbClr val="1B2A4A"/>
                </a:solidFill>
              </a:rPr>
              <a:t>Panel 2: Calls Resolved (Bar Chart)</a:t>
            </a:r>
            <a:endParaRPr lang="en-US" sz="1100" dirty="0"/>
          </a:p>
        </p:txBody>
      </p:sp>
      <p:sp>
        <p:nvSpPr>
          <p:cNvPr id="13" name="Text 11"/>
          <p:cNvSpPr/>
          <p:nvPr/>
        </p:nvSpPr>
        <p:spPr>
          <a:xfrm>
            <a:off x="4846320" y="1664208"/>
            <a:ext cx="3840480" cy="1188720"/>
          </a:xfrm>
          <a:prstGeom prst="rect">
            <a:avLst/>
          </a:prstGeom>
          <a:noFill/>
          <a:ln/>
        </p:spPr>
        <p:txBody>
          <a:bodyPr wrap="square" rtlCol="0" anchor="ctr"/>
          <a:lstStyle/>
          <a:p>
            <a:pPr marL="0" indent="0">
              <a:buNone/>
            </a:pPr>
            <a:r>
              <a:rPr lang="en-US" sz="950" dirty="0">
                <a:solidFill>
                  <a:srgbClr val="1E293B"/>
                </a:solidFill>
              </a:rPr>
              <a:t>Mirrors the answered chart but for resolution status. Resolved=Y and Resolved=N are compared per agent. Jim resolves the most (485); Stewart the fewest (424). Gap between Y and N bars indicates improvement potential.</a:t>
            </a:r>
            <a:endParaRPr lang="en-US" sz="950" dirty="0"/>
          </a:p>
        </p:txBody>
      </p:sp>
      <p:sp>
        <p:nvSpPr>
          <p:cNvPr id="14" name="Shape 12"/>
          <p:cNvSpPr/>
          <p:nvPr/>
        </p:nvSpPr>
        <p:spPr>
          <a:xfrm>
            <a:off x="320040" y="3108960"/>
            <a:ext cx="416052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3108960"/>
            <a:ext cx="64008" cy="1737360"/>
          </a:xfrm>
          <a:prstGeom prst="rect">
            <a:avLst/>
          </a:prstGeom>
          <a:solidFill>
            <a:srgbClr val="F5A623"/>
          </a:solidFill>
          <a:ln w="12700">
            <a:solidFill>
              <a:srgbClr val="F5A623"/>
            </a:solidFill>
            <a:prstDash val="solid"/>
          </a:ln>
        </p:spPr>
      </p:sp>
      <p:sp>
        <p:nvSpPr>
          <p:cNvPr id="16" name="Text 14"/>
          <p:cNvSpPr/>
          <p:nvPr/>
        </p:nvSpPr>
        <p:spPr>
          <a:xfrm>
            <a:off x="502920" y="3200400"/>
            <a:ext cx="3840480" cy="365760"/>
          </a:xfrm>
          <a:prstGeom prst="rect">
            <a:avLst/>
          </a:prstGeom>
          <a:noFill/>
          <a:ln/>
        </p:spPr>
        <p:txBody>
          <a:bodyPr wrap="square" rtlCol="0" anchor="ctr"/>
          <a:lstStyle/>
          <a:p>
            <a:pPr marL="0" indent="0">
              <a:buNone/>
            </a:pPr>
            <a:r>
              <a:rPr lang="en-US" sz="1100" b="1" dirty="0">
                <a:solidFill>
                  <a:srgbClr val="1B2A4A"/>
                </a:solidFill>
              </a:rPr>
              <a:t>Panel 3: Topic Distribution (Grouped Bar)</a:t>
            </a:r>
            <a:endParaRPr lang="en-US" sz="1100" dirty="0"/>
          </a:p>
        </p:txBody>
      </p:sp>
      <p:sp>
        <p:nvSpPr>
          <p:cNvPr id="17" name="Text 15"/>
          <p:cNvSpPr/>
          <p:nvPr/>
        </p:nvSpPr>
        <p:spPr>
          <a:xfrm>
            <a:off x="502920" y="3584448"/>
            <a:ext cx="3840480" cy="1188720"/>
          </a:xfrm>
          <a:prstGeom prst="rect">
            <a:avLst/>
          </a:prstGeom>
          <a:noFill/>
          <a:ln/>
        </p:spPr>
        <p:txBody>
          <a:bodyPr wrap="square" rtlCol="0" anchor="ctr"/>
          <a:lstStyle/>
          <a:p>
            <a:pPr marL="0" indent="0">
              <a:buNone/>
            </a:pPr>
            <a:r>
              <a:rPr lang="en-US" sz="950" dirty="0">
                <a:solidFill>
                  <a:srgbClr val="1E293B"/>
                </a:solidFill>
              </a:rPr>
              <a:t>Displays call volume by topic for each agent, using 4-color grouping (Admin, Contract, Payment, Streaming). All agents handle topics proportionally. Streaming consistently tops the volume in each agent's breakdown.</a:t>
            </a:r>
            <a:endParaRPr lang="en-US" sz="950" dirty="0"/>
          </a:p>
        </p:txBody>
      </p:sp>
      <p:sp>
        <p:nvSpPr>
          <p:cNvPr id="18" name="Shape 16"/>
          <p:cNvSpPr/>
          <p:nvPr/>
        </p:nvSpPr>
        <p:spPr>
          <a:xfrm>
            <a:off x="4663440" y="3108960"/>
            <a:ext cx="416052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4663440" y="3108960"/>
            <a:ext cx="64008" cy="1737360"/>
          </a:xfrm>
          <a:prstGeom prst="rect">
            <a:avLst/>
          </a:prstGeom>
          <a:solidFill>
            <a:srgbClr val="10B981"/>
          </a:solidFill>
          <a:ln w="12700">
            <a:solidFill>
              <a:srgbClr val="10B981"/>
            </a:solidFill>
            <a:prstDash val="solid"/>
          </a:ln>
        </p:spPr>
      </p:sp>
      <p:sp>
        <p:nvSpPr>
          <p:cNvPr id="20" name="Text 18"/>
          <p:cNvSpPr/>
          <p:nvPr/>
        </p:nvSpPr>
        <p:spPr>
          <a:xfrm>
            <a:off x="4846320" y="3200400"/>
            <a:ext cx="3840480" cy="365760"/>
          </a:xfrm>
          <a:prstGeom prst="rect">
            <a:avLst/>
          </a:prstGeom>
          <a:noFill/>
          <a:ln/>
        </p:spPr>
        <p:txBody>
          <a:bodyPr wrap="square" rtlCol="0" anchor="ctr"/>
          <a:lstStyle/>
          <a:p>
            <a:pPr marL="0" indent="0">
              <a:buNone/>
            </a:pPr>
            <a:r>
              <a:rPr lang="en-US" sz="1100" b="1" dirty="0">
                <a:solidFill>
                  <a:srgbClr val="1B2A4A"/>
                </a:solidFill>
              </a:rPr>
              <a:t>Panel 4: Satisfaction Rating (Line Chart)</a:t>
            </a:r>
            <a:endParaRPr lang="en-US" sz="1100" dirty="0"/>
          </a:p>
        </p:txBody>
      </p:sp>
      <p:sp>
        <p:nvSpPr>
          <p:cNvPr id="21" name="Text 19"/>
          <p:cNvSpPr/>
          <p:nvPr/>
        </p:nvSpPr>
        <p:spPr>
          <a:xfrm>
            <a:off x="4846320" y="3584448"/>
            <a:ext cx="3840480" cy="1188720"/>
          </a:xfrm>
          <a:prstGeom prst="rect">
            <a:avLst/>
          </a:prstGeom>
          <a:noFill/>
          <a:ln/>
        </p:spPr>
        <p:txBody>
          <a:bodyPr wrap="square" rtlCol="0" anchor="ctr"/>
          <a:lstStyle/>
          <a:p>
            <a:pPr marL="0" indent="0">
              <a:buNone/>
            </a:pPr>
            <a:r>
              <a:rPr lang="en-US" sz="950" dirty="0">
                <a:solidFill>
                  <a:srgbClr val="1E293B"/>
                </a:solidFill>
              </a:rPr>
              <a:t>Plots average CSAT rating (3.2–3.4 range) per agent as a connected line chart. Dan and Martha peak at 3.4; Joe dips to 3.2. The flat trend reveals a team-wide need to push toward 3.5+ benchmark.</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377"/>
          </a:solidFill>
          <a:ln w="12700">
            <a:solidFill>
              <a:srgbClr val="0D7377"/>
            </a:solidFill>
            <a:prstDash val="solid"/>
          </a:ln>
        </p:spPr>
      </p:sp>
      <p:sp>
        <p:nvSpPr>
          <p:cNvPr id="3" name="Text 1"/>
          <p:cNvSpPr/>
          <p:nvPr/>
        </p:nvSpPr>
        <p:spPr>
          <a:xfrm>
            <a:off x="411480" y="0"/>
            <a:ext cx="8321040" cy="822960"/>
          </a:xfrm>
          <a:prstGeom prst="rect">
            <a:avLst/>
          </a:prstGeom>
          <a:noFill/>
          <a:ln/>
        </p:spPr>
        <p:txBody>
          <a:bodyPr wrap="square" lIns="0" tIns="0" rIns="0" bIns="0" rtlCol="0" anchor="ctr"/>
          <a:lstStyle/>
          <a:p>
            <a:pPr marL="0" indent="0">
              <a:buNone/>
            </a:pPr>
            <a:r>
              <a:rPr lang="en-US" sz="2400" b="1" dirty="0">
                <a:solidFill>
                  <a:srgbClr val="FFFFFF"/>
                </a:solidFill>
              </a:rPr>
              <a:t>Key Insights</a:t>
            </a:r>
            <a:endParaRPr lang="en-US" sz="2400" dirty="0"/>
          </a:p>
        </p:txBody>
      </p:sp>
      <p:sp>
        <p:nvSpPr>
          <p:cNvPr id="4" name="Shape 2"/>
          <p:cNvSpPr/>
          <p:nvPr/>
        </p:nvSpPr>
        <p:spPr>
          <a:xfrm>
            <a:off x="320040" y="1005840"/>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5" name="Shape 3"/>
          <p:cNvSpPr/>
          <p:nvPr/>
        </p:nvSpPr>
        <p:spPr>
          <a:xfrm>
            <a:off x="320040" y="1005840"/>
            <a:ext cx="64008" cy="1234440"/>
          </a:xfrm>
          <a:prstGeom prst="rect">
            <a:avLst/>
          </a:prstGeom>
          <a:solidFill>
            <a:srgbClr val="EF4444"/>
          </a:solidFill>
          <a:ln w="12700">
            <a:solidFill>
              <a:srgbClr val="EF4444"/>
            </a:solidFill>
            <a:prstDash val="solid"/>
          </a:ln>
        </p:spPr>
      </p:sp>
      <p:sp>
        <p:nvSpPr>
          <p:cNvPr id="6" name="Shape 4"/>
          <p:cNvSpPr/>
          <p:nvPr/>
        </p:nvSpPr>
        <p:spPr>
          <a:xfrm>
            <a:off x="457200" y="1115568"/>
            <a:ext cx="384048" cy="384048"/>
          </a:xfrm>
          <a:prstGeom prst="ellipse">
            <a:avLst/>
          </a:prstGeom>
          <a:solidFill>
            <a:srgbClr val="EF4444"/>
          </a:solidFill>
          <a:ln w="12700">
            <a:solidFill>
              <a:srgbClr val="EF4444"/>
            </a:solidFill>
            <a:prstDash val="solid"/>
          </a:ln>
        </p:spPr>
      </p:sp>
      <p:sp>
        <p:nvSpPr>
          <p:cNvPr id="7" name="Text 5"/>
          <p:cNvSpPr/>
          <p:nvPr/>
        </p:nvSpPr>
        <p:spPr>
          <a:xfrm>
            <a:off x="457200" y="1115568"/>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8" name="Text 6"/>
          <p:cNvSpPr/>
          <p:nvPr/>
        </p:nvSpPr>
        <p:spPr>
          <a:xfrm>
            <a:off x="932688" y="1097280"/>
            <a:ext cx="3383280" cy="320040"/>
          </a:xfrm>
          <a:prstGeom prst="rect">
            <a:avLst/>
          </a:prstGeom>
          <a:noFill/>
          <a:ln/>
        </p:spPr>
        <p:txBody>
          <a:bodyPr wrap="square" rtlCol="0" anchor="ctr"/>
          <a:lstStyle/>
          <a:p>
            <a:pPr marL="0" indent="0">
              <a:buNone/>
            </a:pPr>
            <a:r>
              <a:rPr lang="en-US" sz="1100" b="1" dirty="0">
                <a:solidFill>
                  <a:srgbClr val="1E293B"/>
                </a:solidFill>
              </a:rPr>
              <a:t>Resolution Gap Exists</a:t>
            </a:r>
            <a:endParaRPr lang="en-US" sz="1100" dirty="0"/>
          </a:p>
        </p:txBody>
      </p:sp>
      <p:sp>
        <p:nvSpPr>
          <p:cNvPr id="9" name="Text 7"/>
          <p:cNvSpPr/>
          <p:nvPr/>
        </p:nvSpPr>
        <p:spPr>
          <a:xfrm>
            <a:off x="521208" y="1481328"/>
            <a:ext cx="3749040" cy="658368"/>
          </a:xfrm>
          <a:prstGeom prst="rect">
            <a:avLst/>
          </a:prstGeom>
          <a:noFill/>
          <a:ln/>
        </p:spPr>
        <p:txBody>
          <a:bodyPr wrap="square" rtlCol="0" anchor="ctr"/>
          <a:lstStyle/>
          <a:p>
            <a:pPr marL="0" indent="0">
              <a:buNone/>
            </a:pPr>
            <a:r>
              <a:rPr lang="en-US" sz="920" dirty="0">
                <a:solidFill>
                  <a:srgbClr val="1E293B"/>
                </a:solidFill>
              </a:rPr>
              <a:t>At 72.9% overall resolution rate (3,646/5,000 calls), the team falls below the 85%+ industry standard. Unresolved calls increase repeat contact costs by an estimated 40%.</a:t>
            </a:r>
            <a:endParaRPr lang="en-US" sz="920" dirty="0"/>
          </a:p>
        </p:txBody>
      </p:sp>
      <p:sp>
        <p:nvSpPr>
          <p:cNvPr id="10" name="Shape 8"/>
          <p:cNvSpPr/>
          <p:nvPr/>
        </p:nvSpPr>
        <p:spPr>
          <a:xfrm>
            <a:off x="4663440" y="1005840"/>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1" name="Shape 9"/>
          <p:cNvSpPr/>
          <p:nvPr/>
        </p:nvSpPr>
        <p:spPr>
          <a:xfrm>
            <a:off x="4663440" y="1005840"/>
            <a:ext cx="64008" cy="1234440"/>
          </a:xfrm>
          <a:prstGeom prst="rect">
            <a:avLst/>
          </a:prstGeom>
          <a:solidFill>
            <a:srgbClr val="F59E0B"/>
          </a:solidFill>
          <a:ln w="12700">
            <a:solidFill>
              <a:srgbClr val="F59E0B"/>
            </a:solidFill>
            <a:prstDash val="solid"/>
          </a:ln>
        </p:spPr>
      </p:sp>
      <p:sp>
        <p:nvSpPr>
          <p:cNvPr id="12" name="Shape 10"/>
          <p:cNvSpPr/>
          <p:nvPr/>
        </p:nvSpPr>
        <p:spPr>
          <a:xfrm>
            <a:off x="4800600" y="1115568"/>
            <a:ext cx="384048" cy="384048"/>
          </a:xfrm>
          <a:prstGeom prst="ellipse">
            <a:avLst/>
          </a:prstGeom>
          <a:solidFill>
            <a:srgbClr val="F59E0B"/>
          </a:solidFill>
          <a:ln w="12700">
            <a:solidFill>
              <a:srgbClr val="F59E0B"/>
            </a:solidFill>
            <a:prstDash val="solid"/>
          </a:ln>
        </p:spPr>
      </p:sp>
      <p:sp>
        <p:nvSpPr>
          <p:cNvPr id="13" name="Text 11"/>
          <p:cNvSpPr/>
          <p:nvPr/>
        </p:nvSpPr>
        <p:spPr>
          <a:xfrm>
            <a:off x="4800600" y="1115568"/>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02</a:t>
            </a:r>
            <a:endParaRPr lang="en-US" sz="1000" dirty="0"/>
          </a:p>
        </p:txBody>
      </p:sp>
      <p:sp>
        <p:nvSpPr>
          <p:cNvPr id="14" name="Text 12"/>
          <p:cNvSpPr/>
          <p:nvPr/>
        </p:nvSpPr>
        <p:spPr>
          <a:xfrm>
            <a:off x="5276088" y="1097280"/>
            <a:ext cx="3383280" cy="320040"/>
          </a:xfrm>
          <a:prstGeom prst="rect">
            <a:avLst/>
          </a:prstGeom>
          <a:noFill/>
          <a:ln/>
        </p:spPr>
        <p:txBody>
          <a:bodyPr wrap="square" rtlCol="0" anchor="ctr"/>
          <a:lstStyle/>
          <a:p>
            <a:pPr marL="0" indent="0">
              <a:buNone/>
            </a:pPr>
            <a:r>
              <a:rPr lang="en-US" sz="1100" b="1" dirty="0">
                <a:solidFill>
                  <a:srgbClr val="1E293B"/>
                </a:solidFill>
              </a:rPr>
              <a:t>CSAT Below Benchmark</a:t>
            </a:r>
            <a:endParaRPr lang="en-US" sz="1100" dirty="0"/>
          </a:p>
        </p:txBody>
      </p:sp>
      <p:sp>
        <p:nvSpPr>
          <p:cNvPr id="15" name="Text 13"/>
          <p:cNvSpPr/>
          <p:nvPr/>
        </p:nvSpPr>
        <p:spPr>
          <a:xfrm>
            <a:off x="4864608" y="1481328"/>
            <a:ext cx="3749040" cy="658368"/>
          </a:xfrm>
          <a:prstGeom prst="rect">
            <a:avLst/>
          </a:prstGeom>
          <a:noFill/>
          <a:ln/>
        </p:spPr>
        <p:txBody>
          <a:bodyPr wrap="square" rtlCol="0" anchor="ctr"/>
          <a:lstStyle/>
          <a:p>
            <a:pPr marL="0" indent="0">
              <a:buNone/>
            </a:pPr>
            <a:r>
              <a:rPr lang="en-US" sz="920" dirty="0">
                <a:solidFill>
                  <a:srgbClr val="1E293B"/>
                </a:solidFill>
              </a:rPr>
              <a:t>Team average CSAT of 3.33/5.0 is below the industry benchmark of 3.5+. 43.3% neutral ratings (score=3) present the highest-leverage improvement opportunity.</a:t>
            </a:r>
            <a:endParaRPr lang="en-US" sz="920" dirty="0"/>
          </a:p>
        </p:txBody>
      </p:sp>
      <p:sp>
        <p:nvSpPr>
          <p:cNvPr id="16" name="Shape 14"/>
          <p:cNvSpPr/>
          <p:nvPr/>
        </p:nvSpPr>
        <p:spPr>
          <a:xfrm>
            <a:off x="320040" y="2395728"/>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7" name="Shape 15"/>
          <p:cNvSpPr/>
          <p:nvPr/>
        </p:nvSpPr>
        <p:spPr>
          <a:xfrm>
            <a:off x="320040" y="2395728"/>
            <a:ext cx="64008" cy="1234440"/>
          </a:xfrm>
          <a:prstGeom prst="rect">
            <a:avLst/>
          </a:prstGeom>
          <a:solidFill>
            <a:srgbClr val="10B981"/>
          </a:solidFill>
          <a:ln w="12700">
            <a:solidFill>
              <a:srgbClr val="10B981"/>
            </a:solidFill>
            <a:prstDash val="solid"/>
          </a:ln>
        </p:spPr>
      </p:sp>
      <p:sp>
        <p:nvSpPr>
          <p:cNvPr id="18" name="Shape 16"/>
          <p:cNvSpPr/>
          <p:nvPr/>
        </p:nvSpPr>
        <p:spPr>
          <a:xfrm>
            <a:off x="457200" y="2505456"/>
            <a:ext cx="384048" cy="384048"/>
          </a:xfrm>
          <a:prstGeom prst="ellipse">
            <a:avLst/>
          </a:prstGeom>
          <a:solidFill>
            <a:srgbClr val="10B981"/>
          </a:solidFill>
          <a:ln w="12700">
            <a:solidFill>
              <a:srgbClr val="10B981"/>
            </a:solidFill>
            <a:prstDash val="solid"/>
          </a:ln>
        </p:spPr>
      </p:sp>
      <p:sp>
        <p:nvSpPr>
          <p:cNvPr id="19" name="Text 17"/>
          <p:cNvSpPr/>
          <p:nvPr/>
        </p:nvSpPr>
        <p:spPr>
          <a:xfrm>
            <a:off x="457200" y="2505456"/>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03</a:t>
            </a:r>
            <a:endParaRPr lang="en-US" sz="1000" dirty="0"/>
          </a:p>
        </p:txBody>
      </p:sp>
      <p:sp>
        <p:nvSpPr>
          <p:cNvPr id="20" name="Text 18"/>
          <p:cNvSpPr/>
          <p:nvPr/>
        </p:nvSpPr>
        <p:spPr>
          <a:xfrm>
            <a:off x="932688" y="2487168"/>
            <a:ext cx="3383280" cy="320040"/>
          </a:xfrm>
          <a:prstGeom prst="rect">
            <a:avLst/>
          </a:prstGeom>
          <a:noFill/>
          <a:ln/>
        </p:spPr>
        <p:txBody>
          <a:bodyPr wrap="square" rtlCol="0" anchor="ctr"/>
          <a:lstStyle/>
          <a:p>
            <a:pPr marL="0" indent="0">
              <a:buNone/>
            </a:pPr>
            <a:r>
              <a:rPr lang="en-US" sz="1100" b="1" dirty="0">
                <a:solidFill>
                  <a:srgbClr val="1E293B"/>
                </a:solidFill>
              </a:rPr>
              <a:t>Workload is Balanced</a:t>
            </a:r>
            <a:endParaRPr lang="en-US" sz="1100" dirty="0"/>
          </a:p>
        </p:txBody>
      </p:sp>
      <p:sp>
        <p:nvSpPr>
          <p:cNvPr id="21" name="Text 19"/>
          <p:cNvSpPr/>
          <p:nvPr/>
        </p:nvSpPr>
        <p:spPr>
          <a:xfrm>
            <a:off x="521208" y="2871216"/>
            <a:ext cx="3749040" cy="658368"/>
          </a:xfrm>
          <a:prstGeom prst="rect">
            <a:avLst/>
          </a:prstGeom>
          <a:noFill/>
          <a:ln/>
        </p:spPr>
        <p:txBody>
          <a:bodyPr wrap="square" rtlCol="0" anchor="ctr"/>
          <a:lstStyle/>
          <a:p>
            <a:pPr marL="0" indent="0">
              <a:buNone/>
            </a:pPr>
            <a:r>
              <a:rPr lang="en-US" sz="920" dirty="0">
                <a:solidFill>
                  <a:srgbClr val="1E293B"/>
                </a:solidFill>
              </a:rPr>
              <a:t>Call volume ranges only 477–536 across 8 agents — a 12% spread. Scheduling and routing are working effectively; no individual is significantly overburdened.</a:t>
            </a:r>
            <a:endParaRPr lang="en-US" sz="920" dirty="0"/>
          </a:p>
        </p:txBody>
      </p:sp>
      <p:sp>
        <p:nvSpPr>
          <p:cNvPr id="22" name="Shape 20"/>
          <p:cNvSpPr/>
          <p:nvPr/>
        </p:nvSpPr>
        <p:spPr>
          <a:xfrm>
            <a:off x="4663440" y="2395728"/>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23" name="Shape 21"/>
          <p:cNvSpPr/>
          <p:nvPr/>
        </p:nvSpPr>
        <p:spPr>
          <a:xfrm>
            <a:off x="4663440" y="2395728"/>
            <a:ext cx="64008" cy="1234440"/>
          </a:xfrm>
          <a:prstGeom prst="rect">
            <a:avLst/>
          </a:prstGeom>
          <a:solidFill>
            <a:srgbClr val="F5A623"/>
          </a:solidFill>
          <a:ln w="12700">
            <a:solidFill>
              <a:srgbClr val="F5A623"/>
            </a:solidFill>
            <a:prstDash val="solid"/>
          </a:ln>
        </p:spPr>
      </p:sp>
      <p:sp>
        <p:nvSpPr>
          <p:cNvPr id="24" name="Shape 22"/>
          <p:cNvSpPr/>
          <p:nvPr/>
        </p:nvSpPr>
        <p:spPr>
          <a:xfrm>
            <a:off x="4800600" y="2505456"/>
            <a:ext cx="384048" cy="384048"/>
          </a:xfrm>
          <a:prstGeom prst="ellipse">
            <a:avLst/>
          </a:prstGeom>
          <a:solidFill>
            <a:srgbClr val="F5A623"/>
          </a:solidFill>
          <a:ln w="12700">
            <a:solidFill>
              <a:srgbClr val="F5A623"/>
            </a:solidFill>
            <a:prstDash val="solid"/>
          </a:ln>
        </p:spPr>
      </p:sp>
      <p:sp>
        <p:nvSpPr>
          <p:cNvPr id="25" name="Text 23"/>
          <p:cNvSpPr/>
          <p:nvPr/>
        </p:nvSpPr>
        <p:spPr>
          <a:xfrm>
            <a:off x="4800600" y="2505456"/>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04</a:t>
            </a:r>
            <a:endParaRPr lang="en-US" sz="1000" dirty="0"/>
          </a:p>
        </p:txBody>
      </p:sp>
      <p:sp>
        <p:nvSpPr>
          <p:cNvPr id="26" name="Text 24"/>
          <p:cNvSpPr/>
          <p:nvPr/>
        </p:nvSpPr>
        <p:spPr>
          <a:xfrm>
            <a:off x="5276088" y="2487168"/>
            <a:ext cx="3383280" cy="320040"/>
          </a:xfrm>
          <a:prstGeom prst="rect">
            <a:avLst/>
          </a:prstGeom>
          <a:noFill/>
          <a:ln/>
        </p:spPr>
        <p:txBody>
          <a:bodyPr wrap="square" rtlCol="0" anchor="ctr"/>
          <a:lstStyle/>
          <a:p>
            <a:pPr marL="0" indent="0">
              <a:buNone/>
            </a:pPr>
            <a:r>
              <a:rPr lang="en-US" sz="1100" b="1" dirty="0">
                <a:solidFill>
                  <a:srgbClr val="1E293B"/>
                </a:solidFill>
              </a:rPr>
              <a:t>Joe Needs Targeted Support</a:t>
            </a:r>
            <a:endParaRPr lang="en-US" sz="1100" dirty="0"/>
          </a:p>
        </p:txBody>
      </p:sp>
      <p:sp>
        <p:nvSpPr>
          <p:cNvPr id="27" name="Text 25"/>
          <p:cNvSpPr/>
          <p:nvPr/>
        </p:nvSpPr>
        <p:spPr>
          <a:xfrm>
            <a:off x="4864608" y="2871216"/>
            <a:ext cx="3749040" cy="658368"/>
          </a:xfrm>
          <a:prstGeom prst="rect">
            <a:avLst/>
          </a:prstGeom>
          <a:noFill/>
          <a:ln/>
        </p:spPr>
        <p:txBody>
          <a:bodyPr wrap="square" rtlCol="0" anchor="ctr"/>
          <a:lstStyle/>
          <a:p>
            <a:pPr marL="0" indent="0">
              <a:buNone/>
            </a:pPr>
            <a:r>
              <a:rPr lang="en-US" sz="920" dirty="0">
                <a:solidFill>
                  <a:srgbClr val="1E293B"/>
                </a:solidFill>
              </a:rPr>
              <a:t>Joe has the highest avg speed of answer (70.4s) AND the lowest CSAT (3.27) despite handling comparable call volumes — a clear candidate for coaching intervention.</a:t>
            </a:r>
            <a:endParaRPr lang="en-US" sz="920" dirty="0"/>
          </a:p>
        </p:txBody>
      </p:sp>
      <p:sp>
        <p:nvSpPr>
          <p:cNvPr id="28" name="Shape 26"/>
          <p:cNvSpPr/>
          <p:nvPr/>
        </p:nvSpPr>
        <p:spPr>
          <a:xfrm>
            <a:off x="320040" y="3785616"/>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29" name="Shape 27"/>
          <p:cNvSpPr/>
          <p:nvPr/>
        </p:nvSpPr>
        <p:spPr>
          <a:xfrm>
            <a:off x="320040" y="3785616"/>
            <a:ext cx="64008" cy="1234440"/>
          </a:xfrm>
          <a:prstGeom prst="rect">
            <a:avLst/>
          </a:prstGeom>
          <a:solidFill>
            <a:srgbClr val="14BDEB"/>
          </a:solidFill>
          <a:ln w="12700">
            <a:solidFill>
              <a:srgbClr val="14BDEB"/>
            </a:solidFill>
            <a:prstDash val="solid"/>
          </a:ln>
        </p:spPr>
      </p:sp>
      <p:sp>
        <p:nvSpPr>
          <p:cNvPr id="30" name="Shape 28"/>
          <p:cNvSpPr/>
          <p:nvPr/>
        </p:nvSpPr>
        <p:spPr>
          <a:xfrm>
            <a:off x="457200" y="3895344"/>
            <a:ext cx="384048" cy="384048"/>
          </a:xfrm>
          <a:prstGeom prst="ellipse">
            <a:avLst/>
          </a:prstGeom>
          <a:solidFill>
            <a:srgbClr val="14BDEB"/>
          </a:solidFill>
          <a:ln w="12700">
            <a:solidFill>
              <a:srgbClr val="14BDEB"/>
            </a:solidFill>
            <a:prstDash val="solid"/>
          </a:ln>
        </p:spPr>
      </p:sp>
      <p:sp>
        <p:nvSpPr>
          <p:cNvPr id="31" name="Text 29"/>
          <p:cNvSpPr/>
          <p:nvPr/>
        </p:nvSpPr>
        <p:spPr>
          <a:xfrm>
            <a:off x="457200" y="3895344"/>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05</a:t>
            </a:r>
            <a:endParaRPr lang="en-US" sz="1000" dirty="0"/>
          </a:p>
        </p:txBody>
      </p:sp>
      <p:sp>
        <p:nvSpPr>
          <p:cNvPr id="32" name="Text 30"/>
          <p:cNvSpPr/>
          <p:nvPr/>
        </p:nvSpPr>
        <p:spPr>
          <a:xfrm>
            <a:off x="932688" y="3877056"/>
            <a:ext cx="3383280" cy="320040"/>
          </a:xfrm>
          <a:prstGeom prst="rect">
            <a:avLst/>
          </a:prstGeom>
          <a:noFill/>
          <a:ln/>
        </p:spPr>
        <p:txBody>
          <a:bodyPr wrap="square" rtlCol="0" anchor="ctr"/>
          <a:lstStyle/>
          <a:p>
            <a:pPr marL="0" indent="0">
              <a:buNone/>
            </a:pPr>
            <a:r>
              <a:rPr lang="en-US" sz="1100" b="1" dirty="0">
                <a:solidFill>
                  <a:srgbClr val="1E293B"/>
                </a:solidFill>
              </a:rPr>
              <a:t>Streaming Drives 20% of Volume</a:t>
            </a:r>
            <a:endParaRPr lang="en-US" sz="1100" dirty="0"/>
          </a:p>
        </p:txBody>
      </p:sp>
      <p:sp>
        <p:nvSpPr>
          <p:cNvPr id="33" name="Text 31"/>
          <p:cNvSpPr/>
          <p:nvPr/>
        </p:nvSpPr>
        <p:spPr>
          <a:xfrm>
            <a:off x="521208" y="4261104"/>
            <a:ext cx="3749040" cy="658368"/>
          </a:xfrm>
          <a:prstGeom prst="rect">
            <a:avLst/>
          </a:prstGeom>
          <a:noFill/>
          <a:ln/>
        </p:spPr>
        <p:txBody>
          <a:bodyPr wrap="square" rtlCol="0" anchor="ctr"/>
          <a:lstStyle/>
          <a:p>
            <a:pPr marL="0" indent="0">
              <a:buNone/>
            </a:pPr>
            <a:r>
              <a:rPr lang="en-US" sz="920" dirty="0">
                <a:solidFill>
                  <a:srgbClr val="1E293B"/>
                </a:solidFill>
              </a:rPr>
              <a:t>Streaming is the top call category (1,022 calls, 20.4%) — matching Technical Support. These two topics alone drive 40% of total call volume and are prime self-service automation candidates.</a:t>
            </a:r>
            <a:endParaRPr lang="en-US" sz="920" dirty="0"/>
          </a:p>
        </p:txBody>
      </p:sp>
      <p:sp>
        <p:nvSpPr>
          <p:cNvPr id="34" name="Shape 32"/>
          <p:cNvSpPr/>
          <p:nvPr/>
        </p:nvSpPr>
        <p:spPr>
          <a:xfrm>
            <a:off x="4663440" y="3785616"/>
            <a:ext cx="4160520" cy="1234440"/>
          </a:xfrm>
          <a:prstGeom prst="rect">
            <a:avLst/>
          </a:prstGeom>
          <a:solidFill>
            <a:srgbClr val="FFFFFF">
              <a:alpha val="92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35" name="Shape 33"/>
          <p:cNvSpPr/>
          <p:nvPr/>
        </p:nvSpPr>
        <p:spPr>
          <a:xfrm>
            <a:off x="4663440" y="3785616"/>
            <a:ext cx="64008" cy="1234440"/>
          </a:xfrm>
          <a:prstGeom prst="rect">
            <a:avLst/>
          </a:prstGeom>
          <a:solidFill>
            <a:srgbClr val="0D7377"/>
          </a:solidFill>
          <a:ln w="12700">
            <a:solidFill>
              <a:srgbClr val="0D7377"/>
            </a:solidFill>
            <a:prstDash val="solid"/>
          </a:ln>
        </p:spPr>
      </p:sp>
      <p:sp>
        <p:nvSpPr>
          <p:cNvPr id="36" name="Shape 34"/>
          <p:cNvSpPr/>
          <p:nvPr/>
        </p:nvSpPr>
        <p:spPr>
          <a:xfrm>
            <a:off x="4800600" y="3895344"/>
            <a:ext cx="384048" cy="384048"/>
          </a:xfrm>
          <a:prstGeom prst="ellipse">
            <a:avLst/>
          </a:prstGeom>
          <a:solidFill>
            <a:srgbClr val="0D7377"/>
          </a:solidFill>
          <a:ln w="12700">
            <a:solidFill>
              <a:srgbClr val="0D7377"/>
            </a:solidFill>
            <a:prstDash val="solid"/>
          </a:ln>
        </p:spPr>
      </p:sp>
      <p:sp>
        <p:nvSpPr>
          <p:cNvPr id="37" name="Text 35"/>
          <p:cNvSpPr/>
          <p:nvPr/>
        </p:nvSpPr>
        <p:spPr>
          <a:xfrm>
            <a:off x="4800600" y="3895344"/>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rPr>
              <a:t>06</a:t>
            </a:r>
            <a:endParaRPr lang="en-US" sz="1000" dirty="0"/>
          </a:p>
        </p:txBody>
      </p:sp>
      <p:sp>
        <p:nvSpPr>
          <p:cNvPr id="38" name="Text 36"/>
          <p:cNvSpPr/>
          <p:nvPr/>
        </p:nvSpPr>
        <p:spPr>
          <a:xfrm>
            <a:off x="5276088" y="3877056"/>
            <a:ext cx="3383280" cy="320040"/>
          </a:xfrm>
          <a:prstGeom prst="rect">
            <a:avLst/>
          </a:prstGeom>
          <a:noFill/>
          <a:ln/>
        </p:spPr>
        <p:txBody>
          <a:bodyPr wrap="square" rtlCol="0" anchor="ctr"/>
          <a:lstStyle/>
          <a:p>
            <a:pPr marL="0" indent="0">
              <a:buNone/>
            </a:pPr>
            <a:r>
              <a:rPr lang="en-US" sz="1100" b="1" dirty="0">
                <a:solidFill>
                  <a:srgbClr val="1E293B"/>
                </a:solidFill>
              </a:rPr>
              <a:t>January Requires Extra Resources</a:t>
            </a:r>
            <a:endParaRPr lang="en-US" sz="1100" dirty="0"/>
          </a:p>
        </p:txBody>
      </p:sp>
      <p:sp>
        <p:nvSpPr>
          <p:cNvPr id="39" name="Text 37"/>
          <p:cNvSpPr/>
          <p:nvPr/>
        </p:nvSpPr>
        <p:spPr>
          <a:xfrm>
            <a:off x="4864608" y="4261104"/>
            <a:ext cx="3749040" cy="658368"/>
          </a:xfrm>
          <a:prstGeom prst="rect">
            <a:avLst/>
          </a:prstGeom>
          <a:noFill/>
          <a:ln/>
        </p:spPr>
        <p:txBody>
          <a:bodyPr wrap="square" rtlCol="0" anchor="ctr"/>
          <a:lstStyle/>
          <a:p>
            <a:pPr marL="0" indent="0">
              <a:buNone/>
            </a:pPr>
            <a:r>
              <a:rPr lang="en-US" sz="920" dirty="0">
                <a:solidFill>
                  <a:srgbClr val="1E293B"/>
                </a:solidFill>
              </a:rPr>
              <a:t>January logged 1,772 calls — 9.5% more than February or March. This likely reflects post-holiday account activity and warrants pre-planned January staffing uplifts.</a:t>
            </a:r>
            <a:endParaRPr lang="en-US" sz="9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2200" b="1" dirty="0">
                <a:solidFill>
                  <a:srgbClr val="FFFFFF"/>
                </a:solidFill>
              </a:rPr>
              <a:t>Recommendations</a:t>
            </a:r>
            <a:endParaRPr lang="en-US" sz="2200" dirty="0"/>
          </a:p>
        </p:txBody>
      </p:sp>
      <p:sp>
        <p:nvSpPr>
          <p:cNvPr id="4" name="Text 2"/>
          <p:cNvSpPr/>
          <p:nvPr/>
        </p:nvSpPr>
        <p:spPr>
          <a:xfrm>
            <a:off x="411480" y="777240"/>
            <a:ext cx="8321040" cy="320040"/>
          </a:xfrm>
          <a:prstGeom prst="rect">
            <a:avLst/>
          </a:prstGeom>
          <a:noFill/>
          <a:ln/>
        </p:spPr>
        <p:txBody>
          <a:bodyPr wrap="square" lIns="0" tIns="0" rIns="0" bIns="0" rtlCol="0" anchor="ctr"/>
          <a:lstStyle/>
          <a:p>
            <a:pPr marL="0" indent="0">
              <a:buNone/>
            </a:pPr>
            <a:r>
              <a:rPr lang="en-US" sz="1100" i="1" dirty="0">
                <a:solidFill>
                  <a:srgbClr val="64748B"/>
                </a:solidFill>
              </a:rPr>
              <a:t>Actionable Business Strategies Based on Data Analysis</a:t>
            </a:r>
            <a:endParaRPr lang="en-US" sz="1100" dirty="0"/>
          </a:p>
        </p:txBody>
      </p:sp>
      <p:sp>
        <p:nvSpPr>
          <p:cNvPr id="5" name="Shape 3"/>
          <p:cNvSpPr/>
          <p:nvPr/>
        </p:nvSpPr>
        <p:spPr>
          <a:xfrm>
            <a:off x="0" y="0"/>
            <a:ext cx="64008" cy="777240"/>
          </a:xfrm>
          <a:prstGeom prst="rect">
            <a:avLst/>
          </a:prstGeom>
          <a:solidFill>
            <a:srgbClr val="0D7377"/>
          </a:solidFill>
          <a:ln w="12700">
            <a:solidFill>
              <a:srgbClr val="0D7377"/>
            </a:solidFill>
            <a:prstDash val="solid"/>
          </a:ln>
        </p:spPr>
      </p:sp>
      <p:sp>
        <p:nvSpPr>
          <p:cNvPr id="6" name="Shape 4"/>
          <p:cNvSpPr/>
          <p:nvPr/>
        </p:nvSpPr>
        <p:spPr>
          <a:xfrm>
            <a:off x="320040" y="118872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20040" y="1188720"/>
            <a:ext cx="64008" cy="1170432"/>
          </a:xfrm>
          <a:prstGeom prst="rect">
            <a:avLst/>
          </a:prstGeom>
          <a:solidFill>
            <a:srgbClr val="EF4444"/>
          </a:solidFill>
          <a:ln w="12700">
            <a:solidFill>
              <a:srgbClr val="EF4444"/>
            </a:solidFill>
            <a:prstDash val="solid"/>
          </a:ln>
        </p:spPr>
      </p:sp>
      <p:sp>
        <p:nvSpPr>
          <p:cNvPr id="8" name="Shape 6"/>
          <p:cNvSpPr/>
          <p:nvPr/>
        </p:nvSpPr>
        <p:spPr>
          <a:xfrm>
            <a:off x="457200" y="1261872"/>
            <a:ext cx="685800" cy="237744"/>
          </a:xfrm>
          <a:prstGeom prst="rect">
            <a:avLst/>
          </a:prstGeom>
          <a:solidFill>
            <a:srgbClr val="EF4444"/>
          </a:solidFill>
          <a:ln w="12700">
            <a:solidFill>
              <a:srgbClr val="EF4444"/>
            </a:solidFill>
            <a:prstDash val="solid"/>
          </a:ln>
        </p:spPr>
      </p:sp>
      <p:sp>
        <p:nvSpPr>
          <p:cNvPr id="9" name="Text 7"/>
          <p:cNvSpPr/>
          <p:nvPr/>
        </p:nvSpPr>
        <p:spPr>
          <a:xfrm>
            <a:off x="457200" y="126187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HIGH</a:t>
            </a:r>
            <a:endParaRPr lang="en-US" sz="800" dirty="0"/>
          </a:p>
        </p:txBody>
      </p:sp>
      <p:sp>
        <p:nvSpPr>
          <p:cNvPr id="10" name="Text 8"/>
          <p:cNvSpPr/>
          <p:nvPr/>
        </p:nvSpPr>
        <p:spPr>
          <a:xfrm>
            <a:off x="1234440" y="1252728"/>
            <a:ext cx="3108960" cy="292608"/>
          </a:xfrm>
          <a:prstGeom prst="rect">
            <a:avLst/>
          </a:prstGeom>
          <a:noFill/>
          <a:ln/>
        </p:spPr>
        <p:txBody>
          <a:bodyPr wrap="square" rtlCol="0" anchor="ctr"/>
          <a:lstStyle/>
          <a:p>
            <a:pPr marL="0" indent="0">
              <a:buNone/>
            </a:pPr>
            <a:r>
              <a:rPr lang="en-US" sz="1100" b="1" dirty="0">
                <a:solidFill>
                  <a:srgbClr val="1E293B"/>
                </a:solidFill>
              </a:rPr>
              <a:t>Launch Joe's Coaching Program</a:t>
            </a:r>
            <a:endParaRPr lang="en-US" sz="1100" dirty="0"/>
          </a:p>
        </p:txBody>
      </p:sp>
      <p:sp>
        <p:nvSpPr>
          <p:cNvPr id="11" name="Text 9"/>
          <p:cNvSpPr/>
          <p:nvPr/>
        </p:nvSpPr>
        <p:spPr>
          <a:xfrm>
            <a:off x="502920" y="1581912"/>
            <a:ext cx="3749040" cy="384048"/>
          </a:xfrm>
          <a:prstGeom prst="rect">
            <a:avLst/>
          </a:prstGeom>
          <a:noFill/>
          <a:ln/>
        </p:spPr>
        <p:txBody>
          <a:bodyPr wrap="square" rtlCol="0" anchor="ctr"/>
          <a:lstStyle/>
          <a:p>
            <a:pPr marL="0" indent="0">
              <a:buNone/>
            </a:pPr>
            <a:r>
              <a:rPr lang="en-US" sz="880" dirty="0">
                <a:solidFill>
                  <a:srgbClr val="1E293B"/>
                </a:solidFill>
              </a:rPr>
              <a:t>Conduct call review sessions for Joe — listen to recordings, identify breakdown points in his interactions. Pair with Martha (team's top CSAT) for shadow coaching.</a:t>
            </a:r>
            <a:endParaRPr lang="en-US" sz="880" dirty="0"/>
          </a:p>
        </p:txBody>
      </p:sp>
      <p:sp>
        <p:nvSpPr>
          <p:cNvPr id="12" name="Text 10"/>
          <p:cNvSpPr/>
          <p:nvPr/>
        </p:nvSpPr>
        <p:spPr>
          <a:xfrm>
            <a:off x="502920" y="1984248"/>
            <a:ext cx="3749040" cy="292608"/>
          </a:xfrm>
          <a:prstGeom prst="rect">
            <a:avLst/>
          </a:prstGeom>
          <a:noFill/>
          <a:ln/>
        </p:spPr>
        <p:txBody>
          <a:bodyPr wrap="square" rtlCol="0" anchor="ctr"/>
          <a:lstStyle/>
          <a:p>
            <a:pPr marL="0" indent="0">
              <a:buNone/>
            </a:pPr>
            <a:r>
              <a:rPr lang="en-US" sz="850" i="1" dirty="0">
                <a:solidFill>
                  <a:srgbClr val="EF4444"/>
                </a:solidFill>
              </a:rPr>
              <a:t>📈 Estimated +0.1–0.15 CSAT improvement for Joe; sets precedent for ongoing peer coaching.</a:t>
            </a:r>
            <a:endParaRPr lang="en-US" sz="850" dirty="0"/>
          </a:p>
        </p:txBody>
      </p:sp>
      <p:sp>
        <p:nvSpPr>
          <p:cNvPr id="13" name="Shape 11"/>
          <p:cNvSpPr/>
          <p:nvPr/>
        </p:nvSpPr>
        <p:spPr>
          <a:xfrm>
            <a:off x="4663440" y="118872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4" name="Shape 12"/>
          <p:cNvSpPr/>
          <p:nvPr/>
        </p:nvSpPr>
        <p:spPr>
          <a:xfrm>
            <a:off x="4663440" y="1188720"/>
            <a:ext cx="64008" cy="1170432"/>
          </a:xfrm>
          <a:prstGeom prst="rect">
            <a:avLst/>
          </a:prstGeom>
          <a:solidFill>
            <a:srgbClr val="F59E0B"/>
          </a:solidFill>
          <a:ln w="12700">
            <a:solidFill>
              <a:srgbClr val="F59E0B"/>
            </a:solidFill>
            <a:prstDash val="solid"/>
          </a:ln>
        </p:spPr>
      </p:sp>
      <p:sp>
        <p:nvSpPr>
          <p:cNvPr id="15" name="Shape 13"/>
          <p:cNvSpPr/>
          <p:nvPr/>
        </p:nvSpPr>
        <p:spPr>
          <a:xfrm>
            <a:off x="4800600" y="1261872"/>
            <a:ext cx="685800" cy="237744"/>
          </a:xfrm>
          <a:prstGeom prst="rect">
            <a:avLst/>
          </a:prstGeom>
          <a:solidFill>
            <a:srgbClr val="F59E0B"/>
          </a:solidFill>
          <a:ln w="12700">
            <a:solidFill>
              <a:srgbClr val="F59E0B"/>
            </a:solidFill>
            <a:prstDash val="solid"/>
          </a:ln>
        </p:spPr>
      </p:sp>
      <p:sp>
        <p:nvSpPr>
          <p:cNvPr id="16" name="Text 14"/>
          <p:cNvSpPr/>
          <p:nvPr/>
        </p:nvSpPr>
        <p:spPr>
          <a:xfrm>
            <a:off x="4800600" y="126187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HIGH</a:t>
            </a:r>
            <a:endParaRPr lang="en-US" sz="800" dirty="0"/>
          </a:p>
        </p:txBody>
      </p:sp>
      <p:sp>
        <p:nvSpPr>
          <p:cNvPr id="17" name="Text 15"/>
          <p:cNvSpPr/>
          <p:nvPr/>
        </p:nvSpPr>
        <p:spPr>
          <a:xfrm>
            <a:off x="5577840" y="1252728"/>
            <a:ext cx="3108960" cy="292608"/>
          </a:xfrm>
          <a:prstGeom prst="rect">
            <a:avLst/>
          </a:prstGeom>
          <a:noFill/>
          <a:ln/>
        </p:spPr>
        <p:txBody>
          <a:bodyPr wrap="square" rtlCol="0" anchor="ctr"/>
          <a:lstStyle/>
          <a:p>
            <a:pPr marL="0" indent="0">
              <a:buNone/>
            </a:pPr>
            <a:r>
              <a:rPr lang="en-US" sz="1100" b="1" dirty="0">
                <a:solidFill>
                  <a:srgbClr val="1E293B"/>
                </a:solidFill>
              </a:rPr>
              <a:t>Investigate Unresolved Calls</a:t>
            </a:r>
            <a:endParaRPr lang="en-US" sz="1100" dirty="0"/>
          </a:p>
        </p:txBody>
      </p:sp>
      <p:sp>
        <p:nvSpPr>
          <p:cNvPr id="18" name="Text 16"/>
          <p:cNvSpPr/>
          <p:nvPr/>
        </p:nvSpPr>
        <p:spPr>
          <a:xfrm>
            <a:off x="4846320" y="1581912"/>
            <a:ext cx="3749040" cy="384048"/>
          </a:xfrm>
          <a:prstGeom prst="rect">
            <a:avLst/>
          </a:prstGeom>
          <a:noFill/>
          <a:ln/>
        </p:spPr>
        <p:txBody>
          <a:bodyPr wrap="square" rtlCol="0" anchor="ctr"/>
          <a:lstStyle/>
          <a:p>
            <a:pPr marL="0" indent="0">
              <a:buNone/>
            </a:pPr>
            <a:r>
              <a:rPr lang="en-US" sz="880" dirty="0">
                <a:solidFill>
                  <a:srgbClr val="1E293B"/>
                </a:solidFill>
              </a:rPr>
              <a:t>Analyze the 1,354 unresolved calls (27.1%) — identify top reasons (complexity, escalation needed, lack of knowledge). Create resolution playbooks per topic.</a:t>
            </a:r>
            <a:endParaRPr lang="en-US" sz="880" dirty="0"/>
          </a:p>
        </p:txBody>
      </p:sp>
      <p:sp>
        <p:nvSpPr>
          <p:cNvPr id="19" name="Text 17"/>
          <p:cNvSpPr/>
          <p:nvPr/>
        </p:nvSpPr>
        <p:spPr>
          <a:xfrm>
            <a:off x="4846320" y="1984248"/>
            <a:ext cx="3749040" cy="292608"/>
          </a:xfrm>
          <a:prstGeom prst="rect">
            <a:avLst/>
          </a:prstGeom>
          <a:noFill/>
          <a:ln/>
        </p:spPr>
        <p:txBody>
          <a:bodyPr wrap="square" rtlCol="0" anchor="ctr"/>
          <a:lstStyle/>
          <a:p>
            <a:pPr marL="0" indent="0">
              <a:buNone/>
            </a:pPr>
            <a:r>
              <a:rPr lang="en-US" sz="850" i="1" dirty="0">
                <a:solidFill>
                  <a:srgbClr val="F59E0B"/>
                </a:solidFill>
              </a:rPr>
              <a:t>📈 Closing 50% of the resolution gap would add ~677 resolved calls — a 10% boost to team KPI.</a:t>
            </a:r>
            <a:endParaRPr lang="en-US" sz="850" dirty="0"/>
          </a:p>
        </p:txBody>
      </p:sp>
      <p:sp>
        <p:nvSpPr>
          <p:cNvPr id="20" name="Shape 18"/>
          <p:cNvSpPr/>
          <p:nvPr/>
        </p:nvSpPr>
        <p:spPr>
          <a:xfrm>
            <a:off x="320040" y="251460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1" name="Shape 19"/>
          <p:cNvSpPr/>
          <p:nvPr/>
        </p:nvSpPr>
        <p:spPr>
          <a:xfrm>
            <a:off x="320040" y="2514600"/>
            <a:ext cx="64008" cy="1170432"/>
          </a:xfrm>
          <a:prstGeom prst="rect">
            <a:avLst/>
          </a:prstGeom>
          <a:solidFill>
            <a:srgbClr val="F5A623"/>
          </a:solidFill>
          <a:ln w="12700">
            <a:solidFill>
              <a:srgbClr val="F5A623"/>
            </a:solidFill>
            <a:prstDash val="solid"/>
          </a:ln>
        </p:spPr>
      </p:sp>
      <p:sp>
        <p:nvSpPr>
          <p:cNvPr id="22" name="Shape 20"/>
          <p:cNvSpPr/>
          <p:nvPr/>
        </p:nvSpPr>
        <p:spPr>
          <a:xfrm>
            <a:off x="457200" y="2587752"/>
            <a:ext cx="685800" cy="237744"/>
          </a:xfrm>
          <a:prstGeom prst="rect">
            <a:avLst/>
          </a:prstGeom>
          <a:solidFill>
            <a:srgbClr val="F5A623"/>
          </a:solidFill>
          <a:ln w="12700">
            <a:solidFill>
              <a:srgbClr val="F5A623"/>
            </a:solidFill>
            <a:prstDash val="solid"/>
          </a:ln>
        </p:spPr>
      </p:sp>
      <p:sp>
        <p:nvSpPr>
          <p:cNvPr id="23" name="Text 21"/>
          <p:cNvSpPr/>
          <p:nvPr/>
        </p:nvSpPr>
        <p:spPr>
          <a:xfrm>
            <a:off x="457200" y="258775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MED</a:t>
            </a:r>
            <a:endParaRPr lang="en-US" sz="800" dirty="0"/>
          </a:p>
        </p:txBody>
      </p:sp>
      <p:sp>
        <p:nvSpPr>
          <p:cNvPr id="24" name="Text 22"/>
          <p:cNvSpPr/>
          <p:nvPr/>
        </p:nvSpPr>
        <p:spPr>
          <a:xfrm>
            <a:off x="1234440" y="2578608"/>
            <a:ext cx="3108960" cy="292608"/>
          </a:xfrm>
          <a:prstGeom prst="rect">
            <a:avLst/>
          </a:prstGeom>
          <a:noFill/>
          <a:ln/>
        </p:spPr>
        <p:txBody>
          <a:bodyPr wrap="square" rtlCol="0" anchor="ctr"/>
          <a:lstStyle/>
          <a:p>
            <a:pPr marL="0" indent="0">
              <a:buNone/>
            </a:pPr>
            <a:r>
              <a:rPr lang="en-US" sz="1100" b="1" dirty="0">
                <a:solidFill>
                  <a:srgbClr val="1E293B"/>
                </a:solidFill>
              </a:rPr>
              <a:t>Build Streaming &amp; Tech Self-Service</a:t>
            </a:r>
            <a:endParaRPr lang="en-US" sz="1100" dirty="0"/>
          </a:p>
        </p:txBody>
      </p:sp>
      <p:sp>
        <p:nvSpPr>
          <p:cNvPr id="25" name="Text 23"/>
          <p:cNvSpPr/>
          <p:nvPr/>
        </p:nvSpPr>
        <p:spPr>
          <a:xfrm>
            <a:off x="502920" y="2907792"/>
            <a:ext cx="3749040" cy="384048"/>
          </a:xfrm>
          <a:prstGeom prst="rect">
            <a:avLst/>
          </a:prstGeom>
          <a:noFill/>
          <a:ln/>
        </p:spPr>
        <p:txBody>
          <a:bodyPr wrap="square" rtlCol="0" anchor="ctr"/>
          <a:lstStyle/>
          <a:p>
            <a:pPr marL="0" indent="0">
              <a:buNone/>
            </a:pPr>
            <a:r>
              <a:rPr lang="en-US" sz="880" dirty="0">
                <a:solidFill>
                  <a:srgbClr val="1E293B"/>
                </a:solidFill>
              </a:rPr>
              <a:t>Develop FAQ articles, chatbot flows, and video guides for Streaming (1,022 calls) and Technical Support (1,019 calls) — the two highest-volume topics.</a:t>
            </a:r>
            <a:endParaRPr lang="en-US" sz="880" dirty="0"/>
          </a:p>
        </p:txBody>
      </p:sp>
      <p:sp>
        <p:nvSpPr>
          <p:cNvPr id="26" name="Text 24"/>
          <p:cNvSpPr/>
          <p:nvPr/>
        </p:nvSpPr>
        <p:spPr>
          <a:xfrm>
            <a:off x="502920" y="3310128"/>
            <a:ext cx="3749040" cy="292608"/>
          </a:xfrm>
          <a:prstGeom prst="rect">
            <a:avLst/>
          </a:prstGeom>
          <a:noFill/>
          <a:ln/>
        </p:spPr>
        <p:txBody>
          <a:bodyPr wrap="square" rtlCol="0" anchor="ctr"/>
          <a:lstStyle/>
          <a:p>
            <a:pPr marL="0" indent="0">
              <a:buNone/>
            </a:pPr>
            <a:r>
              <a:rPr lang="en-US" sz="850" i="1" dirty="0">
                <a:solidFill>
                  <a:srgbClr val="F5A623"/>
                </a:solidFill>
              </a:rPr>
              <a:t>📈 Deflecting 20% of these calls saves ~400 agent hours per quarter.</a:t>
            </a:r>
            <a:endParaRPr lang="en-US" sz="850" dirty="0"/>
          </a:p>
        </p:txBody>
      </p:sp>
      <p:sp>
        <p:nvSpPr>
          <p:cNvPr id="27" name="Shape 25"/>
          <p:cNvSpPr/>
          <p:nvPr/>
        </p:nvSpPr>
        <p:spPr>
          <a:xfrm>
            <a:off x="4663440" y="251460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8" name="Shape 26"/>
          <p:cNvSpPr/>
          <p:nvPr/>
        </p:nvSpPr>
        <p:spPr>
          <a:xfrm>
            <a:off x="4663440" y="2514600"/>
            <a:ext cx="64008" cy="1170432"/>
          </a:xfrm>
          <a:prstGeom prst="rect">
            <a:avLst/>
          </a:prstGeom>
          <a:solidFill>
            <a:srgbClr val="0D7377"/>
          </a:solidFill>
          <a:ln w="12700">
            <a:solidFill>
              <a:srgbClr val="0D7377"/>
            </a:solidFill>
            <a:prstDash val="solid"/>
          </a:ln>
        </p:spPr>
      </p:sp>
      <p:sp>
        <p:nvSpPr>
          <p:cNvPr id="29" name="Shape 27"/>
          <p:cNvSpPr/>
          <p:nvPr/>
        </p:nvSpPr>
        <p:spPr>
          <a:xfrm>
            <a:off x="4800600" y="2587752"/>
            <a:ext cx="685800" cy="237744"/>
          </a:xfrm>
          <a:prstGeom prst="rect">
            <a:avLst/>
          </a:prstGeom>
          <a:solidFill>
            <a:srgbClr val="0D7377"/>
          </a:solidFill>
          <a:ln w="12700">
            <a:solidFill>
              <a:srgbClr val="0D7377"/>
            </a:solidFill>
            <a:prstDash val="solid"/>
          </a:ln>
        </p:spPr>
      </p:sp>
      <p:sp>
        <p:nvSpPr>
          <p:cNvPr id="30" name="Text 28"/>
          <p:cNvSpPr/>
          <p:nvPr/>
        </p:nvSpPr>
        <p:spPr>
          <a:xfrm>
            <a:off x="4800600" y="258775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MED</a:t>
            </a:r>
            <a:endParaRPr lang="en-US" sz="800" dirty="0"/>
          </a:p>
        </p:txBody>
      </p:sp>
      <p:sp>
        <p:nvSpPr>
          <p:cNvPr id="31" name="Text 29"/>
          <p:cNvSpPr/>
          <p:nvPr/>
        </p:nvSpPr>
        <p:spPr>
          <a:xfrm>
            <a:off x="5577840" y="2578608"/>
            <a:ext cx="3108960" cy="292608"/>
          </a:xfrm>
          <a:prstGeom prst="rect">
            <a:avLst/>
          </a:prstGeom>
          <a:noFill/>
          <a:ln/>
        </p:spPr>
        <p:txBody>
          <a:bodyPr wrap="square" rtlCol="0" anchor="ctr"/>
          <a:lstStyle/>
          <a:p>
            <a:pPr marL="0" indent="0">
              <a:buNone/>
            </a:pPr>
            <a:r>
              <a:rPr lang="en-US" sz="1100" b="1" dirty="0">
                <a:solidFill>
                  <a:srgbClr val="1E293B"/>
                </a:solidFill>
              </a:rPr>
              <a:t>Set Speed-of-Answer SLA at 60s</a:t>
            </a:r>
            <a:endParaRPr lang="en-US" sz="1100" dirty="0"/>
          </a:p>
        </p:txBody>
      </p:sp>
      <p:sp>
        <p:nvSpPr>
          <p:cNvPr id="32" name="Text 30"/>
          <p:cNvSpPr/>
          <p:nvPr/>
        </p:nvSpPr>
        <p:spPr>
          <a:xfrm>
            <a:off x="4846320" y="2907792"/>
            <a:ext cx="3749040" cy="384048"/>
          </a:xfrm>
          <a:prstGeom prst="rect">
            <a:avLst/>
          </a:prstGeom>
          <a:noFill/>
          <a:ln/>
        </p:spPr>
        <p:txBody>
          <a:bodyPr wrap="square" rtlCol="0" anchor="ctr"/>
          <a:lstStyle/>
          <a:p>
            <a:pPr marL="0" indent="0">
              <a:buNone/>
            </a:pPr>
            <a:r>
              <a:rPr lang="en-US" sz="880" dirty="0">
                <a:solidFill>
                  <a:srgbClr val="1E293B"/>
                </a:solidFill>
              </a:rPr>
              <a:t>Implement a ≤60s answer time SLA. Currently, mean speed is 67.6s — teams exceeding 70s (Joe: 70.4s) need real-time queue monitoring and routing priority.</a:t>
            </a:r>
            <a:endParaRPr lang="en-US" sz="880" dirty="0"/>
          </a:p>
        </p:txBody>
      </p:sp>
      <p:sp>
        <p:nvSpPr>
          <p:cNvPr id="33" name="Text 31"/>
          <p:cNvSpPr/>
          <p:nvPr/>
        </p:nvSpPr>
        <p:spPr>
          <a:xfrm>
            <a:off x="4846320" y="3310128"/>
            <a:ext cx="3749040" cy="292608"/>
          </a:xfrm>
          <a:prstGeom prst="rect">
            <a:avLst/>
          </a:prstGeom>
          <a:noFill/>
          <a:ln/>
        </p:spPr>
        <p:txBody>
          <a:bodyPr wrap="square" rtlCol="0" anchor="ctr"/>
          <a:lstStyle/>
          <a:p>
            <a:pPr marL="0" indent="0">
              <a:buNone/>
            </a:pPr>
            <a:r>
              <a:rPr lang="en-US" sz="850" i="1" dirty="0">
                <a:solidFill>
                  <a:srgbClr val="0D7377"/>
                </a:solidFill>
              </a:rPr>
              <a:t>📈 Faster answer speeds are associated with higher CSAT — reducing avg speed to 60s targets a measurable satisfaction uplift.</a:t>
            </a:r>
            <a:endParaRPr lang="en-US" sz="850" dirty="0"/>
          </a:p>
        </p:txBody>
      </p:sp>
      <p:sp>
        <p:nvSpPr>
          <p:cNvPr id="34" name="Shape 32"/>
          <p:cNvSpPr/>
          <p:nvPr/>
        </p:nvSpPr>
        <p:spPr>
          <a:xfrm>
            <a:off x="320040" y="384048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5" name="Shape 33"/>
          <p:cNvSpPr/>
          <p:nvPr/>
        </p:nvSpPr>
        <p:spPr>
          <a:xfrm>
            <a:off x="320040" y="3840480"/>
            <a:ext cx="64008" cy="1170432"/>
          </a:xfrm>
          <a:prstGeom prst="rect">
            <a:avLst/>
          </a:prstGeom>
          <a:solidFill>
            <a:srgbClr val="10B981"/>
          </a:solidFill>
          <a:ln w="12700">
            <a:solidFill>
              <a:srgbClr val="10B981"/>
            </a:solidFill>
            <a:prstDash val="solid"/>
          </a:ln>
        </p:spPr>
      </p:sp>
      <p:sp>
        <p:nvSpPr>
          <p:cNvPr id="36" name="Shape 34"/>
          <p:cNvSpPr/>
          <p:nvPr/>
        </p:nvSpPr>
        <p:spPr>
          <a:xfrm>
            <a:off x="457200" y="3913632"/>
            <a:ext cx="685800" cy="237744"/>
          </a:xfrm>
          <a:prstGeom prst="rect">
            <a:avLst/>
          </a:prstGeom>
          <a:solidFill>
            <a:srgbClr val="10B981"/>
          </a:solidFill>
          <a:ln w="12700">
            <a:solidFill>
              <a:srgbClr val="10B981"/>
            </a:solidFill>
            <a:prstDash val="solid"/>
          </a:ln>
        </p:spPr>
      </p:sp>
      <p:sp>
        <p:nvSpPr>
          <p:cNvPr id="37" name="Text 35"/>
          <p:cNvSpPr/>
          <p:nvPr/>
        </p:nvSpPr>
        <p:spPr>
          <a:xfrm>
            <a:off x="457200" y="391363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MED</a:t>
            </a:r>
            <a:endParaRPr lang="en-US" sz="800" dirty="0"/>
          </a:p>
        </p:txBody>
      </p:sp>
      <p:sp>
        <p:nvSpPr>
          <p:cNvPr id="38" name="Text 36"/>
          <p:cNvSpPr/>
          <p:nvPr/>
        </p:nvSpPr>
        <p:spPr>
          <a:xfrm>
            <a:off x="1234440" y="3904488"/>
            <a:ext cx="3108960" cy="292608"/>
          </a:xfrm>
          <a:prstGeom prst="rect">
            <a:avLst/>
          </a:prstGeom>
          <a:noFill/>
          <a:ln/>
        </p:spPr>
        <p:txBody>
          <a:bodyPr wrap="square" rtlCol="0" anchor="ctr"/>
          <a:lstStyle/>
          <a:p>
            <a:pPr marL="0" indent="0">
              <a:buNone/>
            </a:pPr>
            <a:r>
              <a:rPr lang="en-US" sz="1100" b="1" dirty="0">
                <a:solidFill>
                  <a:srgbClr val="1E293B"/>
                </a:solidFill>
              </a:rPr>
              <a:t>Reward &amp; Document Top Performers</a:t>
            </a:r>
            <a:endParaRPr lang="en-US" sz="1100" dirty="0"/>
          </a:p>
        </p:txBody>
      </p:sp>
      <p:sp>
        <p:nvSpPr>
          <p:cNvPr id="39" name="Text 37"/>
          <p:cNvSpPr/>
          <p:nvPr/>
        </p:nvSpPr>
        <p:spPr>
          <a:xfrm>
            <a:off x="502920" y="4233672"/>
            <a:ext cx="3749040" cy="384048"/>
          </a:xfrm>
          <a:prstGeom prst="rect">
            <a:avLst/>
          </a:prstGeom>
          <a:noFill/>
          <a:ln/>
        </p:spPr>
        <p:txBody>
          <a:bodyPr wrap="square" rtlCol="0" anchor="ctr"/>
          <a:lstStyle/>
          <a:p>
            <a:pPr marL="0" indent="0">
              <a:buNone/>
            </a:pPr>
            <a:r>
              <a:rPr lang="en-US" sz="880" dirty="0">
                <a:solidFill>
                  <a:srgbClr val="1E293B"/>
                </a:solidFill>
              </a:rPr>
              <a:t>Create a 'Best Practices' internal playbook based on Martha and Dan's call handling techniques. Feature them in team training sessions.</a:t>
            </a:r>
            <a:endParaRPr lang="en-US" sz="880" dirty="0"/>
          </a:p>
        </p:txBody>
      </p:sp>
      <p:sp>
        <p:nvSpPr>
          <p:cNvPr id="40" name="Text 38"/>
          <p:cNvSpPr/>
          <p:nvPr/>
        </p:nvSpPr>
        <p:spPr>
          <a:xfrm>
            <a:off x="502920" y="4636008"/>
            <a:ext cx="3749040" cy="292608"/>
          </a:xfrm>
          <a:prstGeom prst="rect">
            <a:avLst/>
          </a:prstGeom>
          <a:noFill/>
          <a:ln/>
        </p:spPr>
        <p:txBody>
          <a:bodyPr wrap="square" rtlCol="0" anchor="ctr"/>
          <a:lstStyle/>
          <a:p>
            <a:pPr marL="0" indent="0">
              <a:buNone/>
            </a:pPr>
            <a:r>
              <a:rPr lang="en-US" sz="850" i="1" dirty="0">
                <a:solidFill>
                  <a:srgbClr val="10B981"/>
                </a:solidFill>
              </a:rPr>
              <a:t>📈 Knowledge transfer from top performers can raise team CSAT from 3.33 to 3.45+ within one quarter.</a:t>
            </a:r>
            <a:endParaRPr lang="en-US" sz="850" dirty="0"/>
          </a:p>
        </p:txBody>
      </p:sp>
      <p:sp>
        <p:nvSpPr>
          <p:cNvPr id="41" name="Shape 39"/>
          <p:cNvSpPr/>
          <p:nvPr/>
        </p:nvSpPr>
        <p:spPr>
          <a:xfrm>
            <a:off x="4663440" y="3840480"/>
            <a:ext cx="416052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42" name="Shape 40"/>
          <p:cNvSpPr/>
          <p:nvPr/>
        </p:nvSpPr>
        <p:spPr>
          <a:xfrm>
            <a:off x="4663440" y="3840480"/>
            <a:ext cx="64008" cy="1170432"/>
          </a:xfrm>
          <a:prstGeom prst="rect">
            <a:avLst/>
          </a:prstGeom>
          <a:solidFill>
            <a:srgbClr val="1B2A4A"/>
          </a:solidFill>
          <a:ln w="12700">
            <a:solidFill>
              <a:srgbClr val="1B2A4A"/>
            </a:solidFill>
            <a:prstDash val="solid"/>
          </a:ln>
        </p:spPr>
      </p:sp>
      <p:sp>
        <p:nvSpPr>
          <p:cNvPr id="43" name="Shape 41"/>
          <p:cNvSpPr/>
          <p:nvPr/>
        </p:nvSpPr>
        <p:spPr>
          <a:xfrm>
            <a:off x="4800600" y="3913632"/>
            <a:ext cx="685800" cy="237744"/>
          </a:xfrm>
          <a:prstGeom prst="rect">
            <a:avLst/>
          </a:prstGeom>
          <a:solidFill>
            <a:srgbClr val="1B2A4A"/>
          </a:solidFill>
          <a:ln w="12700">
            <a:solidFill>
              <a:srgbClr val="1B2A4A"/>
            </a:solidFill>
            <a:prstDash val="solid"/>
          </a:ln>
        </p:spPr>
      </p:sp>
      <p:sp>
        <p:nvSpPr>
          <p:cNvPr id="44" name="Text 42"/>
          <p:cNvSpPr/>
          <p:nvPr/>
        </p:nvSpPr>
        <p:spPr>
          <a:xfrm>
            <a:off x="4800600" y="3913632"/>
            <a:ext cx="685800" cy="237744"/>
          </a:xfrm>
          <a:prstGeom prst="rect">
            <a:avLst/>
          </a:prstGeom>
          <a:noFill/>
          <a:ln/>
        </p:spPr>
        <p:txBody>
          <a:bodyPr wrap="square" lIns="0" tIns="0" rIns="0" bIns="0" rtlCol="0" anchor="ctr"/>
          <a:lstStyle/>
          <a:p>
            <a:pPr marL="0" indent="0" algn="ctr">
              <a:buNone/>
            </a:pPr>
            <a:r>
              <a:rPr lang="en-US" sz="800" b="1" dirty="0">
                <a:solidFill>
                  <a:srgbClr val="FFFFFF"/>
                </a:solidFill>
              </a:rPr>
              <a:t>LOW</a:t>
            </a:r>
            <a:endParaRPr lang="en-US" sz="800" dirty="0"/>
          </a:p>
        </p:txBody>
      </p:sp>
      <p:sp>
        <p:nvSpPr>
          <p:cNvPr id="45" name="Text 43"/>
          <p:cNvSpPr/>
          <p:nvPr/>
        </p:nvSpPr>
        <p:spPr>
          <a:xfrm>
            <a:off x="5577840" y="3904488"/>
            <a:ext cx="3108960" cy="292608"/>
          </a:xfrm>
          <a:prstGeom prst="rect">
            <a:avLst/>
          </a:prstGeom>
          <a:noFill/>
          <a:ln/>
        </p:spPr>
        <p:txBody>
          <a:bodyPr wrap="square" rtlCol="0" anchor="ctr"/>
          <a:lstStyle/>
          <a:p>
            <a:pPr marL="0" indent="0">
              <a:buNone/>
            </a:pPr>
            <a:r>
              <a:rPr lang="en-US" sz="1100" b="1" dirty="0">
                <a:solidFill>
                  <a:srgbClr val="1E293B"/>
                </a:solidFill>
              </a:rPr>
              <a:t>Increase January Staffing</a:t>
            </a:r>
            <a:endParaRPr lang="en-US" sz="1100" dirty="0"/>
          </a:p>
        </p:txBody>
      </p:sp>
      <p:sp>
        <p:nvSpPr>
          <p:cNvPr id="46" name="Text 44"/>
          <p:cNvSpPr/>
          <p:nvPr/>
        </p:nvSpPr>
        <p:spPr>
          <a:xfrm>
            <a:off x="4846320" y="4233672"/>
            <a:ext cx="3749040" cy="384048"/>
          </a:xfrm>
          <a:prstGeom prst="rect">
            <a:avLst/>
          </a:prstGeom>
          <a:noFill/>
          <a:ln/>
        </p:spPr>
        <p:txBody>
          <a:bodyPr wrap="square" rtlCol="0" anchor="ctr"/>
          <a:lstStyle/>
          <a:p>
            <a:pPr marL="0" indent="0">
              <a:buNone/>
            </a:pPr>
            <a:r>
              <a:rPr lang="en-US" sz="880" dirty="0">
                <a:solidFill>
                  <a:srgbClr val="1E293B"/>
                </a:solidFill>
              </a:rPr>
              <a:t>Pre-plan a 10–15% staffing uplift for January each year based on the historical pattern of 1,772 calls vs the Q1 average of 1,667.</a:t>
            </a:r>
            <a:endParaRPr lang="en-US" sz="880" dirty="0"/>
          </a:p>
        </p:txBody>
      </p:sp>
      <p:sp>
        <p:nvSpPr>
          <p:cNvPr id="47" name="Text 45"/>
          <p:cNvSpPr/>
          <p:nvPr/>
        </p:nvSpPr>
        <p:spPr>
          <a:xfrm>
            <a:off x="4846320" y="4636008"/>
            <a:ext cx="3749040" cy="292608"/>
          </a:xfrm>
          <a:prstGeom prst="rect">
            <a:avLst/>
          </a:prstGeom>
          <a:noFill/>
          <a:ln/>
        </p:spPr>
        <p:txBody>
          <a:bodyPr wrap="square" rtlCol="0" anchor="ctr"/>
          <a:lstStyle/>
          <a:p>
            <a:pPr marL="0" indent="0">
              <a:buNone/>
            </a:pPr>
            <a:r>
              <a:rPr lang="en-US" sz="850" i="1" dirty="0">
                <a:solidFill>
                  <a:srgbClr val="1B2A4A"/>
                </a:solidFill>
              </a:rPr>
              <a:t>📈 Reduces January queue overflows and protects CSAT from deteriorating during peak periods.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377"/>
          </a:solidFill>
          <a:ln w="12700">
            <a:solidFill>
              <a:srgbClr val="0D7377"/>
            </a:solidFill>
            <a:prstDash val="solid"/>
          </a:ln>
        </p:spPr>
      </p:sp>
      <p:sp>
        <p:nvSpPr>
          <p:cNvPr id="3" name="Text 1"/>
          <p:cNvSpPr/>
          <p:nvPr/>
        </p:nvSpPr>
        <p:spPr>
          <a:xfrm>
            <a:off x="411480" y="0"/>
            <a:ext cx="8321040" cy="822960"/>
          </a:xfrm>
          <a:prstGeom prst="rect">
            <a:avLst/>
          </a:prstGeom>
          <a:noFill/>
          <a:ln/>
        </p:spPr>
        <p:txBody>
          <a:bodyPr wrap="square" lIns="0" tIns="0" rIns="0" bIns="0" rtlCol="0" anchor="ctr"/>
          <a:lstStyle/>
          <a:p>
            <a:pPr marL="0" indent="0">
              <a:buNone/>
            </a:pPr>
            <a:r>
              <a:rPr lang="en-US" sz="2400" b="1" dirty="0">
                <a:solidFill>
                  <a:srgbClr val="FFFFFF"/>
                </a:solidFill>
              </a:rPr>
              <a:t>Conclusion &amp; Future Scope</a:t>
            </a:r>
            <a:endParaRPr lang="en-US" sz="2400" dirty="0"/>
          </a:p>
        </p:txBody>
      </p:sp>
      <p:sp>
        <p:nvSpPr>
          <p:cNvPr id="4" name="Shape 2"/>
          <p:cNvSpPr/>
          <p:nvPr/>
        </p:nvSpPr>
        <p:spPr>
          <a:xfrm>
            <a:off x="320040" y="1005840"/>
            <a:ext cx="4160520" cy="19659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005840"/>
            <a:ext cx="64008" cy="1965960"/>
          </a:xfrm>
          <a:prstGeom prst="rect">
            <a:avLst/>
          </a:prstGeom>
          <a:solidFill>
            <a:srgbClr val="0D7377"/>
          </a:solidFill>
          <a:ln w="12700">
            <a:solidFill>
              <a:srgbClr val="0D7377"/>
            </a:solidFill>
            <a:prstDash val="solid"/>
          </a:ln>
        </p:spPr>
      </p:sp>
      <p:sp>
        <p:nvSpPr>
          <p:cNvPr id="6" name="Text 4"/>
          <p:cNvSpPr/>
          <p:nvPr/>
        </p:nvSpPr>
        <p:spPr>
          <a:xfrm>
            <a:off x="502920" y="1078992"/>
            <a:ext cx="3886200" cy="320040"/>
          </a:xfrm>
          <a:prstGeom prst="rect">
            <a:avLst/>
          </a:prstGeom>
          <a:noFill/>
          <a:ln/>
        </p:spPr>
        <p:txBody>
          <a:bodyPr wrap="square" rtlCol="0" anchor="ctr"/>
          <a:lstStyle/>
          <a:p>
            <a:pPr marL="0" indent="0">
              <a:buNone/>
            </a:pPr>
            <a:r>
              <a:rPr lang="en-US" sz="1200" b="1" dirty="0">
                <a:solidFill>
                  <a:srgbClr val="1B2A4A"/>
                </a:solidFill>
              </a:rPr>
              <a:t>Summary of Findings</a:t>
            </a:r>
            <a:endParaRPr lang="en-US" sz="1200" dirty="0"/>
          </a:p>
        </p:txBody>
      </p:sp>
      <p:sp>
        <p:nvSpPr>
          <p:cNvPr id="7" name="Text 5"/>
          <p:cNvSpPr/>
          <p:nvPr/>
        </p:nvSpPr>
        <p:spPr>
          <a:xfrm>
            <a:off x="548640" y="1444752"/>
            <a:ext cx="3840480" cy="1435608"/>
          </a:xfrm>
          <a:prstGeom prst="rect">
            <a:avLst/>
          </a:prstGeom>
          <a:noFill/>
          <a:ln/>
        </p:spPr>
        <p:txBody>
          <a:bodyPr wrap="square" rtlCol="0" anchor="ctr"/>
          <a:lstStyle/>
          <a:p>
            <a:pPr marL="342900" indent="-342900">
              <a:buSzPct val="100000"/>
              <a:buChar char="•"/>
            </a:pPr>
            <a:r>
              <a:rPr lang="en-US" sz="1000" dirty="0">
                <a:solidFill>
                  <a:srgbClr val="1E293B"/>
                </a:solidFill>
              </a:rPr>
              <a:t>5,000 calls analyzed across 8 agents in Q1 2021 — a solid operational dataset</a:t>
            </a:r>
            <a:endParaRPr lang="en-US" sz="1000" dirty="0"/>
          </a:p>
          <a:p>
            <a:pPr marL="342900" indent="-342900">
              <a:buSzPct val="100000"/>
              <a:buChar char="•"/>
            </a:pPr>
            <a:r>
              <a:rPr lang="en-US" sz="1000" dirty="0">
                <a:solidFill>
                  <a:srgbClr val="1E293B"/>
                </a:solidFill>
              </a:rPr>
              <a:t>Overall resolution rate of 72.9% needs improvement toward 85%+ industry target</a:t>
            </a:r>
            <a:endParaRPr lang="en-US" sz="1000" dirty="0"/>
          </a:p>
          <a:p>
            <a:pPr marL="342900" indent="-342900">
              <a:buSzPct val="100000"/>
              <a:buChar char="•"/>
            </a:pPr>
            <a:r>
              <a:rPr lang="en-US" sz="1000" dirty="0">
                <a:solidFill>
                  <a:srgbClr val="1E293B"/>
                </a:solidFill>
              </a:rPr>
              <a:t>CSAT of 3.33/5.0 is below benchmark; Joe needs coaching, Martha sets the standard</a:t>
            </a:r>
            <a:endParaRPr lang="en-US" sz="1000" dirty="0"/>
          </a:p>
          <a:p>
            <a:pPr marL="342900" indent="-342900">
              <a:buSzPct val="100000"/>
              <a:buChar char="•"/>
            </a:pPr>
            <a:r>
              <a:rPr lang="en-US" sz="1000" dirty="0">
                <a:solidFill>
                  <a:srgbClr val="1E293B"/>
                </a:solidFill>
              </a:rPr>
              <a:t>Streaming &amp; Technical Support drive 40% of volume — self-service opportunity exists</a:t>
            </a:r>
            <a:endParaRPr lang="en-US" sz="1000" dirty="0"/>
          </a:p>
          <a:p>
            <a:pPr marL="342900" indent="-342900">
              <a:buSzPct val="100000"/>
              <a:buChar char="•"/>
            </a:pPr>
            <a:r>
              <a:rPr lang="en-US" sz="1000" dirty="0">
                <a:solidFill>
                  <a:srgbClr val="1E293B"/>
                </a:solidFill>
              </a:rPr>
              <a:t>Workload is balanced; January requires pre-planned staffing uplift of 10–15%</a:t>
            </a:r>
            <a:endParaRPr lang="en-US" sz="1000" dirty="0"/>
          </a:p>
        </p:txBody>
      </p:sp>
      <p:sp>
        <p:nvSpPr>
          <p:cNvPr id="8" name="Shape 6"/>
          <p:cNvSpPr/>
          <p:nvPr/>
        </p:nvSpPr>
        <p:spPr>
          <a:xfrm>
            <a:off x="4663440" y="1005840"/>
            <a:ext cx="4160520" cy="19659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9" name="Shape 7"/>
          <p:cNvSpPr/>
          <p:nvPr/>
        </p:nvSpPr>
        <p:spPr>
          <a:xfrm>
            <a:off x="4663440" y="1005840"/>
            <a:ext cx="64008" cy="1965960"/>
          </a:xfrm>
          <a:prstGeom prst="rect">
            <a:avLst/>
          </a:prstGeom>
          <a:solidFill>
            <a:srgbClr val="14BDEB"/>
          </a:solidFill>
          <a:ln w="12700">
            <a:solidFill>
              <a:srgbClr val="14BDEB"/>
            </a:solidFill>
            <a:prstDash val="solid"/>
          </a:ln>
        </p:spPr>
      </p:sp>
      <p:sp>
        <p:nvSpPr>
          <p:cNvPr id="10" name="Text 8"/>
          <p:cNvSpPr/>
          <p:nvPr/>
        </p:nvSpPr>
        <p:spPr>
          <a:xfrm>
            <a:off x="4846320" y="1078992"/>
            <a:ext cx="3886200" cy="320040"/>
          </a:xfrm>
          <a:prstGeom prst="rect">
            <a:avLst/>
          </a:prstGeom>
          <a:noFill/>
          <a:ln/>
        </p:spPr>
        <p:txBody>
          <a:bodyPr wrap="square" rtlCol="0" anchor="ctr"/>
          <a:lstStyle/>
          <a:p>
            <a:pPr marL="0" indent="0">
              <a:buNone/>
            </a:pPr>
            <a:r>
              <a:rPr lang="en-US" sz="1200" b="1" dirty="0">
                <a:solidFill>
                  <a:srgbClr val="1B2A4A"/>
                </a:solidFill>
              </a:rPr>
              <a:t>Future Scope</a:t>
            </a:r>
            <a:endParaRPr lang="en-US" sz="1200" dirty="0"/>
          </a:p>
        </p:txBody>
      </p:sp>
      <p:sp>
        <p:nvSpPr>
          <p:cNvPr id="11" name="Text 9"/>
          <p:cNvSpPr/>
          <p:nvPr/>
        </p:nvSpPr>
        <p:spPr>
          <a:xfrm>
            <a:off x="4892040" y="1444752"/>
            <a:ext cx="3840480" cy="1435608"/>
          </a:xfrm>
          <a:prstGeom prst="rect">
            <a:avLst/>
          </a:prstGeom>
          <a:noFill/>
          <a:ln/>
        </p:spPr>
        <p:txBody>
          <a:bodyPr wrap="square" rtlCol="0" anchor="ctr"/>
          <a:lstStyle/>
          <a:p>
            <a:pPr marL="342900" indent="-342900">
              <a:buSzPct val="100000"/>
              <a:buChar char="•"/>
            </a:pPr>
            <a:r>
              <a:rPr lang="en-US" sz="1000" dirty="0">
                <a:solidFill>
                  <a:srgbClr val="1E293B"/>
                </a:solidFill>
              </a:rPr>
              <a:t>Expand analysis to Q2–Q4 to identify seasonal patterns beyond Q1 data</a:t>
            </a:r>
            <a:endParaRPr lang="en-US" sz="1000" dirty="0"/>
          </a:p>
          <a:p>
            <a:pPr marL="342900" indent="-342900">
              <a:buSzPct val="100000"/>
              <a:buChar char="•"/>
            </a:pPr>
            <a:r>
              <a:rPr lang="en-US" sz="1000" dirty="0">
                <a:solidFill>
                  <a:srgbClr val="1E293B"/>
                </a:solidFill>
              </a:rPr>
              <a:t>Integrate NLP sentiment analysis on call transcripts for deeper CSAT drivers</a:t>
            </a:r>
            <a:endParaRPr lang="en-US" sz="1000" dirty="0"/>
          </a:p>
          <a:p>
            <a:pPr marL="342900" indent="-342900">
              <a:buSzPct val="100000"/>
              <a:buChar char="•"/>
            </a:pPr>
            <a:r>
              <a:rPr lang="en-US" sz="1000" dirty="0">
                <a:solidFill>
                  <a:srgbClr val="1E293B"/>
                </a:solidFill>
              </a:rPr>
              <a:t>Build a real-time Power BI dashboard replacing static Excel for live monitoring</a:t>
            </a:r>
            <a:endParaRPr lang="en-US" sz="1000" dirty="0"/>
          </a:p>
          <a:p>
            <a:pPr marL="342900" indent="-342900">
              <a:buSzPct val="100000"/>
              <a:buChar char="•"/>
            </a:pPr>
            <a:r>
              <a:rPr lang="en-US" sz="1000" dirty="0">
                <a:solidFill>
                  <a:srgbClr val="1E293B"/>
                </a:solidFill>
              </a:rPr>
              <a:t>Add predictive modeling: forecast call volume and at-risk resolution agents</a:t>
            </a:r>
            <a:endParaRPr lang="en-US" sz="1000" dirty="0"/>
          </a:p>
          <a:p>
            <a:pPr marL="342900" indent="-342900">
              <a:buSzPct val="100000"/>
              <a:buChar char="•"/>
            </a:pPr>
            <a:r>
              <a:rPr lang="en-US" sz="1000" dirty="0">
                <a:solidFill>
                  <a:srgbClr val="1E293B"/>
                </a:solidFill>
              </a:rPr>
              <a:t>Explore AI-driven call routing to match agent strengths with caller topic needs</a:t>
            </a:r>
            <a:endParaRPr lang="en-US" sz="1000" dirty="0"/>
          </a:p>
        </p:txBody>
      </p:sp>
      <p:sp>
        <p:nvSpPr>
          <p:cNvPr id="12" name="Shape 10"/>
          <p:cNvSpPr/>
          <p:nvPr/>
        </p:nvSpPr>
        <p:spPr>
          <a:xfrm>
            <a:off x="320040" y="3154680"/>
            <a:ext cx="2011680" cy="1005840"/>
          </a:xfrm>
          <a:prstGeom prst="rect">
            <a:avLst/>
          </a:prstGeom>
          <a:solidFill>
            <a:srgbClr val="FFFFFF">
              <a:alpha val="90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3" name="Text 11"/>
          <p:cNvSpPr/>
          <p:nvPr/>
        </p:nvSpPr>
        <p:spPr>
          <a:xfrm>
            <a:off x="411480" y="3200400"/>
            <a:ext cx="1828800" cy="502920"/>
          </a:xfrm>
          <a:prstGeom prst="rect">
            <a:avLst/>
          </a:prstGeom>
          <a:noFill/>
          <a:ln/>
        </p:spPr>
        <p:txBody>
          <a:bodyPr wrap="square" rtlCol="0" anchor="ctr"/>
          <a:lstStyle/>
          <a:p>
            <a:pPr marL="0" indent="0" algn="ctr">
              <a:buNone/>
            </a:pPr>
            <a:r>
              <a:rPr lang="en-US" sz="2200" b="1" dirty="0">
                <a:solidFill>
                  <a:srgbClr val="F59E0B"/>
                </a:solidFill>
              </a:rPr>
              <a:t>72.9%</a:t>
            </a:r>
            <a:endParaRPr lang="en-US" sz="2200" dirty="0"/>
          </a:p>
        </p:txBody>
      </p:sp>
      <p:sp>
        <p:nvSpPr>
          <p:cNvPr id="14" name="Text 12"/>
          <p:cNvSpPr/>
          <p:nvPr/>
        </p:nvSpPr>
        <p:spPr>
          <a:xfrm>
            <a:off x="411480" y="3703320"/>
            <a:ext cx="1828800" cy="384048"/>
          </a:xfrm>
          <a:prstGeom prst="rect">
            <a:avLst/>
          </a:prstGeom>
          <a:noFill/>
          <a:ln/>
        </p:spPr>
        <p:txBody>
          <a:bodyPr wrap="square" rtlCol="0" anchor="ctr"/>
          <a:lstStyle/>
          <a:p>
            <a:pPr marL="0" indent="0" algn="ctr">
              <a:buNone/>
            </a:pPr>
            <a:r>
              <a:rPr lang="en-US" sz="900" b="1" dirty="0">
                <a:solidFill>
                  <a:srgbClr val="B0C4D8"/>
                </a:solidFill>
              </a:rPr>
              <a:t>Current Resolution Rate</a:t>
            </a:r>
            <a:endParaRPr lang="en-US" sz="900" dirty="0"/>
          </a:p>
        </p:txBody>
      </p:sp>
      <p:sp>
        <p:nvSpPr>
          <p:cNvPr id="15" name="Shape 13"/>
          <p:cNvSpPr/>
          <p:nvPr/>
        </p:nvSpPr>
        <p:spPr>
          <a:xfrm>
            <a:off x="2468880" y="3154680"/>
            <a:ext cx="2011680" cy="1005840"/>
          </a:xfrm>
          <a:prstGeom prst="rect">
            <a:avLst/>
          </a:prstGeom>
          <a:solidFill>
            <a:srgbClr val="FFFFFF">
              <a:alpha val="90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6" name="Text 14"/>
          <p:cNvSpPr/>
          <p:nvPr/>
        </p:nvSpPr>
        <p:spPr>
          <a:xfrm>
            <a:off x="2560320" y="3200400"/>
            <a:ext cx="1828800" cy="502920"/>
          </a:xfrm>
          <a:prstGeom prst="rect">
            <a:avLst/>
          </a:prstGeom>
          <a:noFill/>
          <a:ln/>
        </p:spPr>
        <p:txBody>
          <a:bodyPr wrap="square" rtlCol="0" anchor="ctr"/>
          <a:lstStyle/>
          <a:p>
            <a:pPr marL="0" indent="0" algn="ctr">
              <a:buNone/>
            </a:pPr>
            <a:r>
              <a:rPr lang="en-US" sz="2200" b="1" dirty="0">
                <a:solidFill>
                  <a:srgbClr val="10B981"/>
                </a:solidFill>
              </a:rPr>
              <a:t>85%+</a:t>
            </a:r>
            <a:endParaRPr lang="en-US" sz="2200" dirty="0"/>
          </a:p>
        </p:txBody>
      </p:sp>
      <p:sp>
        <p:nvSpPr>
          <p:cNvPr id="17" name="Text 15"/>
          <p:cNvSpPr/>
          <p:nvPr/>
        </p:nvSpPr>
        <p:spPr>
          <a:xfrm>
            <a:off x="2560320" y="3703320"/>
            <a:ext cx="1828800" cy="384048"/>
          </a:xfrm>
          <a:prstGeom prst="rect">
            <a:avLst/>
          </a:prstGeom>
          <a:noFill/>
          <a:ln/>
        </p:spPr>
        <p:txBody>
          <a:bodyPr wrap="square" rtlCol="0" anchor="ctr"/>
          <a:lstStyle/>
          <a:p>
            <a:pPr marL="0" indent="0" algn="ctr">
              <a:buNone/>
            </a:pPr>
            <a:r>
              <a:rPr lang="en-US" sz="900" b="1" dirty="0">
                <a:solidFill>
                  <a:srgbClr val="B0C4D8"/>
                </a:solidFill>
              </a:rPr>
              <a:t>Target Resolution Rate</a:t>
            </a:r>
            <a:endParaRPr lang="en-US" sz="900" dirty="0"/>
          </a:p>
        </p:txBody>
      </p:sp>
      <p:sp>
        <p:nvSpPr>
          <p:cNvPr id="18" name="Shape 16"/>
          <p:cNvSpPr/>
          <p:nvPr/>
        </p:nvSpPr>
        <p:spPr>
          <a:xfrm>
            <a:off x="4617720" y="3154680"/>
            <a:ext cx="2011680" cy="1005840"/>
          </a:xfrm>
          <a:prstGeom prst="rect">
            <a:avLst/>
          </a:prstGeom>
          <a:solidFill>
            <a:srgbClr val="FFFFFF">
              <a:alpha val="90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19" name="Text 17"/>
          <p:cNvSpPr/>
          <p:nvPr/>
        </p:nvSpPr>
        <p:spPr>
          <a:xfrm>
            <a:off x="4709160" y="3200400"/>
            <a:ext cx="1828800" cy="502920"/>
          </a:xfrm>
          <a:prstGeom prst="rect">
            <a:avLst/>
          </a:prstGeom>
          <a:noFill/>
          <a:ln/>
        </p:spPr>
        <p:txBody>
          <a:bodyPr wrap="square" rtlCol="0" anchor="ctr"/>
          <a:lstStyle/>
          <a:p>
            <a:pPr marL="0" indent="0" algn="ctr">
              <a:buNone/>
            </a:pPr>
            <a:r>
              <a:rPr lang="en-US" sz="2200" b="1" dirty="0">
                <a:solidFill>
                  <a:srgbClr val="F59E0B"/>
                </a:solidFill>
              </a:rPr>
              <a:t>3.33</a:t>
            </a:r>
            <a:endParaRPr lang="en-US" sz="2200" dirty="0"/>
          </a:p>
        </p:txBody>
      </p:sp>
      <p:sp>
        <p:nvSpPr>
          <p:cNvPr id="20" name="Text 18"/>
          <p:cNvSpPr/>
          <p:nvPr/>
        </p:nvSpPr>
        <p:spPr>
          <a:xfrm>
            <a:off x="4709160" y="3703320"/>
            <a:ext cx="1828800" cy="384048"/>
          </a:xfrm>
          <a:prstGeom prst="rect">
            <a:avLst/>
          </a:prstGeom>
          <a:noFill/>
          <a:ln/>
        </p:spPr>
        <p:txBody>
          <a:bodyPr wrap="square" rtlCol="0" anchor="ctr"/>
          <a:lstStyle/>
          <a:p>
            <a:pPr marL="0" indent="0" algn="ctr">
              <a:buNone/>
            </a:pPr>
            <a:r>
              <a:rPr lang="en-US" sz="900" b="1" dirty="0">
                <a:solidFill>
                  <a:srgbClr val="B0C4D8"/>
                </a:solidFill>
              </a:rPr>
              <a:t>Current Avg CSAT</a:t>
            </a:r>
            <a:endParaRPr lang="en-US" sz="900" dirty="0"/>
          </a:p>
        </p:txBody>
      </p:sp>
      <p:sp>
        <p:nvSpPr>
          <p:cNvPr id="21" name="Shape 19"/>
          <p:cNvSpPr/>
          <p:nvPr/>
        </p:nvSpPr>
        <p:spPr>
          <a:xfrm>
            <a:off x="6766560" y="3154680"/>
            <a:ext cx="2011680" cy="1005840"/>
          </a:xfrm>
          <a:prstGeom prst="rect">
            <a:avLst/>
          </a:prstGeom>
          <a:solidFill>
            <a:srgbClr val="FFFFFF">
              <a:alpha val="90000"/>
            </a:srgbClr>
          </a:solidFill>
          <a:ln w="12700">
            <a:solidFill>
              <a:srgbClr val="FFFFFF">
                <a:alpha val="30000"/>
              </a:srgbClr>
            </a:solidFill>
            <a:prstDash val="solid"/>
          </a:ln>
          <a:effectLst>
            <a:outerShdw blurRad="101600" dist="38100" dir="8100000" algn="bl" rotWithShape="0">
              <a:srgbClr val="000000">
                <a:alpha val="12000"/>
              </a:srgbClr>
            </a:outerShdw>
          </a:effectLst>
        </p:spPr>
      </p:sp>
      <p:sp>
        <p:nvSpPr>
          <p:cNvPr id="22" name="Text 20"/>
          <p:cNvSpPr/>
          <p:nvPr/>
        </p:nvSpPr>
        <p:spPr>
          <a:xfrm>
            <a:off x="6858000" y="3200400"/>
            <a:ext cx="1828800" cy="502920"/>
          </a:xfrm>
          <a:prstGeom prst="rect">
            <a:avLst/>
          </a:prstGeom>
          <a:noFill/>
          <a:ln/>
        </p:spPr>
        <p:txBody>
          <a:bodyPr wrap="square" rtlCol="0" anchor="ctr"/>
          <a:lstStyle/>
          <a:p>
            <a:pPr marL="0" indent="0" algn="ctr">
              <a:buNone/>
            </a:pPr>
            <a:r>
              <a:rPr lang="en-US" sz="2200" b="1" dirty="0">
                <a:solidFill>
                  <a:srgbClr val="10B981"/>
                </a:solidFill>
              </a:rPr>
              <a:t>3.5+</a:t>
            </a:r>
            <a:endParaRPr lang="en-US" sz="2200" dirty="0"/>
          </a:p>
        </p:txBody>
      </p:sp>
      <p:sp>
        <p:nvSpPr>
          <p:cNvPr id="23" name="Text 21"/>
          <p:cNvSpPr/>
          <p:nvPr/>
        </p:nvSpPr>
        <p:spPr>
          <a:xfrm>
            <a:off x="6858000" y="3703320"/>
            <a:ext cx="1828800" cy="384048"/>
          </a:xfrm>
          <a:prstGeom prst="rect">
            <a:avLst/>
          </a:prstGeom>
          <a:noFill/>
          <a:ln/>
        </p:spPr>
        <p:txBody>
          <a:bodyPr wrap="square" rtlCol="0" anchor="ctr"/>
          <a:lstStyle/>
          <a:p>
            <a:pPr marL="0" indent="0" algn="ctr">
              <a:buNone/>
            </a:pPr>
            <a:r>
              <a:rPr lang="en-US" sz="900" b="1" dirty="0">
                <a:solidFill>
                  <a:srgbClr val="B0C4D8"/>
                </a:solidFill>
              </a:rPr>
              <a:t>Target CSAT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3677</Words>
  <Application>Microsoft Office PowerPoint</Application>
  <PresentationFormat>On-screen Show (16:9)</PresentationFormat>
  <Paragraphs>539</Paragraphs>
  <Slides>26</Slides>
  <Notes>26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Center Performance Analysis</dc:title>
  <dc:subject>PptxGenJS Presentation</dc:subject>
  <dc:creator>Data Analytics Team</dc:creator>
  <cp:lastModifiedBy>Sonali Shekhawat</cp:lastModifiedBy>
  <cp:revision>2</cp:revision>
  <dcterms:created xsi:type="dcterms:W3CDTF">2026-03-18T12:16:34Z</dcterms:created>
  <dcterms:modified xsi:type="dcterms:W3CDTF">2026-03-19T10:16:42Z</dcterms:modified>
</cp:coreProperties>
</file>